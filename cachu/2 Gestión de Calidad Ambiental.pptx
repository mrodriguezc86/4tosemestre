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73" r:id="rId2"/>
    <p:sldId id="274" r:id="rId3"/>
    <p:sldId id="276" r:id="rId4"/>
    <p:sldId id="275" r:id="rId5"/>
    <p:sldId id="277" r:id="rId6"/>
    <p:sldId id="278" r:id="rId7"/>
    <p:sldId id="279" r:id="rId8"/>
    <p:sldId id="280" r:id="rId9"/>
    <p:sldId id="283" r:id="rId10"/>
    <p:sldId id="28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AE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574" autoAdjust="0"/>
    <p:restoredTop sz="94660"/>
  </p:normalViewPr>
  <p:slideViewPr>
    <p:cSldViewPr snapToGrid="0">
      <p:cViewPr varScale="1">
        <p:scale>
          <a:sx n="74" d="100"/>
          <a:sy n="74" d="100"/>
        </p:scale>
        <p:origin x="88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19FB2-3AAB-4D03-B13A-2960828C78E3}" type="datetimeFigureOut">
              <a:rPr lang="en-US" dirty="0"/>
              <a:t>5/23/2017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6976-5D93-46E4-A98A-FAD63E4D0EA8}" type="datetimeFigureOut">
              <a:rPr lang="en-US" dirty="0"/>
              <a:t>5/23/2017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9F4F5-F4D2-4D2A-AB60-88D37ADCB869}" type="datetimeFigureOut">
              <a:rPr lang="en-US" dirty="0"/>
              <a:t>5/23/2017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BC6CE-6D1E-47E5-8859-F31AC5380EB2}" type="datetimeFigureOut">
              <a:rPr lang="en-US" dirty="0"/>
              <a:t>5/23/2017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4E7C4-4DA4-404D-9965-B13F2DD7D8BF}" type="datetimeFigureOut">
              <a:rPr lang="en-US" dirty="0"/>
              <a:t>5/23/2017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FB7AA-4A53-424F-AD41-70827B6504BA}" type="datetimeFigureOut">
              <a:rPr lang="en-US" dirty="0"/>
              <a:t>5/23/2017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84882-FB12-4BC8-9960-9AD8104D7FAE}" type="datetimeFigureOut">
              <a:rPr lang="en-US" dirty="0"/>
              <a:t>5/23/2017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1BD23-6E54-4D9D-AD88-A2813C73CC25}" type="datetimeFigureOut">
              <a:rPr lang="en-US" dirty="0"/>
              <a:t>5/23/2017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1A834-4F3C-4AF9-9C74-05EC35A0F292}" type="datetimeFigureOut">
              <a:rPr lang="en-US" dirty="0"/>
              <a:t>5/23/2017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0C674-7DFC-42FE-B9CD-82963CDB1557}" type="datetimeFigureOut">
              <a:rPr lang="en-US" dirty="0"/>
              <a:t>5/23/2017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6456F-F47D-4F25-8053-2A695DA0CA7D}" type="datetimeFigureOut">
              <a:rPr lang="en-US" dirty="0"/>
              <a:t>5/23/2017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C7379-69CC-4837-9905-BEBA22830C8A}" type="datetimeFigureOut">
              <a:rPr lang="en-US" dirty="0"/>
              <a:t>5/23/2017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B8B7E-8AEE-4F10-BFEE-C999AD004D36}" type="datetimeFigureOut">
              <a:rPr lang="en-US" dirty="0"/>
              <a:t>5/23/2017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F3F9-58BC-440B-B37B-805B9055EF92}" type="datetimeFigureOut">
              <a:rPr lang="en-US" dirty="0"/>
              <a:t>5/23/2017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A53AF-48EA-489D-8260-9DCAB666386A}" type="datetimeFigureOut">
              <a:rPr lang="en-US" dirty="0"/>
              <a:t>5/23/2017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D02AE-B9A4-47BD-AF8E-97E16144138B}" type="datetimeFigureOut">
              <a:rPr lang="en-US" dirty="0"/>
              <a:t>5/23/2017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78B-DB02-4362-BCDC-98A55456977C}" type="datetimeFigureOut">
              <a:rPr lang="en-US" dirty="0"/>
              <a:t>5/23/2017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1CF1133-3259-4C45-BABA-5B62D9C6F78D}" type="datetimeFigureOut">
              <a:rPr lang="en-US" dirty="0"/>
              <a:t>5/23/2017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5622878" y="1314511"/>
            <a:ext cx="5733059" cy="1851770"/>
          </a:xfrm>
          <a:prstGeom prst="rect">
            <a:avLst/>
          </a:prstGeom>
          <a:solidFill>
            <a:srgbClr val="41AEBD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753035" y="403415"/>
            <a:ext cx="106029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b="1" dirty="0" smtClean="0">
                <a:solidFill>
                  <a:srgbClr val="FFFF00"/>
                </a:solidFill>
              </a:rPr>
              <a:t>Los </a:t>
            </a:r>
            <a:r>
              <a:rPr lang="es-MX" sz="2800" b="1" dirty="0">
                <a:solidFill>
                  <a:srgbClr val="FFFF00"/>
                </a:solidFill>
              </a:rPr>
              <a:t>Sistemas de Gestión </a:t>
            </a:r>
            <a:r>
              <a:rPr lang="es-MX" sz="2800" b="1" dirty="0" smtClean="0">
                <a:solidFill>
                  <a:srgbClr val="FFFF00"/>
                </a:solidFill>
              </a:rPr>
              <a:t>Ambiental, Seguridad &amp; Salud Ocupacional </a:t>
            </a:r>
            <a:endParaRPr lang="es-MX" sz="2800" b="1" dirty="0">
              <a:solidFill>
                <a:srgbClr val="FFFF00"/>
              </a:solidFill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510988" y="914401"/>
            <a:ext cx="21707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dirty="0" smtClean="0">
                <a:solidFill>
                  <a:schemeClr val="accent6"/>
                </a:solidFill>
              </a:rPr>
              <a:t>• ISO-140001:1996</a:t>
            </a:r>
            <a:endParaRPr lang="es-MX" sz="2000" dirty="0">
              <a:solidFill>
                <a:schemeClr val="accent6"/>
              </a:solidFill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5750885" y="985666"/>
            <a:ext cx="5620449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 smtClean="0"/>
              <a:t>Requerimientos </a:t>
            </a:r>
            <a:r>
              <a:rPr lang="es-MX" sz="1400" dirty="0"/>
              <a:t>(Propuesto para estructura del sistema de gestión)</a:t>
            </a:r>
          </a:p>
          <a:p>
            <a:pPr lvl="0"/>
            <a:r>
              <a:rPr lang="es-MX" sz="1400" dirty="0" smtClean="0"/>
              <a:t>1.0 Introducción</a:t>
            </a:r>
            <a:endParaRPr lang="es-MX" sz="1400" dirty="0"/>
          </a:p>
          <a:p>
            <a:pPr lvl="0"/>
            <a:r>
              <a:rPr lang="es-MX" sz="1400" dirty="0" smtClean="0"/>
              <a:t>2.0 Alcance </a:t>
            </a:r>
            <a:r>
              <a:rPr lang="es-MX" sz="1400" dirty="0"/>
              <a:t>del sistema de gestión</a:t>
            </a:r>
          </a:p>
          <a:p>
            <a:pPr lvl="0"/>
            <a:r>
              <a:rPr lang="es-MX" sz="1400" dirty="0" smtClean="0"/>
              <a:t>3.0 Términos </a:t>
            </a:r>
            <a:r>
              <a:rPr lang="es-MX" sz="1400" dirty="0"/>
              <a:t>y definiciones</a:t>
            </a:r>
          </a:p>
          <a:p>
            <a:pPr lvl="0"/>
            <a:r>
              <a:rPr lang="es-MX" sz="1400" dirty="0" smtClean="0"/>
              <a:t>4.0 Sistema </a:t>
            </a:r>
            <a:r>
              <a:rPr lang="es-MX" sz="1400" dirty="0"/>
              <a:t>de gestión “ambienta/seguridad &amp; salud ocupacional, calidad”</a:t>
            </a:r>
          </a:p>
          <a:p>
            <a:pPr lvl="1"/>
            <a:r>
              <a:rPr lang="es-MX" sz="1400" b="1" dirty="0" smtClean="0"/>
              <a:t>4.1 Requerimientos </a:t>
            </a:r>
            <a:r>
              <a:rPr lang="es-MX" sz="1400" b="1" dirty="0"/>
              <a:t>generales del sistema de gestión</a:t>
            </a:r>
            <a:endParaRPr lang="es-MX" sz="1400" dirty="0"/>
          </a:p>
          <a:p>
            <a:pPr lvl="1"/>
            <a:r>
              <a:rPr lang="es-MX" sz="1400" dirty="0" smtClean="0"/>
              <a:t>4.2 Política </a:t>
            </a:r>
            <a:r>
              <a:rPr lang="es-MX" sz="1400" dirty="0"/>
              <a:t>Ambiental de “ABCDE”</a:t>
            </a:r>
          </a:p>
          <a:p>
            <a:pPr lvl="1"/>
            <a:r>
              <a:rPr lang="es-MX" sz="1400" dirty="0" smtClean="0"/>
              <a:t>4.3 Planeación </a:t>
            </a:r>
            <a:r>
              <a:rPr lang="es-MX" sz="1400" dirty="0"/>
              <a:t>del sistema de gestión</a:t>
            </a:r>
          </a:p>
          <a:p>
            <a:pPr lvl="2"/>
            <a:r>
              <a:rPr lang="es-MX" sz="1400" b="1" dirty="0" smtClean="0"/>
              <a:t>4.3.1 Aspectos </a:t>
            </a:r>
            <a:r>
              <a:rPr lang="es-MX" sz="1400" b="1" dirty="0"/>
              <a:t>ambientales</a:t>
            </a:r>
            <a:endParaRPr lang="es-MX" sz="1400" dirty="0"/>
          </a:p>
          <a:p>
            <a:pPr lvl="2"/>
            <a:r>
              <a:rPr lang="es-MX" sz="1400" b="1" dirty="0" smtClean="0"/>
              <a:t>4.3.2 Requerimientos </a:t>
            </a:r>
            <a:r>
              <a:rPr lang="es-MX" sz="1400" b="1" dirty="0"/>
              <a:t>legales</a:t>
            </a:r>
            <a:endParaRPr lang="es-MX" sz="1400" dirty="0"/>
          </a:p>
          <a:p>
            <a:pPr lvl="2"/>
            <a:r>
              <a:rPr lang="es-MX" sz="1400" dirty="0" smtClean="0"/>
              <a:t>4.3.3 Objetivos </a:t>
            </a:r>
            <a:r>
              <a:rPr lang="es-MX" sz="1400" dirty="0"/>
              <a:t>y metas</a:t>
            </a:r>
          </a:p>
          <a:p>
            <a:pPr lvl="2"/>
            <a:r>
              <a:rPr lang="es-MX" sz="1400" dirty="0" smtClean="0"/>
              <a:t>4.3.4 Programas </a:t>
            </a:r>
            <a:r>
              <a:rPr lang="es-MX" sz="1400" dirty="0"/>
              <a:t>de gestión ambiental</a:t>
            </a:r>
          </a:p>
          <a:p>
            <a:pPr lvl="1"/>
            <a:r>
              <a:rPr lang="es-MX" sz="1400" dirty="0" smtClean="0"/>
              <a:t>4.4 Implementación </a:t>
            </a:r>
            <a:r>
              <a:rPr lang="es-MX" sz="1400" dirty="0"/>
              <a:t>y operación del sistema de gestión</a:t>
            </a:r>
          </a:p>
          <a:p>
            <a:pPr lvl="2"/>
            <a:r>
              <a:rPr lang="es-MX" sz="1400" dirty="0" smtClean="0"/>
              <a:t>4.4.1 Estructura </a:t>
            </a:r>
            <a:r>
              <a:rPr lang="es-MX" sz="1400" dirty="0"/>
              <a:t>y responsabilidades</a:t>
            </a:r>
          </a:p>
          <a:p>
            <a:pPr lvl="2"/>
            <a:r>
              <a:rPr lang="es-MX" sz="1400" b="1" dirty="0" smtClean="0"/>
              <a:t>4.4.2 Capacitación</a:t>
            </a:r>
            <a:r>
              <a:rPr lang="es-MX" sz="1400" b="1" dirty="0"/>
              <a:t>, entrenamiento y concientización</a:t>
            </a:r>
            <a:endParaRPr lang="es-MX" sz="1400" dirty="0"/>
          </a:p>
          <a:p>
            <a:pPr lvl="2"/>
            <a:r>
              <a:rPr lang="es-MX" sz="1400" b="1" dirty="0" smtClean="0"/>
              <a:t>4.4.3 Comunicación</a:t>
            </a:r>
            <a:endParaRPr lang="es-MX" sz="1400" dirty="0"/>
          </a:p>
          <a:p>
            <a:pPr lvl="2"/>
            <a:r>
              <a:rPr lang="es-MX" sz="1400" dirty="0" smtClean="0"/>
              <a:t>4.4.4 Documentación </a:t>
            </a:r>
            <a:r>
              <a:rPr lang="es-MX" sz="1400" dirty="0"/>
              <a:t>ambiental</a:t>
            </a:r>
          </a:p>
          <a:p>
            <a:pPr lvl="2"/>
            <a:r>
              <a:rPr lang="es-MX" sz="1400" b="1" dirty="0" smtClean="0"/>
              <a:t>4.4.5 Control </a:t>
            </a:r>
            <a:r>
              <a:rPr lang="es-MX" sz="1400" b="1" dirty="0"/>
              <a:t>de la documentación</a:t>
            </a:r>
            <a:endParaRPr lang="es-MX" sz="1400" dirty="0"/>
          </a:p>
          <a:p>
            <a:pPr lvl="2"/>
            <a:r>
              <a:rPr lang="es-MX" sz="1400" b="1" dirty="0" smtClean="0"/>
              <a:t>4.4.6 Control </a:t>
            </a:r>
            <a:r>
              <a:rPr lang="es-MX" sz="1400" b="1" dirty="0"/>
              <a:t>operacional</a:t>
            </a:r>
            <a:endParaRPr lang="es-MX" sz="1400" dirty="0"/>
          </a:p>
          <a:p>
            <a:pPr lvl="2"/>
            <a:r>
              <a:rPr lang="es-MX" sz="1400" b="1" dirty="0" smtClean="0"/>
              <a:t>4.4.7 Preparación </a:t>
            </a:r>
            <a:r>
              <a:rPr lang="es-MX" sz="1400" b="1" dirty="0"/>
              <a:t>y respuesta a emergencia</a:t>
            </a:r>
            <a:endParaRPr lang="es-MX" sz="1400" dirty="0"/>
          </a:p>
          <a:p>
            <a:pPr lvl="1"/>
            <a:r>
              <a:rPr lang="es-MX" sz="1400" dirty="0" smtClean="0"/>
              <a:t>4.5 Revisión </a:t>
            </a:r>
            <a:r>
              <a:rPr lang="es-MX" sz="1400" dirty="0"/>
              <a:t>y acciones correctivas</a:t>
            </a:r>
          </a:p>
          <a:p>
            <a:pPr lvl="2"/>
            <a:r>
              <a:rPr lang="es-MX" sz="1400" b="1" dirty="0" smtClean="0"/>
              <a:t>4.5.1 Monitoreo </a:t>
            </a:r>
            <a:r>
              <a:rPr lang="es-MX" sz="1400" b="1" dirty="0"/>
              <a:t>y medición</a:t>
            </a:r>
            <a:endParaRPr lang="es-MX" sz="1400" dirty="0"/>
          </a:p>
          <a:p>
            <a:pPr lvl="2"/>
            <a:r>
              <a:rPr lang="es-MX" sz="1400" b="1" dirty="0" smtClean="0"/>
              <a:t>4.5.2 No </a:t>
            </a:r>
            <a:r>
              <a:rPr lang="es-MX" sz="1400" b="1" dirty="0"/>
              <a:t>conformancia, acciones correctivas y preventivas</a:t>
            </a:r>
            <a:endParaRPr lang="es-MX" sz="1400" dirty="0"/>
          </a:p>
          <a:p>
            <a:pPr lvl="2"/>
            <a:r>
              <a:rPr lang="es-MX" sz="1400" dirty="0" smtClean="0"/>
              <a:t>4.5.3 Registros</a:t>
            </a:r>
            <a:endParaRPr lang="es-MX" sz="1400" dirty="0"/>
          </a:p>
          <a:p>
            <a:pPr lvl="2"/>
            <a:r>
              <a:rPr lang="es-MX" sz="1400" b="1" dirty="0" smtClean="0"/>
              <a:t>4.5.4 Auditorías </a:t>
            </a:r>
            <a:r>
              <a:rPr lang="es-MX" sz="1400" b="1" dirty="0"/>
              <a:t>al sistema de gestión ambiental</a:t>
            </a:r>
            <a:endParaRPr lang="es-MX" sz="1400" dirty="0"/>
          </a:p>
          <a:p>
            <a:pPr lvl="1"/>
            <a:r>
              <a:rPr lang="es-MX" sz="1400" dirty="0" smtClean="0"/>
              <a:t>4.6 Revisión </a:t>
            </a:r>
            <a:r>
              <a:rPr lang="es-MX" sz="1400" dirty="0"/>
              <a:t>Gerencial</a:t>
            </a:r>
          </a:p>
          <a:p>
            <a:endParaRPr lang="es-MX" sz="1400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118" y="1615624"/>
            <a:ext cx="5271763" cy="459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946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903" y="1549802"/>
            <a:ext cx="9896369" cy="4714520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753035" y="403415"/>
            <a:ext cx="106029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b="1" dirty="0" smtClean="0">
                <a:solidFill>
                  <a:srgbClr val="FFFF00"/>
                </a:solidFill>
              </a:rPr>
              <a:t>Los </a:t>
            </a:r>
            <a:r>
              <a:rPr lang="es-MX" sz="2800" b="1" dirty="0">
                <a:solidFill>
                  <a:srgbClr val="FFFF00"/>
                </a:solidFill>
              </a:rPr>
              <a:t>Sistemas de Gestión </a:t>
            </a:r>
            <a:r>
              <a:rPr lang="es-MX" sz="2800" b="1" dirty="0" smtClean="0">
                <a:solidFill>
                  <a:srgbClr val="FFFF00"/>
                </a:solidFill>
              </a:rPr>
              <a:t>Ambiental, Seguridad &amp; Salud Ocupacional </a:t>
            </a:r>
            <a:endParaRPr lang="es-MX" sz="2800" b="1" dirty="0">
              <a:solidFill>
                <a:srgbClr val="FFFF00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510988" y="914401"/>
            <a:ext cx="21707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dirty="0" smtClean="0">
                <a:solidFill>
                  <a:schemeClr val="accent6"/>
                </a:solidFill>
              </a:rPr>
              <a:t>• ISO-140001:1996</a:t>
            </a:r>
            <a:endParaRPr lang="es-MX" sz="20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6991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852" y="1473322"/>
            <a:ext cx="10479749" cy="4900186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753035" y="403415"/>
            <a:ext cx="106029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b="1" dirty="0" smtClean="0">
                <a:solidFill>
                  <a:srgbClr val="FFFF00"/>
                </a:solidFill>
              </a:rPr>
              <a:t>Los </a:t>
            </a:r>
            <a:r>
              <a:rPr lang="es-MX" sz="2800" b="1" dirty="0">
                <a:solidFill>
                  <a:srgbClr val="FFFF00"/>
                </a:solidFill>
              </a:rPr>
              <a:t>Sistemas de Gestión </a:t>
            </a:r>
            <a:r>
              <a:rPr lang="es-MX" sz="2800" b="1" dirty="0" smtClean="0">
                <a:solidFill>
                  <a:srgbClr val="FFFF00"/>
                </a:solidFill>
              </a:rPr>
              <a:t>Ambiental, Seguridad &amp; Salud Ocupacional </a:t>
            </a:r>
            <a:endParaRPr lang="es-MX" sz="2800" b="1" dirty="0">
              <a:solidFill>
                <a:srgbClr val="FFFF00"/>
              </a:solidFill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510988" y="914401"/>
            <a:ext cx="21707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dirty="0" smtClean="0">
                <a:solidFill>
                  <a:schemeClr val="accent6"/>
                </a:solidFill>
              </a:rPr>
              <a:t>• ISO-140001:1996</a:t>
            </a:r>
            <a:endParaRPr lang="es-MX" sz="20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4855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534" y="1225670"/>
            <a:ext cx="10155053" cy="5584565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753035" y="266935"/>
            <a:ext cx="106029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b="1" dirty="0" smtClean="0">
                <a:solidFill>
                  <a:srgbClr val="FFFF00"/>
                </a:solidFill>
              </a:rPr>
              <a:t>Los </a:t>
            </a:r>
            <a:r>
              <a:rPr lang="es-MX" sz="2800" b="1" dirty="0">
                <a:solidFill>
                  <a:srgbClr val="FFFF00"/>
                </a:solidFill>
              </a:rPr>
              <a:t>Sistemas de Gestión </a:t>
            </a:r>
            <a:r>
              <a:rPr lang="es-MX" sz="2800" b="1" dirty="0" smtClean="0">
                <a:solidFill>
                  <a:srgbClr val="FFFF00"/>
                </a:solidFill>
              </a:rPr>
              <a:t>Ambiental, Seguridad &amp; Salud Ocupacional </a:t>
            </a:r>
            <a:endParaRPr lang="es-MX" sz="2800" b="1" dirty="0">
              <a:solidFill>
                <a:srgbClr val="FFFF00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510988" y="777921"/>
            <a:ext cx="21707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dirty="0" smtClean="0">
                <a:solidFill>
                  <a:schemeClr val="accent6"/>
                </a:solidFill>
              </a:rPr>
              <a:t>• ISO-140001:1996</a:t>
            </a:r>
            <a:endParaRPr lang="es-MX" sz="20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1150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22" y="1793545"/>
            <a:ext cx="10724488" cy="2423613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74" y="4299044"/>
            <a:ext cx="10766966" cy="1105469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753035" y="403415"/>
            <a:ext cx="106029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b="1" dirty="0" smtClean="0">
                <a:solidFill>
                  <a:srgbClr val="FFFF00"/>
                </a:solidFill>
              </a:rPr>
              <a:t>Los </a:t>
            </a:r>
            <a:r>
              <a:rPr lang="es-MX" sz="2800" b="1" dirty="0">
                <a:solidFill>
                  <a:srgbClr val="FFFF00"/>
                </a:solidFill>
              </a:rPr>
              <a:t>Sistemas de Gestión </a:t>
            </a:r>
            <a:r>
              <a:rPr lang="es-MX" sz="2800" b="1" dirty="0" smtClean="0">
                <a:solidFill>
                  <a:srgbClr val="FFFF00"/>
                </a:solidFill>
              </a:rPr>
              <a:t>Ambiental, Seguridad &amp; Salud Ocupacional </a:t>
            </a:r>
            <a:endParaRPr lang="es-MX" sz="2800" b="1" dirty="0">
              <a:solidFill>
                <a:srgbClr val="FFFF00"/>
              </a:solidFill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510988" y="914401"/>
            <a:ext cx="21707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dirty="0" smtClean="0">
                <a:solidFill>
                  <a:schemeClr val="accent6"/>
                </a:solidFill>
              </a:rPr>
              <a:t>• ISO-140001:1996</a:t>
            </a:r>
            <a:endParaRPr lang="es-MX" sz="20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091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412" y="1687984"/>
            <a:ext cx="10496315" cy="3989483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753035" y="403415"/>
            <a:ext cx="106029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b="1" dirty="0" smtClean="0">
                <a:solidFill>
                  <a:srgbClr val="FFFF00"/>
                </a:solidFill>
              </a:rPr>
              <a:t>Los </a:t>
            </a:r>
            <a:r>
              <a:rPr lang="es-MX" sz="2800" b="1" dirty="0">
                <a:solidFill>
                  <a:srgbClr val="FFFF00"/>
                </a:solidFill>
              </a:rPr>
              <a:t>Sistemas de Gestión </a:t>
            </a:r>
            <a:r>
              <a:rPr lang="es-MX" sz="2800" b="1" dirty="0" smtClean="0">
                <a:solidFill>
                  <a:srgbClr val="FFFF00"/>
                </a:solidFill>
              </a:rPr>
              <a:t>Ambiental, Seguridad &amp; Salud Ocupacional </a:t>
            </a:r>
            <a:endParaRPr lang="es-MX" sz="2800" b="1" dirty="0">
              <a:solidFill>
                <a:srgbClr val="FFFF00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510988" y="914401"/>
            <a:ext cx="21707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dirty="0" smtClean="0">
                <a:solidFill>
                  <a:schemeClr val="accent6"/>
                </a:solidFill>
              </a:rPr>
              <a:t>• ISO-140001:1996</a:t>
            </a:r>
            <a:endParaRPr lang="es-MX" sz="20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3011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753035" y="335175"/>
            <a:ext cx="106029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b="1" dirty="0" smtClean="0">
                <a:solidFill>
                  <a:srgbClr val="FFFF00"/>
                </a:solidFill>
              </a:rPr>
              <a:t>Los </a:t>
            </a:r>
            <a:r>
              <a:rPr lang="es-MX" sz="2800" b="1" dirty="0">
                <a:solidFill>
                  <a:srgbClr val="FFFF00"/>
                </a:solidFill>
              </a:rPr>
              <a:t>Sistemas de Gestión </a:t>
            </a:r>
            <a:r>
              <a:rPr lang="es-MX" sz="2800" b="1" dirty="0" smtClean="0">
                <a:solidFill>
                  <a:srgbClr val="FFFF00"/>
                </a:solidFill>
              </a:rPr>
              <a:t>Ambiental, Seguridad &amp; Salud Ocupacional </a:t>
            </a:r>
            <a:endParaRPr lang="es-MX" sz="2800" b="1" dirty="0">
              <a:solidFill>
                <a:srgbClr val="FFFF00"/>
              </a:solidFill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510988" y="846161"/>
            <a:ext cx="21707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dirty="0" smtClean="0">
                <a:solidFill>
                  <a:schemeClr val="accent6"/>
                </a:solidFill>
              </a:rPr>
              <a:t>• ISO-140001:1996</a:t>
            </a:r>
            <a:endParaRPr lang="es-MX" sz="2000" dirty="0">
              <a:solidFill>
                <a:schemeClr val="accent6"/>
              </a:solidFill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582" y="1330033"/>
            <a:ext cx="9315080" cy="538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211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753035" y="403415"/>
            <a:ext cx="106029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b="1" dirty="0" smtClean="0">
                <a:solidFill>
                  <a:srgbClr val="FFFF00"/>
                </a:solidFill>
              </a:rPr>
              <a:t>Los </a:t>
            </a:r>
            <a:r>
              <a:rPr lang="es-MX" sz="2800" b="1" dirty="0">
                <a:solidFill>
                  <a:srgbClr val="FFFF00"/>
                </a:solidFill>
              </a:rPr>
              <a:t>Sistemas de Gestión </a:t>
            </a:r>
            <a:r>
              <a:rPr lang="es-MX" sz="2800" b="1" dirty="0" smtClean="0">
                <a:solidFill>
                  <a:srgbClr val="FFFF00"/>
                </a:solidFill>
              </a:rPr>
              <a:t>Ambiental, Seguridad &amp; Salud Ocupacional </a:t>
            </a:r>
            <a:endParaRPr lang="es-MX" sz="2800" b="1" dirty="0">
              <a:solidFill>
                <a:srgbClr val="FFFF00"/>
              </a:solidFill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510988" y="914401"/>
            <a:ext cx="21707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dirty="0" smtClean="0">
                <a:solidFill>
                  <a:schemeClr val="accent6"/>
                </a:solidFill>
              </a:rPr>
              <a:t>• ISO-140001:1996</a:t>
            </a:r>
            <a:endParaRPr lang="es-MX" sz="2000" dirty="0">
              <a:solidFill>
                <a:schemeClr val="accent6"/>
              </a:solidFill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712" y="1669637"/>
            <a:ext cx="10518942" cy="2433154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712" y="4217440"/>
            <a:ext cx="10632339" cy="1514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694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753035" y="403415"/>
            <a:ext cx="106029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b="1" dirty="0" smtClean="0">
                <a:solidFill>
                  <a:srgbClr val="FFFF00"/>
                </a:solidFill>
              </a:rPr>
              <a:t>Los </a:t>
            </a:r>
            <a:r>
              <a:rPr lang="es-MX" sz="2800" b="1" dirty="0">
                <a:solidFill>
                  <a:srgbClr val="FFFF00"/>
                </a:solidFill>
              </a:rPr>
              <a:t>Sistemas de Gestión </a:t>
            </a:r>
            <a:r>
              <a:rPr lang="es-MX" sz="2800" b="1" dirty="0" smtClean="0">
                <a:solidFill>
                  <a:srgbClr val="FFFF00"/>
                </a:solidFill>
              </a:rPr>
              <a:t>Ambiental, Seguridad &amp; Salud Ocupacional </a:t>
            </a:r>
            <a:endParaRPr lang="es-MX" sz="2800" b="1" dirty="0">
              <a:solidFill>
                <a:srgbClr val="FFFF00"/>
              </a:solidFill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510988" y="914401"/>
            <a:ext cx="21707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dirty="0" smtClean="0">
                <a:solidFill>
                  <a:schemeClr val="accent6"/>
                </a:solidFill>
              </a:rPr>
              <a:t>• ISO-140001:1996</a:t>
            </a:r>
            <a:endParaRPr lang="es-MX" sz="2000" dirty="0">
              <a:solidFill>
                <a:schemeClr val="accent6"/>
              </a:solidFill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823" y="1825496"/>
            <a:ext cx="10774638" cy="3415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538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753035" y="403415"/>
            <a:ext cx="106029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b="1" dirty="0" smtClean="0">
                <a:solidFill>
                  <a:srgbClr val="FFFF00"/>
                </a:solidFill>
              </a:rPr>
              <a:t>Los </a:t>
            </a:r>
            <a:r>
              <a:rPr lang="es-MX" sz="2800" b="1" dirty="0">
                <a:solidFill>
                  <a:srgbClr val="FFFF00"/>
                </a:solidFill>
              </a:rPr>
              <a:t>Sistemas de Gestión </a:t>
            </a:r>
            <a:r>
              <a:rPr lang="es-MX" sz="2800" b="1" dirty="0" smtClean="0">
                <a:solidFill>
                  <a:srgbClr val="FFFF00"/>
                </a:solidFill>
              </a:rPr>
              <a:t>Ambiental, Seguridad &amp; Salud Ocupacional </a:t>
            </a:r>
            <a:endParaRPr lang="es-MX" sz="2800" b="1" dirty="0">
              <a:solidFill>
                <a:srgbClr val="FFFF00"/>
              </a:solidFill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510988" y="914401"/>
            <a:ext cx="21707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dirty="0" smtClean="0">
                <a:solidFill>
                  <a:schemeClr val="accent6"/>
                </a:solidFill>
              </a:rPr>
              <a:t>• ISO-140001:1996</a:t>
            </a:r>
            <a:endParaRPr lang="es-MX" sz="20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3537808"/>
      </p:ext>
    </p:extLst>
  </p:cSld>
  <p:clrMapOvr>
    <a:masterClrMapping/>
  </p:clrMapOvr>
</p:sld>
</file>

<file path=ppt/theme/theme1.xml><?xml version="1.0" encoding="utf-8"?>
<a:theme xmlns:a="http://schemas.openxmlformats.org/drawingml/2006/main" name="Profundidad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Profundidad</Template>
  <TotalTime>2760</TotalTime>
  <Words>255</Words>
  <Application>Microsoft Office PowerPoint</Application>
  <PresentationFormat>Panorámica</PresentationFormat>
  <Paragraphs>46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Corbel</vt:lpstr>
      <vt:lpstr>Profundidad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 DE CALIDAD AMBIENTAL</dc:title>
  <dc:creator>carlosV</dc:creator>
  <cp:lastModifiedBy>Carlos Cachú Montes</cp:lastModifiedBy>
  <cp:revision>60</cp:revision>
  <dcterms:created xsi:type="dcterms:W3CDTF">2016-12-18T20:05:30Z</dcterms:created>
  <dcterms:modified xsi:type="dcterms:W3CDTF">2017-05-24T04:22:10Z</dcterms:modified>
</cp:coreProperties>
</file>