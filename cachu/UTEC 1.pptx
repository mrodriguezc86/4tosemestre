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0" r:id="rId3"/>
    <p:sldId id="259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2/2/2017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918" y="236289"/>
            <a:ext cx="3953436" cy="418912"/>
          </a:xfrm>
        </p:spPr>
        <p:txBody>
          <a:bodyPr>
            <a:noAutofit/>
          </a:bodyPr>
          <a:lstStyle/>
          <a:p>
            <a:r>
              <a:rPr lang="es-MX" sz="1800" b="1" dirty="0" smtClean="0">
                <a:solidFill>
                  <a:srgbClr val="7030A0"/>
                </a:solidFill>
              </a:rPr>
              <a:t>Gestión de Calidad 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5215" t="4228" r="10245" b="9743"/>
          <a:stretch/>
        </p:blipFill>
        <p:spPr>
          <a:xfrm>
            <a:off x="1438835" y="1153420"/>
            <a:ext cx="9829800" cy="562389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056095" y="810982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CONTENIDO DEL CURSO</a:t>
            </a:r>
            <a:endParaRPr lang="es-MX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5379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7385" t="3861" r="7351" b="10767"/>
          <a:stretch/>
        </p:blipFill>
        <p:spPr>
          <a:xfrm>
            <a:off x="712694" y="762777"/>
            <a:ext cx="10394576" cy="5851556"/>
          </a:xfrm>
          <a:prstGeom prst="rect">
            <a:avLst/>
          </a:prstGeom>
        </p:spPr>
      </p:pic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de Calidad 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79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de Calidad 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2694" y="1129553"/>
            <a:ext cx="110478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British Standards </a:t>
            </a:r>
            <a:r>
              <a:rPr lang="es-MX" b="1" dirty="0" smtClean="0"/>
              <a:t>Institution:  </a:t>
            </a:r>
            <a:r>
              <a:rPr lang="es-MX" dirty="0" smtClean="0"/>
              <a:t>Primera institución enfocada a estandarizar normas enfocadas a la calidad fundada </a:t>
            </a:r>
            <a:r>
              <a:rPr lang="es-MX" dirty="0"/>
              <a:t>por el Comité de Ingeniería de normas de Londres en 1901. Poco a poco extendió su actividad de normalización a otros ámbitos y adoptó el nombre de British Standards Institution</a:t>
            </a:r>
            <a:r>
              <a:rPr lang="es-MX" dirty="0" smtClean="0"/>
              <a:t>,</a:t>
            </a:r>
          </a:p>
          <a:p>
            <a:endParaRPr lang="es-MX" dirty="0"/>
          </a:p>
          <a:p>
            <a:r>
              <a:rPr lang="es-MX" dirty="0"/>
              <a:t>En Octubre de 1946, en Londres, se acordó por representantes de veinticinco países el nombre de Organización Internacional para la Normalización. </a:t>
            </a:r>
            <a:r>
              <a:rPr lang="es-MX" dirty="0" smtClean="0"/>
              <a:t>La Organización conocida como ISO</a:t>
            </a:r>
            <a:r>
              <a:rPr lang="es-MX" dirty="0"/>
              <a:t> (International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Standarization</a:t>
            </a:r>
            <a:r>
              <a:rPr lang="es-MX" dirty="0"/>
              <a:t>), celebró su primera reunión en Junio de 1947 en </a:t>
            </a:r>
            <a:r>
              <a:rPr lang="es-MX" dirty="0" err="1"/>
              <a:t>Zurich</a:t>
            </a:r>
            <a:r>
              <a:rPr lang="es-MX" dirty="0"/>
              <a:t>, su sede se encuentra ubicada en Ginebra, Suiza. Su finalidad principal es la de promover </a:t>
            </a:r>
            <a:r>
              <a:rPr lang="es-MX" dirty="0" smtClean="0"/>
              <a:t>el desarrollo</a:t>
            </a:r>
            <a:r>
              <a:rPr lang="es-MX" dirty="0"/>
              <a:t> de estándares internacionales y actividades relacionadas incluyendo la conformidad de los Estatutos para facilitar el intercambio </a:t>
            </a:r>
            <a:r>
              <a:rPr lang="es-MX" dirty="0" smtClean="0"/>
              <a:t>de bienes</a:t>
            </a:r>
            <a:r>
              <a:rPr lang="es-MX" dirty="0"/>
              <a:t> </a:t>
            </a:r>
            <a:r>
              <a:rPr lang="es-MX" dirty="0" smtClean="0"/>
              <a:t>y servicios</a:t>
            </a:r>
            <a:r>
              <a:rPr lang="es-MX" dirty="0"/>
              <a:t> en todo el mundo</a:t>
            </a:r>
            <a:r>
              <a:rPr lang="es-MX" dirty="0" smtClean="0"/>
              <a:t>.</a:t>
            </a:r>
          </a:p>
          <a:p>
            <a:endParaRPr lang="es-MX" dirty="0"/>
          </a:p>
          <a:p>
            <a:r>
              <a:rPr lang="es-MX" dirty="0"/>
              <a:t>Con este antecedente, ISO creó en 1987 la serie de </a:t>
            </a:r>
            <a:r>
              <a:rPr lang="es-MX" dirty="0" smtClean="0"/>
              <a:t>estandarización ISO-9000</a:t>
            </a:r>
            <a:r>
              <a:rPr lang="es-MX" dirty="0"/>
              <a:t> adoptando la mayor parte de los elementos de la norma británica BS 5750. Ese mismo año la norma fue adoptada en </a:t>
            </a:r>
            <a:r>
              <a:rPr lang="es-MX" dirty="0" smtClean="0"/>
              <a:t>los Estados Unidos</a:t>
            </a:r>
            <a:r>
              <a:rPr lang="es-MX" dirty="0"/>
              <a:t> como la serie ANSI/ASQC–Q90 (American </a:t>
            </a:r>
            <a:r>
              <a:rPr lang="es-MX" dirty="0" err="1"/>
              <a:t>Society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 smtClean="0"/>
              <a:t>Quality</a:t>
            </a:r>
            <a:r>
              <a:rPr lang="es-MX" dirty="0" smtClean="0"/>
              <a:t> Control); </a:t>
            </a:r>
            <a:r>
              <a:rPr lang="es-MX" dirty="0"/>
              <a:t>y la norma BS 5750 fue revisada con </a:t>
            </a:r>
            <a:r>
              <a:rPr lang="es-MX" dirty="0" smtClean="0"/>
              <a:t>el objetivo</a:t>
            </a:r>
            <a:r>
              <a:rPr lang="es-MX" dirty="0"/>
              <a:t> de hacerla idéntica a la norma ISO 9000</a:t>
            </a:r>
            <a:r>
              <a:rPr lang="es-MX" dirty="0" smtClean="0"/>
              <a:t>.</a:t>
            </a:r>
          </a:p>
          <a:p>
            <a:endParaRPr lang="es-MX" dirty="0"/>
          </a:p>
          <a:p>
            <a:r>
              <a:rPr lang="es-MX" dirty="0"/>
              <a:t>Todos </a:t>
            </a:r>
            <a:r>
              <a:rPr lang="es-MX" dirty="0" smtClean="0"/>
              <a:t>los productos y </a:t>
            </a:r>
            <a:r>
              <a:rPr lang="es-MX" dirty="0"/>
              <a:t>servicios elaborados, administrados, consumidos o utilizados por el ser humano deben ser adecuados para proporcionar un </a:t>
            </a:r>
            <a:r>
              <a:rPr lang="es-MX" dirty="0" err="1" smtClean="0"/>
              <a:t>us</a:t>
            </a:r>
            <a:r>
              <a:rPr lang="es-MX" dirty="0" smtClean="0"/>
              <a:t> seguro</a:t>
            </a:r>
            <a:r>
              <a:rPr lang="es-MX" dirty="0"/>
              <a:t> en cuanto a sus dimensiones, formas, cantidades, elementos incorporados en su fabricación y fenómenos físicos utilizados para su adecuado funcionamiento.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24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de Calidad 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2694" y="605120"/>
            <a:ext cx="1104789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1864 </a:t>
            </a:r>
            <a:r>
              <a:rPr lang="es-MX" dirty="0" smtClean="0"/>
              <a:t>John </a:t>
            </a:r>
            <a:r>
              <a:rPr lang="es-MX" dirty="0"/>
              <a:t>Conness, </a:t>
            </a:r>
            <a:r>
              <a:rPr lang="es-MX" dirty="0" smtClean="0"/>
              <a:t>senador </a:t>
            </a:r>
            <a:r>
              <a:rPr lang="es-MX" dirty="0"/>
              <a:t>de California, </a:t>
            </a:r>
            <a:r>
              <a:rPr lang="es-MX" dirty="0" smtClean="0"/>
              <a:t>pidió al Congreso de Estados Unidos aceptaran </a:t>
            </a:r>
            <a:r>
              <a:rPr lang="es-MX" dirty="0"/>
              <a:t>una propuesta de ley, para proteger el Yosemite Valley y sus bosques de sequoias. En su discurso, Conness hizo referencia directa los árboles muertos de </a:t>
            </a:r>
            <a:r>
              <a:rPr lang="es-MX" dirty="0" smtClean="0"/>
              <a:t>Calaveras </a:t>
            </a:r>
            <a:r>
              <a:rPr lang="es-MX" dirty="0"/>
              <a:t>La ley pasó y el Yosemite Grant representó el primer parque nacional oficial de Estados Unidos en </a:t>
            </a:r>
            <a:r>
              <a:rPr lang="es-MX" dirty="0" smtClean="0"/>
              <a:t>1872, convirtiéndose en la 1° Ley de protección al ambiente.</a:t>
            </a:r>
          </a:p>
          <a:p>
            <a:endParaRPr lang="es-MX" sz="1200" dirty="0"/>
          </a:p>
          <a:p>
            <a:r>
              <a:rPr lang="es-MX" dirty="0" smtClean="0"/>
              <a:t>Durante el siglo XX siguieron emitiéndose de forma dispersa leyes ambientales, principalmente en países europeos.  A finales de este siglo y por presiones gubernamentales y </a:t>
            </a:r>
            <a:r>
              <a:rPr lang="es-MX" dirty="0" err="1" smtClean="0"/>
              <a:t>ONG´s</a:t>
            </a:r>
            <a:r>
              <a:rPr lang="es-MX" dirty="0" smtClean="0"/>
              <a:t>,  inicio el </a:t>
            </a:r>
            <a:r>
              <a:rPr lang="es-MX" dirty="0"/>
              <a:t>surgimiento de la serie de normas ISO 14000 </a:t>
            </a:r>
            <a:r>
              <a:rPr lang="es-MX" dirty="0" smtClean="0"/>
              <a:t>como </a:t>
            </a:r>
            <a:r>
              <a:rPr lang="es-MX" dirty="0"/>
              <a:t>consecuencia directa de </a:t>
            </a:r>
            <a:r>
              <a:rPr lang="es-MX" dirty="0" smtClean="0"/>
              <a:t>las </a:t>
            </a:r>
            <a:r>
              <a:rPr lang="es-MX" dirty="0"/>
              <a:t>negociaciones </a:t>
            </a:r>
            <a:r>
              <a:rPr lang="es-MX" dirty="0" smtClean="0"/>
              <a:t>del GATT</a:t>
            </a:r>
            <a:r>
              <a:rPr lang="es-MX" dirty="0"/>
              <a:t> en Uruguay y la cumbre de Río de Janeiro de la Naciones Unidas sobre el ambiente, </a:t>
            </a:r>
            <a:r>
              <a:rPr lang="es-MX" dirty="0" smtClean="0"/>
              <a:t>realizadas </a:t>
            </a:r>
            <a:r>
              <a:rPr lang="es-MX" dirty="0"/>
              <a:t>en 1992</a:t>
            </a:r>
            <a:r>
              <a:rPr lang="es-MX" dirty="0" smtClean="0"/>
              <a:t>.</a:t>
            </a:r>
          </a:p>
          <a:p>
            <a:endParaRPr lang="es-MX" sz="1200" dirty="0"/>
          </a:p>
          <a:p>
            <a:r>
              <a:rPr lang="es-MX" dirty="0"/>
              <a:t>L</a:t>
            </a:r>
            <a:r>
              <a:rPr lang="es-MX" dirty="0" smtClean="0"/>
              <a:t>a </a:t>
            </a:r>
            <a:r>
              <a:rPr lang="es-MX" dirty="0"/>
              <a:t>rápida aceptación de </a:t>
            </a:r>
            <a:r>
              <a:rPr lang="es-MX" dirty="0" smtClean="0"/>
              <a:t>la Norma ISO-9000 y </a:t>
            </a:r>
            <a:r>
              <a:rPr lang="es-MX" dirty="0"/>
              <a:t>al surgimiento de una gran cantidad de normas ambientales alrededor del mundo, </a:t>
            </a:r>
            <a:r>
              <a:rPr lang="es-MX" dirty="0" smtClean="0"/>
              <a:t>  ISO</a:t>
            </a:r>
            <a:r>
              <a:rPr lang="es-MX" dirty="0"/>
              <a:t> reconoce la necesidad de crear </a:t>
            </a:r>
            <a:r>
              <a:rPr lang="es-MX" dirty="0" err="1"/>
              <a:t>estandares</a:t>
            </a:r>
            <a:r>
              <a:rPr lang="es-MX" dirty="0"/>
              <a:t> administrativos en el área ambiental. En 1991, se había creado el Grupo Estratégico de Consultas en el Ambiente (SAGE) y en 1992 debido a las recomendaciones de este grupo se crea el comité ISO/TC 207 quien agruparía representantes de la industria, organismos de normas, el gobierno y organismos ambientales</a:t>
            </a:r>
            <a:r>
              <a:rPr lang="es-MX" dirty="0" smtClean="0"/>
              <a:t>.</a:t>
            </a:r>
          </a:p>
          <a:p>
            <a:endParaRPr lang="es-MX" sz="1400" dirty="0" smtClean="0"/>
          </a:p>
          <a:p>
            <a:r>
              <a:rPr lang="es-MX" dirty="0" smtClean="0"/>
              <a:t>Las dos </a:t>
            </a:r>
            <a:r>
              <a:rPr lang="es-MX" dirty="0"/>
              <a:t>vertientes </a:t>
            </a:r>
            <a:r>
              <a:rPr lang="es-MX" dirty="0" smtClean="0"/>
              <a:t>iniciales de ISO 14000 fueron: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certificación del Sistema de Gestión Ambiental, mediante el cual las empresas recibirán el certificado.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Sello Ambiental, mediante el cual serán certificados los productos </a:t>
            </a:r>
            <a:r>
              <a:rPr lang="es-MX" dirty="0" smtClean="0"/>
              <a:t>(“sello Verde").</a:t>
            </a:r>
          </a:p>
          <a:p>
            <a:endParaRPr lang="es-MX" dirty="0"/>
          </a:p>
          <a:p>
            <a:r>
              <a:rPr lang="es-MX" dirty="0" smtClean="0"/>
              <a:t>ISO </a:t>
            </a:r>
            <a:r>
              <a:rPr lang="es-MX" dirty="0"/>
              <a:t>14000 se </a:t>
            </a:r>
            <a:r>
              <a:rPr lang="es-MX" dirty="0" smtClean="0"/>
              <a:t>baso </a:t>
            </a:r>
            <a:r>
              <a:rPr lang="es-MX" dirty="0"/>
              <a:t>en la norma </a:t>
            </a:r>
            <a:r>
              <a:rPr lang="es-MX" dirty="0" smtClean="0"/>
              <a:t>británica BS7750, </a:t>
            </a:r>
            <a:r>
              <a:rPr lang="es-MX" dirty="0"/>
              <a:t>que fue publicada oficialmente por </a:t>
            </a:r>
            <a:r>
              <a:rPr lang="es-MX" dirty="0" smtClean="0"/>
              <a:t>la </a:t>
            </a:r>
            <a:r>
              <a:rPr lang="es-MX" dirty="0" err="1" smtClean="0"/>
              <a:t>Brtitish</a:t>
            </a:r>
            <a:r>
              <a:rPr lang="es-MX" dirty="0" smtClean="0"/>
              <a:t> </a:t>
            </a:r>
            <a:r>
              <a:rPr lang="es-MX" dirty="0" err="1" smtClean="0"/>
              <a:t>Standars</a:t>
            </a:r>
            <a:r>
              <a:rPr lang="es-MX" dirty="0" smtClean="0"/>
              <a:t> Institution (</a:t>
            </a:r>
            <a:r>
              <a:rPr lang="es-MX" dirty="0"/>
              <a:t>BSI) previa a la Reunión Mundial de </a:t>
            </a:r>
            <a:r>
              <a:rPr lang="es-MX" dirty="0" smtClean="0"/>
              <a:t>la ONU</a:t>
            </a:r>
            <a:r>
              <a:rPr lang="es-MX" dirty="0"/>
              <a:t> sobre </a:t>
            </a:r>
            <a:r>
              <a:rPr lang="es-MX" dirty="0" smtClean="0"/>
              <a:t>el Medio Ambiente (ECO 92).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694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de Calidad 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2694" y="847166"/>
            <a:ext cx="110478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r>
              <a:rPr lang="es-MX" dirty="0"/>
              <a:t>OHSAS 18001 nació en 1998 cuando un grupo de organismos certificadores de 15 países de Europa, Asia y América se reunieron para crear la primera norma para la certificación de un sistema de seguridad y salud ocupacional que tuviera un alcance global. OHSAS 18001 engloba una serie de estándares internacionales relacionados con la seguridad y salud en el trabajo, desarrollados en base a la directriz BS 8800 y la UNE 81900 EX. Fue publicada oficialmente por British </a:t>
            </a:r>
            <a:r>
              <a:rPr lang="es-MX" dirty="0" err="1"/>
              <a:t>Standars</a:t>
            </a:r>
            <a:r>
              <a:rPr lang="es-MX" dirty="0"/>
              <a:t> Institution y entró en vigor el 15 de Abril de 1999</a:t>
            </a:r>
            <a:r>
              <a:rPr lang="es-MX" dirty="0" smtClean="0"/>
              <a:t>.</a:t>
            </a:r>
          </a:p>
          <a:p>
            <a:endParaRPr lang="es-MX" dirty="0"/>
          </a:p>
          <a:p>
            <a:r>
              <a:rPr lang="es-MX" dirty="0"/>
              <a:t>Dada la gran aceptación de las normas de gestión de la calidad ISO 9001 y de gestión medioambiental ISO 14001, las empresas comenzaron a demandar el modelo de gestión de la seguridad y salud laboral que resultara más fácilmente integrable con las mismas y que ofreciese la posibilidad de evaluación y certificación de su sistema de gestión en la materia, ya que desde hace tiempo ha existido la inquietud en el mundo empresarial por demostrar su compromiso con la seguridad y la salud de sus trabajadores contratados. </a:t>
            </a:r>
            <a:endParaRPr lang="es-MX" dirty="0" smtClean="0"/>
          </a:p>
          <a:p>
            <a:endParaRPr lang="es-MX" dirty="0"/>
          </a:p>
          <a:p>
            <a:r>
              <a:rPr lang="es-MX" b="1" dirty="0" smtClean="0"/>
              <a:t>Este </a:t>
            </a:r>
            <a:r>
              <a:rPr lang="es-MX" b="1" dirty="0"/>
              <a:t>estándar internacional OHSAS 18001 se ha impuesto sobre los demás a nivel global</a:t>
            </a:r>
            <a:r>
              <a:rPr lang="es-MX" dirty="0"/>
              <a:t>. Hoy en día se encuentra en desarrollo la nueva ISO 45001: 20016</a:t>
            </a:r>
          </a:p>
          <a:p>
            <a:endParaRPr lang="es-MX" dirty="0" smtClean="0"/>
          </a:p>
          <a:p>
            <a:r>
              <a:rPr lang="es-MX" dirty="0"/>
              <a:t>Desde su publicación, OHSAS 18001 ha tenido una gran aceptación a nivel mundial y ha sido implantada por empresas de diversos tamaños y sectores. Tal </a:t>
            </a:r>
            <a:r>
              <a:rPr lang="es-MX" dirty="0" smtClean="0"/>
              <a:t>fue </a:t>
            </a:r>
            <a:r>
              <a:rPr lang="es-MX" dirty="0"/>
              <a:t>su demanda que en el año 2007 fué revisada, dando lugar a OHSAS 18001:2007 “Sistemas de gestión de la seguridad y salud en el trabajo” (OHSAS Project Group, 2007).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125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8729" t="3543" r="8487" b="8263"/>
          <a:stretch/>
        </p:blipFill>
        <p:spPr>
          <a:xfrm>
            <a:off x="1180383" y="759898"/>
            <a:ext cx="9977718" cy="5976252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de Calidad 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84440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a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TM03457491[[fn=Metrópoli]]</Template>
  <TotalTime>73</TotalTime>
  <Words>501</Words>
  <Application>Microsoft Office PowerPoint</Application>
  <PresentationFormat>Panorámica</PresentationFormat>
  <Paragraphs>39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Aharoni</vt:lpstr>
      <vt:lpstr>Arial</vt:lpstr>
      <vt:lpstr>Calibri Light</vt:lpstr>
      <vt:lpstr>Metropolitana</vt:lpstr>
      <vt:lpstr>UTEC</vt:lpstr>
      <vt:lpstr>UTEC</vt:lpstr>
      <vt:lpstr>UTEC</vt:lpstr>
      <vt:lpstr>UTEC</vt:lpstr>
      <vt:lpstr>UTEC</vt:lpstr>
      <vt:lpstr>UTEC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UTEC</dc:title>
  <dc:creator>Carlos Cachú Montes</dc:creator>
  <cp:lastModifiedBy>Carlos Cachú Montes</cp:lastModifiedBy>
  <cp:revision>12</cp:revision>
  <dcterms:created xsi:type="dcterms:W3CDTF">2017-01-29T22:45:17Z</dcterms:created>
  <dcterms:modified xsi:type="dcterms:W3CDTF">2017-02-03T05:30:01Z</dcterms:modified>
</cp:coreProperties>
</file>