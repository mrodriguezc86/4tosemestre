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15" r:id="rId1"/>
  </p:sldMasterIdLst>
  <p:notesMasterIdLst>
    <p:notesMasterId r:id="rId52"/>
  </p:notesMasterIdLst>
  <p:handoutMasterIdLst>
    <p:handoutMasterId r:id="rId53"/>
  </p:handoutMasterIdLst>
  <p:sldIdLst>
    <p:sldId id="796" r:id="rId2"/>
    <p:sldId id="526" r:id="rId3"/>
    <p:sldId id="845" r:id="rId4"/>
    <p:sldId id="846" r:id="rId5"/>
    <p:sldId id="402" r:id="rId6"/>
    <p:sldId id="843" r:id="rId7"/>
    <p:sldId id="649" r:id="rId8"/>
    <p:sldId id="665" r:id="rId9"/>
    <p:sldId id="666" r:id="rId10"/>
    <p:sldId id="667" r:id="rId11"/>
    <p:sldId id="436" r:id="rId12"/>
    <p:sldId id="668" r:id="rId13"/>
    <p:sldId id="530" r:id="rId14"/>
    <p:sldId id="856" r:id="rId15"/>
    <p:sldId id="855" r:id="rId16"/>
    <p:sldId id="675" r:id="rId17"/>
    <p:sldId id="677" r:id="rId18"/>
    <p:sldId id="789" r:id="rId19"/>
    <p:sldId id="857" r:id="rId20"/>
    <p:sldId id="858" r:id="rId21"/>
    <p:sldId id="864" r:id="rId22"/>
    <p:sldId id="654" r:id="rId23"/>
    <p:sldId id="540" r:id="rId24"/>
    <p:sldId id="854" r:id="rId25"/>
    <p:sldId id="690" r:id="rId26"/>
    <p:sldId id="865" r:id="rId27"/>
    <p:sldId id="551" r:id="rId28"/>
    <p:sldId id="629" r:id="rId29"/>
    <p:sldId id="810" r:id="rId30"/>
    <p:sldId id="847" r:id="rId31"/>
    <p:sldId id="848" r:id="rId32"/>
    <p:sldId id="849" r:id="rId33"/>
    <p:sldId id="813" r:id="rId34"/>
    <p:sldId id="815" r:id="rId35"/>
    <p:sldId id="816" r:id="rId36"/>
    <p:sldId id="851" r:id="rId37"/>
    <p:sldId id="850" r:id="rId38"/>
    <p:sldId id="443" r:id="rId39"/>
    <p:sldId id="770" r:id="rId40"/>
    <p:sldId id="771" r:id="rId41"/>
    <p:sldId id="772" r:id="rId42"/>
    <p:sldId id="658" r:id="rId43"/>
    <p:sldId id="453" r:id="rId44"/>
    <p:sldId id="866" r:id="rId45"/>
    <p:sldId id="659" r:id="rId46"/>
    <p:sldId id="527" r:id="rId47"/>
    <p:sldId id="852" r:id="rId48"/>
    <p:sldId id="853" r:id="rId49"/>
    <p:sldId id="292" r:id="rId50"/>
    <p:sldId id="776" r:id="rId51"/>
  </p:sldIdLst>
  <p:sldSz cx="9144000" cy="6858000" type="screen4x3"/>
  <p:notesSz cx="7315200" cy="96012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99CCFF"/>
    <a:srgbClr val="FF6699"/>
    <a:srgbClr val="0099FF"/>
    <a:srgbClr val="3399FF"/>
    <a:srgbClr val="FFFFCC"/>
    <a:srgbClr val="FFFF99"/>
    <a:srgbClr val="FF66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277" autoAdjust="0"/>
    <p:restoredTop sz="78909" autoAdjust="0"/>
  </p:normalViewPr>
  <p:slideViewPr>
    <p:cSldViewPr>
      <p:cViewPr varScale="1">
        <p:scale>
          <a:sx n="58" d="100"/>
          <a:sy n="58" d="100"/>
        </p:scale>
        <p:origin x="714" y="6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53" d="100"/>
          <a:sy n="53" d="100"/>
        </p:scale>
        <p:origin x="1230"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MN\Desktop\size%20of%20fighter.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00" normalizeH="0" baseline="0">
                <a:solidFill>
                  <a:schemeClr val="lt1"/>
                </a:solidFill>
                <a:latin typeface="+mn-lt"/>
                <a:ea typeface="+mn-ea"/>
                <a:cs typeface="+mn-cs"/>
              </a:defRPr>
            </a:pPr>
            <a:r>
              <a:rPr lang="en-US" sz="1800" dirty="0"/>
              <a:t>Size in SLOC of Fighter Aircraft since 1974</a:t>
            </a:r>
          </a:p>
        </c:rich>
      </c:tx>
      <c:layout/>
      <c:overlay val="0"/>
      <c:spPr>
        <a:noFill/>
        <a:ln>
          <a:noFill/>
        </a:ln>
        <a:effectLst/>
      </c:spPr>
      <c:txPr>
        <a:bodyPr rot="0" spcFirstLastPara="1" vertOverflow="ellipsis" vert="horz" wrap="square" anchor="ctr" anchorCtr="1"/>
        <a:lstStyle/>
        <a:p>
          <a:pPr>
            <a:defRPr sz="1800" b="1" i="0" u="none" strike="noStrike" kern="1200" cap="all" spc="100" normalizeH="0" baseline="0">
              <a:solidFill>
                <a:schemeClr val="lt1"/>
              </a:solidFill>
              <a:latin typeface="+mn-lt"/>
              <a:ea typeface="+mn-ea"/>
              <a:cs typeface="+mn-cs"/>
            </a:defRPr>
          </a:pPr>
          <a:endParaRPr lang="en-US"/>
        </a:p>
      </c:txPr>
    </c:title>
    <c:autoTitleDeleted val="0"/>
    <c:plotArea>
      <c:layout/>
      <c:scatterChart>
        <c:scatterStyle val="lineMarker"/>
        <c:varyColors val="0"/>
        <c:ser>
          <c:idx val="0"/>
          <c:order val="0"/>
          <c:spPr>
            <a:ln w="25400" cap="rnd">
              <a:noFill/>
              <a:round/>
            </a:ln>
            <a:effectLst>
              <a:outerShdw dist="25400" dir="2700000" algn="tl" rotWithShape="0">
                <a:schemeClr val="accent1"/>
              </a:outerShdw>
            </a:effectLst>
          </c:spPr>
          <c:marker>
            <c:symbol val="circle"/>
            <c:size val="6"/>
            <c:spPr>
              <a:solidFill>
                <a:schemeClr val="accent1"/>
              </a:solidFill>
              <a:ln w="22225">
                <a:solidFill>
                  <a:schemeClr val="lt1"/>
                </a:solidFill>
                <a:round/>
              </a:ln>
              <a:effectLst/>
            </c:spPr>
          </c:marker>
          <c:trendline>
            <c:spPr>
              <a:ln w="28575" cap="rnd">
                <a:solidFill>
                  <a:schemeClr val="lt1">
                    <a:alpha val="50000"/>
                  </a:schemeClr>
                </a:solidFill>
                <a:round/>
              </a:ln>
              <a:effectLst/>
            </c:spPr>
            <c:trendlineType val="exp"/>
            <c:dispRSqr val="0"/>
            <c:dispEq val="0"/>
          </c:trendline>
          <c:xVal>
            <c:numRef>
              <c:f>Sheet1!$B$1:$B$5</c:f>
              <c:numCache>
                <c:formatCode>General</c:formatCode>
                <c:ptCount val="5"/>
                <c:pt idx="0">
                  <c:v>1974</c:v>
                </c:pt>
                <c:pt idx="1">
                  <c:v>1984</c:v>
                </c:pt>
                <c:pt idx="2">
                  <c:v>1997</c:v>
                </c:pt>
                <c:pt idx="3">
                  <c:v>2006</c:v>
                </c:pt>
                <c:pt idx="4">
                  <c:v>2012</c:v>
                </c:pt>
              </c:numCache>
            </c:numRef>
          </c:xVal>
          <c:yVal>
            <c:numRef>
              <c:f>Sheet1!$C$1:$C$5</c:f>
              <c:numCache>
                <c:formatCode>General</c:formatCode>
                <c:ptCount val="5"/>
                <c:pt idx="0">
                  <c:v>135000</c:v>
                </c:pt>
                <c:pt idx="1">
                  <c:v>236000</c:v>
                </c:pt>
                <c:pt idx="2">
                  <c:v>1700000</c:v>
                </c:pt>
                <c:pt idx="3">
                  <c:v>6800000</c:v>
                </c:pt>
                <c:pt idx="4">
                  <c:v>24000000</c:v>
                </c:pt>
              </c:numCache>
            </c:numRef>
          </c:yVal>
          <c:smooth val="0"/>
        </c:ser>
        <c:dLbls>
          <c:showLegendKey val="0"/>
          <c:showVal val="0"/>
          <c:showCatName val="0"/>
          <c:showSerName val="0"/>
          <c:showPercent val="0"/>
          <c:showBubbleSize val="0"/>
        </c:dLbls>
        <c:axId val="305382536"/>
        <c:axId val="305383320"/>
      </c:scatterChart>
      <c:valAx>
        <c:axId val="305382536"/>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solidFill>
                <a:latin typeface="+mn-lt"/>
                <a:ea typeface="+mn-ea"/>
                <a:cs typeface="+mn-cs"/>
              </a:defRPr>
            </a:pPr>
            <a:endParaRPr lang="en-US"/>
          </a:p>
        </c:txPr>
        <c:crossAx val="305383320"/>
        <c:crosses val="autoZero"/>
        <c:crossBetween val="midCat"/>
      </c:valAx>
      <c:valAx>
        <c:axId val="305383320"/>
        <c:scaling>
          <c:orientation val="minMax"/>
        </c:scaling>
        <c:delete val="0"/>
        <c:axPos val="l"/>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lt1"/>
                </a:solidFill>
                <a:latin typeface="+mn-lt"/>
                <a:ea typeface="+mn-ea"/>
                <a:cs typeface="+mn-cs"/>
              </a:defRPr>
            </a:pPr>
            <a:endParaRPr lang="en-US"/>
          </a:p>
        </c:txPr>
        <c:crossAx val="305382536"/>
        <c:crosses val="autoZero"/>
        <c:crossBetween val="midCat"/>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sz="2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7">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alpha val="25000"/>
          </a:schemeClr>
        </a:solidFill>
        <a:round/>
      </a:ln>
    </cs:spPr>
    <cs:defRPr sz="1197" b="0"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28575" cap="rnd">
        <a:solidFill>
          <a:schemeClr val="lt1">
            <a:alpha val="50000"/>
          </a:schemeClr>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cap="flat" cmpd="sng" algn="ctr">
        <a:gradFill>
          <a:gsLst>
            <a:gs pos="79000">
              <a:schemeClr val="phClr"/>
            </a:gs>
            <a:gs pos="0">
              <a:schemeClr val="lt1">
                <a:alpha val="6000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8178" name="Rectangle 2"/>
          <p:cNvSpPr>
            <a:spLocks noGrp="1" noChangeArrowheads="1"/>
          </p:cNvSpPr>
          <p:nvPr>
            <p:ph type="hdr" sz="quarter"/>
          </p:nvPr>
        </p:nvSpPr>
        <p:spPr bwMode="auto">
          <a:xfrm>
            <a:off x="0" y="0"/>
            <a:ext cx="3168608" cy="482430"/>
          </a:xfrm>
          <a:prstGeom prst="rect">
            <a:avLst/>
          </a:prstGeom>
          <a:noFill/>
          <a:ln w="9525">
            <a:noFill/>
            <a:miter lim="800000"/>
            <a:headEnd/>
            <a:tailEnd/>
          </a:ln>
          <a:effectLst/>
        </p:spPr>
        <p:txBody>
          <a:bodyPr vert="horz" wrap="square" lIns="94347" tIns="47174" rIns="94347" bIns="47174" numCol="1" anchor="t" anchorCtr="0" compatLnSpc="1">
            <a:prstTxWarp prst="textNoShape">
              <a:avLst/>
            </a:prstTxWarp>
          </a:bodyPr>
          <a:lstStyle>
            <a:lvl1pPr defTabSz="943489">
              <a:defRPr sz="1300" b="0"/>
            </a:lvl1pPr>
          </a:lstStyle>
          <a:p>
            <a:pPr>
              <a:defRPr/>
            </a:pPr>
            <a:r>
              <a:rPr lang="en-US" dirty="0" smtClean="0"/>
              <a:t>Software FMEA Training 				</a:t>
            </a:r>
            <a:endParaRPr lang="en-US" dirty="0"/>
          </a:p>
        </p:txBody>
      </p:sp>
      <p:sp>
        <p:nvSpPr>
          <p:cNvPr id="178179" name="Rectangle 3"/>
          <p:cNvSpPr>
            <a:spLocks noGrp="1" noChangeArrowheads="1"/>
          </p:cNvSpPr>
          <p:nvPr>
            <p:ph type="dt" sz="quarter" idx="1"/>
          </p:nvPr>
        </p:nvSpPr>
        <p:spPr bwMode="auto">
          <a:xfrm>
            <a:off x="4144952" y="0"/>
            <a:ext cx="3168608" cy="482430"/>
          </a:xfrm>
          <a:prstGeom prst="rect">
            <a:avLst/>
          </a:prstGeom>
          <a:noFill/>
          <a:ln w="9525">
            <a:noFill/>
            <a:miter lim="800000"/>
            <a:headEnd/>
            <a:tailEnd/>
          </a:ln>
          <a:effectLst/>
        </p:spPr>
        <p:txBody>
          <a:bodyPr vert="horz" wrap="square" lIns="94347" tIns="47174" rIns="94347" bIns="47174" numCol="1" anchor="t" anchorCtr="0" compatLnSpc="1">
            <a:prstTxWarp prst="textNoShape">
              <a:avLst/>
            </a:prstTxWarp>
          </a:bodyPr>
          <a:lstStyle>
            <a:lvl1pPr algn="r" defTabSz="943489">
              <a:defRPr sz="1300" b="0"/>
            </a:lvl1pPr>
          </a:lstStyle>
          <a:p>
            <a:pPr>
              <a:defRPr/>
            </a:pPr>
            <a:r>
              <a:rPr lang="en-US" dirty="0" smtClean="0"/>
              <a:t>11/25/14</a:t>
            </a:r>
            <a:endParaRPr lang="en-US" dirty="0"/>
          </a:p>
        </p:txBody>
      </p:sp>
      <p:sp>
        <p:nvSpPr>
          <p:cNvPr id="178180" name="Rectangle 4"/>
          <p:cNvSpPr>
            <a:spLocks noGrp="1" noChangeArrowheads="1"/>
          </p:cNvSpPr>
          <p:nvPr>
            <p:ph type="ftr" sz="quarter" idx="2"/>
          </p:nvPr>
        </p:nvSpPr>
        <p:spPr bwMode="auto">
          <a:xfrm>
            <a:off x="0" y="9117078"/>
            <a:ext cx="3168608" cy="482430"/>
          </a:xfrm>
          <a:prstGeom prst="rect">
            <a:avLst/>
          </a:prstGeom>
          <a:noFill/>
          <a:ln w="9525">
            <a:noFill/>
            <a:miter lim="800000"/>
            <a:headEnd/>
            <a:tailEnd/>
          </a:ln>
          <a:effectLst/>
        </p:spPr>
        <p:txBody>
          <a:bodyPr vert="horz" wrap="square" lIns="94347" tIns="47174" rIns="94347" bIns="47174" numCol="1" anchor="b" anchorCtr="0" compatLnSpc="1">
            <a:prstTxWarp prst="textNoShape">
              <a:avLst/>
            </a:prstTxWarp>
          </a:bodyPr>
          <a:lstStyle>
            <a:lvl1pPr defTabSz="943489">
              <a:defRPr sz="1300" b="0"/>
            </a:lvl1pPr>
          </a:lstStyle>
          <a:p>
            <a:pPr>
              <a:defRPr/>
            </a:pPr>
            <a:r>
              <a:rPr lang="en-US" dirty="0" smtClean="0"/>
              <a:t>© Softrel, LLC 2014</a:t>
            </a:r>
            <a:endParaRPr lang="en-US" dirty="0"/>
          </a:p>
        </p:txBody>
      </p:sp>
      <p:sp>
        <p:nvSpPr>
          <p:cNvPr id="178181" name="Rectangle 5"/>
          <p:cNvSpPr>
            <a:spLocks noGrp="1" noChangeAspect="1" noChangeArrowheads="1"/>
          </p:cNvSpPr>
          <p:nvPr>
            <p:ph type="sldNum" sz="quarter" idx="3"/>
          </p:nvPr>
        </p:nvSpPr>
        <p:spPr bwMode="auto">
          <a:xfrm>
            <a:off x="4144952" y="9117078"/>
            <a:ext cx="3168608" cy="482430"/>
          </a:xfrm>
          <a:prstGeom prst="rect">
            <a:avLst/>
          </a:prstGeom>
          <a:noFill/>
          <a:ln w="9525">
            <a:noFill/>
            <a:miter lim="800000"/>
            <a:headEnd/>
            <a:tailEnd/>
          </a:ln>
          <a:effectLst/>
        </p:spPr>
        <p:txBody>
          <a:bodyPr vert="horz" wrap="square" lIns="94347" tIns="47174" rIns="94347" bIns="47174" numCol="1" anchor="b" anchorCtr="0" compatLnSpc="1">
            <a:prstTxWarp prst="textNoShape">
              <a:avLst/>
            </a:prstTxWarp>
          </a:bodyPr>
          <a:lstStyle>
            <a:lvl1pPr algn="r" defTabSz="943489">
              <a:defRPr sz="1300" b="0"/>
            </a:lvl1pPr>
          </a:lstStyle>
          <a:p>
            <a:pPr>
              <a:defRPr/>
            </a:pPr>
            <a:endParaRPr lang="en-US" dirty="0"/>
          </a:p>
        </p:txBody>
      </p:sp>
    </p:spTree>
    <p:extLst>
      <p:ext uri="{BB962C8B-B14F-4D97-AF65-F5344CB8AC3E}">
        <p14:creationId xmlns:p14="http://schemas.microsoft.com/office/powerpoint/2010/main" val="40455326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168608" cy="482430"/>
          </a:xfrm>
          <a:prstGeom prst="rect">
            <a:avLst/>
          </a:prstGeom>
          <a:noFill/>
          <a:ln w="9525">
            <a:noFill/>
            <a:miter lim="800000"/>
            <a:headEnd/>
            <a:tailEnd/>
          </a:ln>
          <a:effectLst/>
        </p:spPr>
        <p:txBody>
          <a:bodyPr vert="horz" wrap="square" lIns="94347" tIns="47174" rIns="94347" bIns="47174" numCol="1" anchor="t" anchorCtr="0" compatLnSpc="1">
            <a:prstTxWarp prst="textNoShape">
              <a:avLst/>
            </a:prstTxWarp>
          </a:bodyPr>
          <a:lstStyle>
            <a:lvl1pPr defTabSz="943489">
              <a:defRPr sz="1300" b="0"/>
            </a:lvl1pPr>
          </a:lstStyle>
          <a:p>
            <a:pPr>
              <a:defRPr/>
            </a:pPr>
            <a:r>
              <a:rPr lang="en-US" dirty="0"/>
              <a:t>Software FMEA</a:t>
            </a:r>
          </a:p>
        </p:txBody>
      </p:sp>
      <p:sp>
        <p:nvSpPr>
          <p:cNvPr id="9219" name="Rectangle 3"/>
          <p:cNvSpPr>
            <a:spLocks noGrp="1" noChangeArrowheads="1"/>
          </p:cNvSpPr>
          <p:nvPr>
            <p:ph type="dt" idx="1"/>
          </p:nvPr>
        </p:nvSpPr>
        <p:spPr bwMode="auto">
          <a:xfrm>
            <a:off x="4144952" y="0"/>
            <a:ext cx="3168608" cy="482430"/>
          </a:xfrm>
          <a:prstGeom prst="rect">
            <a:avLst/>
          </a:prstGeom>
          <a:noFill/>
          <a:ln w="9525">
            <a:noFill/>
            <a:miter lim="800000"/>
            <a:headEnd/>
            <a:tailEnd/>
          </a:ln>
          <a:effectLst/>
        </p:spPr>
        <p:txBody>
          <a:bodyPr vert="horz" wrap="square" lIns="94347" tIns="47174" rIns="94347" bIns="47174" numCol="1" anchor="t" anchorCtr="0" compatLnSpc="1">
            <a:prstTxWarp prst="textNoShape">
              <a:avLst/>
            </a:prstTxWarp>
          </a:bodyPr>
          <a:lstStyle>
            <a:lvl1pPr algn="r" defTabSz="943489">
              <a:defRPr sz="1300" b="0"/>
            </a:lvl1pPr>
          </a:lstStyle>
          <a:p>
            <a:pPr>
              <a:defRPr/>
            </a:pPr>
            <a:endParaRPr lang="en-US" dirty="0"/>
          </a:p>
        </p:txBody>
      </p:sp>
      <p:sp>
        <p:nvSpPr>
          <p:cNvPr id="89092" name="Rectangle 4"/>
          <p:cNvSpPr>
            <a:spLocks noGrp="1" noRot="1" noChangeAspect="1" noChangeArrowheads="1" noTextEdit="1"/>
          </p:cNvSpPr>
          <p:nvPr>
            <p:ph type="sldImg" idx="2"/>
          </p:nvPr>
        </p:nvSpPr>
        <p:spPr bwMode="auto">
          <a:xfrm>
            <a:off x="989013" y="493713"/>
            <a:ext cx="5416550" cy="4062412"/>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730208" y="4561925"/>
            <a:ext cx="5854785" cy="4318170"/>
          </a:xfrm>
          <a:prstGeom prst="rect">
            <a:avLst/>
          </a:prstGeom>
          <a:noFill/>
          <a:ln w="9525">
            <a:noFill/>
            <a:miter lim="800000"/>
            <a:headEnd/>
            <a:tailEnd/>
          </a:ln>
          <a:effectLst/>
        </p:spPr>
        <p:txBody>
          <a:bodyPr vert="horz" wrap="square" lIns="94347" tIns="47174" rIns="94347" bIns="4717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22" name="Rectangle 6"/>
          <p:cNvSpPr>
            <a:spLocks noGrp="1" noChangeArrowheads="1"/>
          </p:cNvSpPr>
          <p:nvPr>
            <p:ph type="ftr" sz="quarter" idx="4"/>
          </p:nvPr>
        </p:nvSpPr>
        <p:spPr bwMode="auto">
          <a:xfrm>
            <a:off x="1" y="9117078"/>
            <a:ext cx="7315200" cy="482430"/>
          </a:xfrm>
          <a:prstGeom prst="rect">
            <a:avLst/>
          </a:prstGeom>
          <a:noFill/>
          <a:ln w="9525">
            <a:noFill/>
            <a:miter lim="800000"/>
            <a:headEnd/>
            <a:tailEnd/>
          </a:ln>
          <a:effectLst/>
        </p:spPr>
        <p:txBody>
          <a:bodyPr vert="horz" wrap="square" lIns="94347" tIns="47174" rIns="94347" bIns="47174" numCol="1" anchor="b" anchorCtr="0" compatLnSpc="1">
            <a:prstTxWarp prst="textNoShape">
              <a:avLst/>
            </a:prstTxWarp>
          </a:bodyPr>
          <a:lstStyle>
            <a:lvl1pPr algn="ctr" defTabSz="901741">
              <a:defRPr sz="1300" b="0"/>
            </a:lvl1pPr>
          </a:lstStyle>
          <a:p>
            <a:pPr>
              <a:defRPr/>
            </a:pPr>
            <a:r>
              <a:rPr lang="en-US" dirty="0" smtClean="0"/>
              <a:t>© SoftRel</a:t>
            </a:r>
            <a:r>
              <a:rPr lang="en-US" dirty="0"/>
              <a:t>, LLC 2010 This material may not be reprinted in part or in whole without written permission from Ann Marie Neufelder.</a:t>
            </a:r>
          </a:p>
        </p:txBody>
      </p:sp>
      <p:sp>
        <p:nvSpPr>
          <p:cNvPr id="9223" name="Rectangle 7"/>
          <p:cNvSpPr>
            <a:spLocks noGrp="1" noChangeArrowheads="1"/>
          </p:cNvSpPr>
          <p:nvPr>
            <p:ph type="sldNum" sz="quarter" idx="5"/>
          </p:nvPr>
        </p:nvSpPr>
        <p:spPr bwMode="auto">
          <a:xfrm>
            <a:off x="4144952" y="9117078"/>
            <a:ext cx="3168608" cy="482430"/>
          </a:xfrm>
          <a:prstGeom prst="rect">
            <a:avLst/>
          </a:prstGeom>
          <a:noFill/>
          <a:ln w="9525">
            <a:noFill/>
            <a:miter lim="800000"/>
            <a:headEnd/>
            <a:tailEnd/>
          </a:ln>
          <a:effectLst/>
        </p:spPr>
        <p:txBody>
          <a:bodyPr vert="horz" wrap="square" lIns="94347" tIns="47174" rIns="94347" bIns="47174" numCol="1" anchor="b" anchorCtr="0" compatLnSpc="1">
            <a:prstTxWarp prst="textNoShape">
              <a:avLst/>
            </a:prstTxWarp>
          </a:bodyPr>
          <a:lstStyle>
            <a:lvl1pPr algn="r" defTabSz="943489">
              <a:defRPr sz="1300" b="0"/>
            </a:lvl1pPr>
          </a:lstStyle>
          <a:p>
            <a:pPr>
              <a:defRPr/>
            </a:pPr>
            <a:fld id="{C83E018F-04F2-4A39-87FD-4ADEDC4295A1}" type="slidenum">
              <a:rPr lang="en-US"/>
              <a:pPr>
                <a:defRPr/>
              </a:pPr>
              <a:t>‹#›</a:t>
            </a:fld>
            <a:endParaRPr lang="en-US" dirty="0"/>
          </a:p>
        </p:txBody>
      </p:sp>
    </p:spTree>
    <p:extLst>
      <p:ext uri="{BB962C8B-B14F-4D97-AF65-F5344CB8AC3E}">
        <p14:creationId xmlns:p14="http://schemas.microsoft.com/office/powerpoint/2010/main" val="2655694721"/>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Welcome</a:t>
            </a:r>
            <a:r>
              <a:rPr lang="en-US" baseline="0" dirty="0" smtClean="0"/>
              <a:t> to the online edition of Software Failure Modes Effects Analysis course by Ann Marie Neufelder of Softrel, LLC</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a:t>
            </a:fld>
            <a:endParaRPr lang="en-US" dirty="0"/>
          </a:p>
        </p:txBody>
      </p:sp>
    </p:spTree>
    <p:extLst>
      <p:ext uri="{BB962C8B-B14F-4D97-AF65-F5344CB8AC3E}">
        <p14:creationId xmlns:p14="http://schemas.microsoft.com/office/powerpoint/2010/main" val="1580154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xfrm>
            <a:off x="989013" y="493713"/>
            <a:ext cx="5416550" cy="4062412"/>
          </a:xfrm>
          <a:ln/>
        </p:spPr>
      </p:sp>
      <p:sp>
        <p:nvSpPr>
          <p:cNvPr id="91139" name="Notes Placeholder 2"/>
          <p:cNvSpPr>
            <a:spLocks noGrp="1"/>
          </p:cNvSpPr>
          <p:nvPr>
            <p:ph type="body" idx="1"/>
          </p:nvPr>
        </p:nvSpPr>
        <p:spPr>
          <a:noFill/>
          <a:ln/>
        </p:spPr>
        <p:txBody>
          <a:bodyPr/>
          <a:lstStyle/>
          <a:p>
            <a:r>
              <a:rPr lang="en-US" dirty="0" smtClean="0"/>
              <a:t>First we will cover a few basic things that you need to know to understand how to perform a software FMEA.  Then the</a:t>
            </a:r>
            <a:r>
              <a:rPr lang="en-US" baseline="0" dirty="0" smtClean="0"/>
              <a:t> class agenda will follow the 4 basic steps of the software FMEA. The class will finish by illustrating a few common mistakes with regards to performing software FMEAs.  </a:t>
            </a:r>
            <a:endParaRPr lang="en-US" dirty="0" smtClean="0"/>
          </a:p>
        </p:txBody>
      </p:sp>
      <p:sp>
        <p:nvSpPr>
          <p:cNvPr id="91140" name="Header Placeholder 3"/>
          <p:cNvSpPr>
            <a:spLocks noGrp="1"/>
          </p:cNvSpPr>
          <p:nvPr>
            <p:ph type="hdr" sz="quarter"/>
          </p:nvPr>
        </p:nvSpPr>
        <p:spPr>
          <a:noFill/>
        </p:spPr>
        <p:txBody>
          <a:bodyPr/>
          <a:lstStyle/>
          <a:p>
            <a:r>
              <a:rPr lang="en-US" dirty="0" smtClean="0"/>
              <a:t>Software FMEA</a:t>
            </a:r>
          </a:p>
        </p:txBody>
      </p:sp>
      <p:sp>
        <p:nvSpPr>
          <p:cNvPr id="91141" name="Date Placeholder 4"/>
          <p:cNvSpPr>
            <a:spLocks noGrp="1"/>
          </p:cNvSpPr>
          <p:nvPr>
            <p:ph type="dt" sz="quarter" idx="1"/>
          </p:nvPr>
        </p:nvSpPr>
        <p:spPr>
          <a:noFill/>
        </p:spPr>
        <p:txBody>
          <a:bodyPr/>
          <a:lstStyle/>
          <a:p>
            <a:endParaRPr lang="en-US" dirty="0" smtClean="0"/>
          </a:p>
        </p:txBody>
      </p:sp>
      <p:sp>
        <p:nvSpPr>
          <p:cNvPr id="91142"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1143" name="Slide Number Placeholder 6"/>
          <p:cNvSpPr>
            <a:spLocks noGrp="1"/>
          </p:cNvSpPr>
          <p:nvPr>
            <p:ph type="sldNum" sz="quarter" idx="5"/>
          </p:nvPr>
        </p:nvSpPr>
        <p:spPr>
          <a:noFill/>
        </p:spPr>
        <p:txBody>
          <a:bodyPr/>
          <a:lstStyle/>
          <a:p>
            <a:fld id="{FE1680A8-6929-4E0D-986E-46AD9228FA17}" type="slidenum">
              <a:rPr lang="en-US" smtClean="0"/>
              <a:pPr/>
              <a:t>2</a:t>
            </a:fld>
            <a:endParaRPr lang="en-US" dirty="0" smtClean="0"/>
          </a:p>
        </p:txBody>
      </p:sp>
    </p:spTree>
    <p:extLst>
      <p:ext uri="{BB962C8B-B14F-4D97-AF65-F5344CB8AC3E}">
        <p14:creationId xmlns:p14="http://schemas.microsoft.com/office/powerpoint/2010/main" val="3879270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we begin the software</a:t>
            </a:r>
            <a:r>
              <a:rPr lang="en-US" baseline="0" dirty="0" smtClean="0"/>
              <a:t> FMEA presentation, let’s start with explaining why the software FMEA has become one of the most popular software analyses.  Over the decades, software has grown exponentially in size as shown in this figure.  The size of an average software system makes it very difficult to test thoroughly and completely.  Even medium sized software systems have an almost infinite number of possibilities with regards to test paths.  Additionally many software failures are related to what the software does NOT do and SHOULD do.  These are things that are often not in the test plan because they are not in the software requirements or design documents.  The need for software FMEAs only increases as the size and complexity of the software system increases.</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3</a:t>
            </a:fld>
            <a:endParaRPr lang="en-US" dirty="0"/>
          </a:p>
        </p:txBody>
      </p:sp>
    </p:spTree>
    <p:extLst>
      <p:ext uri="{BB962C8B-B14F-4D97-AF65-F5344CB8AC3E}">
        <p14:creationId xmlns:p14="http://schemas.microsoft.com/office/powerpoint/2010/main" val="3286376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Over the last 5 decades there</a:t>
            </a:r>
            <a:r>
              <a:rPr lang="en-US" baseline="0" dirty="0" smtClean="0"/>
              <a:t> have been many system failures due to software.  This page shows just a few of them.  Your book describes several of them. However, your book and this presentation only scratches the surface.  For every software related event that is in the public domain it’s suspected that several more or not in the public domain due to security and confidentiality. </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4</a:t>
            </a:fld>
            <a:endParaRPr lang="en-US" dirty="0"/>
          </a:p>
        </p:txBody>
      </p:sp>
    </p:spTree>
    <p:extLst>
      <p:ext uri="{BB962C8B-B14F-4D97-AF65-F5344CB8AC3E}">
        <p14:creationId xmlns:p14="http://schemas.microsoft.com/office/powerpoint/2010/main" val="2708766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xfrm>
            <a:off x="989013" y="493713"/>
            <a:ext cx="5416550" cy="4062412"/>
          </a:xfrm>
          <a:ln/>
        </p:spPr>
      </p:sp>
      <p:sp>
        <p:nvSpPr>
          <p:cNvPr id="93187" name="Notes Placeholder 2"/>
          <p:cNvSpPr>
            <a:spLocks noGrp="1"/>
          </p:cNvSpPr>
          <p:nvPr>
            <p:ph type="body" idx="1"/>
          </p:nvPr>
        </p:nvSpPr>
        <p:spPr>
          <a:noFill/>
          <a:ln/>
        </p:spPr>
        <p:txBody>
          <a:bodyPr/>
          <a:lstStyle/>
          <a:p>
            <a:r>
              <a:rPr lang="en-US" dirty="0" smtClean="0"/>
              <a:t>Before we start you will need to be familiar with a few of the terms used in this</a:t>
            </a:r>
            <a:r>
              <a:rPr lang="en-US" baseline="0" dirty="0" smtClean="0"/>
              <a:t> course.  </a:t>
            </a:r>
            <a:endParaRPr lang="en-US" dirty="0" smtClean="0"/>
          </a:p>
        </p:txBody>
      </p:sp>
      <p:sp>
        <p:nvSpPr>
          <p:cNvPr id="93188" name="Header Placeholder 3"/>
          <p:cNvSpPr>
            <a:spLocks noGrp="1"/>
          </p:cNvSpPr>
          <p:nvPr>
            <p:ph type="hdr" sz="quarter"/>
          </p:nvPr>
        </p:nvSpPr>
        <p:spPr>
          <a:noFill/>
        </p:spPr>
        <p:txBody>
          <a:bodyPr/>
          <a:lstStyle/>
          <a:p>
            <a:r>
              <a:rPr lang="en-US" dirty="0" smtClean="0"/>
              <a:t>Software FMEA</a:t>
            </a:r>
          </a:p>
        </p:txBody>
      </p:sp>
      <p:sp>
        <p:nvSpPr>
          <p:cNvPr id="93189" name="Date Placeholder 4"/>
          <p:cNvSpPr>
            <a:spLocks noGrp="1"/>
          </p:cNvSpPr>
          <p:nvPr>
            <p:ph type="dt" sz="quarter" idx="1"/>
          </p:nvPr>
        </p:nvSpPr>
        <p:spPr>
          <a:noFill/>
        </p:spPr>
        <p:txBody>
          <a:bodyPr/>
          <a:lstStyle/>
          <a:p>
            <a:endParaRPr lang="en-US" dirty="0" smtClean="0"/>
          </a:p>
        </p:txBody>
      </p:sp>
      <p:sp>
        <p:nvSpPr>
          <p:cNvPr id="93190"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3191" name="Slide Number Placeholder 6"/>
          <p:cNvSpPr>
            <a:spLocks noGrp="1"/>
          </p:cNvSpPr>
          <p:nvPr>
            <p:ph type="sldNum" sz="quarter" idx="5"/>
          </p:nvPr>
        </p:nvSpPr>
        <p:spPr>
          <a:noFill/>
        </p:spPr>
        <p:txBody>
          <a:bodyPr/>
          <a:lstStyle/>
          <a:p>
            <a:fld id="{5D274943-2464-41BE-B708-6202F93A6E95}" type="slidenum">
              <a:rPr lang="en-US" smtClean="0"/>
              <a:pPr/>
              <a:t>5</a:t>
            </a:fld>
            <a:endParaRPr lang="en-US" dirty="0" smtClean="0"/>
          </a:p>
        </p:txBody>
      </p:sp>
    </p:spTree>
    <p:extLst>
      <p:ext uri="{BB962C8B-B14F-4D97-AF65-F5344CB8AC3E}">
        <p14:creationId xmlns:p14="http://schemas.microsoft.com/office/powerpoint/2010/main" val="412148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xfrm>
            <a:off x="1036638" y="463550"/>
            <a:ext cx="5080000" cy="3810000"/>
          </a:xfrm>
          <a:ln/>
        </p:spPr>
      </p:sp>
      <p:sp>
        <p:nvSpPr>
          <p:cNvPr id="94211" name="Notes Placeholder 2"/>
          <p:cNvSpPr>
            <a:spLocks noGrp="1"/>
          </p:cNvSpPr>
          <p:nvPr>
            <p:ph type="body" idx="1"/>
          </p:nvPr>
        </p:nvSpPr>
        <p:spPr>
          <a:noFill/>
          <a:ln/>
        </p:spPr>
        <p:txBody>
          <a:bodyPr/>
          <a:lstStyle/>
          <a:p>
            <a:endParaRPr lang="en-US" dirty="0" smtClean="0"/>
          </a:p>
        </p:txBody>
      </p:sp>
      <p:sp>
        <p:nvSpPr>
          <p:cNvPr id="94212" name="Header Placeholder 3"/>
          <p:cNvSpPr>
            <a:spLocks noGrp="1"/>
          </p:cNvSpPr>
          <p:nvPr>
            <p:ph type="hdr" sz="quarter"/>
          </p:nvPr>
        </p:nvSpPr>
        <p:spPr>
          <a:noFill/>
        </p:spPr>
        <p:txBody>
          <a:bodyPr/>
          <a:lstStyle/>
          <a:p>
            <a:r>
              <a:rPr lang="en-US" dirty="0" smtClean="0"/>
              <a:t>Software FMEA</a:t>
            </a:r>
          </a:p>
        </p:txBody>
      </p:sp>
      <p:sp>
        <p:nvSpPr>
          <p:cNvPr id="94213" name="Date Placeholder 4"/>
          <p:cNvSpPr>
            <a:spLocks noGrp="1"/>
          </p:cNvSpPr>
          <p:nvPr>
            <p:ph type="dt" sz="quarter" idx="1"/>
          </p:nvPr>
        </p:nvSpPr>
        <p:spPr>
          <a:noFill/>
        </p:spPr>
        <p:txBody>
          <a:bodyPr/>
          <a:lstStyle/>
          <a:p>
            <a:endParaRPr lang="en-US" dirty="0" smtClean="0"/>
          </a:p>
        </p:txBody>
      </p:sp>
      <p:sp>
        <p:nvSpPr>
          <p:cNvPr id="94214"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4215" name="Slide Number Placeholder 6"/>
          <p:cNvSpPr>
            <a:spLocks noGrp="1"/>
          </p:cNvSpPr>
          <p:nvPr>
            <p:ph type="sldNum" sz="quarter" idx="5"/>
          </p:nvPr>
        </p:nvSpPr>
        <p:spPr>
          <a:noFill/>
        </p:spPr>
        <p:txBody>
          <a:bodyPr/>
          <a:lstStyle/>
          <a:p>
            <a:fld id="{C6B15414-B16B-43E0-BB7F-492EA8C7B3C7}" type="slidenum">
              <a:rPr lang="en-US" smtClean="0"/>
              <a:pPr/>
              <a:t>6</a:t>
            </a:fld>
            <a:endParaRPr lang="en-US" dirty="0" smtClean="0"/>
          </a:p>
        </p:txBody>
      </p:sp>
    </p:spTree>
    <p:extLst>
      <p:ext uri="{BB962C8B-B14F-4D97-AF65-F5344CB8AC3E}">
        <p14:creationId xmlns:p14="http://schemas.microsoft.com/office/powerpoint/2010/main" val="33620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xfrm>
            <a:off x="989013" y="493713"/>
            <a:ext cx="5416550" cy="4062412"/>
          </a:xfrm>
          <a:ln/>
        </p:spPr>
      </p:sp>
      <p:sp>
        <p:nvSpPr>
          <p:cNvPr id="95235" name="Notes Placeholder 2"/>
          <p:cNvSpPr>
            <a:spLocks noGrp="1"/>
          </p:cNvSpPr>
          <p:nvPr>
            <p:ph type="body" idx="1"/>
          </p:nvPr>
        </p:nvSpPr>
        <p:spPr>
          <a:noFill/>
          <a:ln/>
        </p:spPr>
        <p:txBody>
          <a:bodyPr/>
          <a:lstStyle/>
          <a:p>
            <a:r>
              <a:rPr lang="en-US" baseline="0" dirty="0" smtClean="0"/>
              <a:t>Simply stated, people often overestimate how many and the types of defects that they can find during software and systems testing.  The purpose of the software FMEA is to identify what the software should not do so that the requirements, design, code and test plans can reflect that.  It’s normal for human beings to define requirements in positive terms.  However, it is often the unexpected events that cause the software and hence the system to fail.  This analysis provides for a way to identify the negative requirements that will ultimately require fault handling. </a:t>
            </a:r>
            <a:endParaRPr lang="en-US" dirty="0" smtClean="0"/>
          </a:p>
        </p:txBody>
      </p:sp>
      <p:sp>
        <p:nvSpPr>
          <p:cNvPr id="95236" name="Header Placeholder 3"/>
          <p:cNvSpPr>
            <a:spLocks noGrp="1"/>
          </p:cNvSpPr>
          <p:nvPr>
            <p:ph type="hdr" sz="quarter"/>
          </p:nvPr>
        </p:nvSpPr>
        <p:spPr>
          <a:noFill/>
        </p:spPr>
        <p:txBody>
          <a:bodyPr/>
          <a:lstStyle/>
          <a:p>
            <a:r>
              <a:rPr lang="en-US" dirty="0" smtClean="0"/>
              <a:t>Software FMEA</a:t>
            </a:r>
          </a:p>
        </p:txBody>
      </p:sp>
      <p:sp>
        <p:nvSpPr>
          <p:cNvPr id="95237" name="Date Placeholder 4"/>
          <p:cNvSpPr>
            <a:spLocks noGrp="1"/>
          </p:cNvSpPr>
          <p:nvPr>
            <p:ph type="dt" sz="quarter" idx="1"/>
          </p:nvPr>
        </p:nvSpPr>
        <p:spPr>
          <a:noFill/>
        </p:spPr>
        <p:txBody>
          <a:bodyPr/>
          <a:lstStyle/>
          <a:p>
            <a:endParaRPr lang="en-US" dirty="0" smtClean="0"/>
          </a:p>
        </p:txBody>
      </p:sp>
      <p:sp>
        <p:nvSpPr>
          <p:cNvPr id="9523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5239" name="Slide Number Placeholder 6"/>
          <p:cNvSpPr>
            <a:spLocks noGrp="1"/>
          </p:cNvSpPr>
          <p:nvPr>
            <p:ph type="sldNum" sz="quarter" idx="5"/>
          </p:nvPr>
        </p:nvSpPr>
        <p:spPr>
          <a:noFill/>
        </p:spPr>
        <p:txBody>
          <a:bodyPr/>
          <a:lstStyle/>
          <a:p>
            <a:fld id="{73894FEE-771E-4B1F-81BE-D40B4FCAEF10}" type="slidenum">
              <a:rPr lang="en-US" smtClean="0"/>
              <a:pPr/>
              <a:t>7</a:t>
            </a:fld>
            <a:endParaRPr lang="en-US" dirty="0" smtClean="0"/>
          </a:p>
        </p:txBody>
      </p:sp>
    </p:spTree>
    <p:extLst>
      <p:ext uri="{BB962C8B-B14F-4D97-AF65-F5344CB8AC3E}">
        <p14:creationId xmlns:p14="http://schemas.microsoft.com/office/powerpoint/2010/main" val="4193789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SFMEA is a powerful analyses tool.</a:t>
            </a:r>
            <a:r>
              <a:rPr lang="en-US" baseline="0" dirty="0" smtClean="0"/>
              <a:t>  However, it is dependent on the people who perform the analyses.  If the analysts are willing and able to analyze what can go wrong with the software then the analysis can and will have a return on investment.  Since software is developed by humans and all software defects are inherently caused by human mistakes made in the requirements, design and code, it can often be difficult for analysts to be objective when performing the analysis.  In addition to the willingness and capability of the analysts, the software FMEA is also dependent on timeliness.   It’s also very important that the analysis focus on the riskiest failure modes and the riskiest parts of the software to ensure that it’s effective.  This class provides an entire section on how to plan the SFMEA to ensure that the above limitations don’t reduce the return on investment.</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8</a:t>
            </a:fld>
            <a:endParaRPr lang="en-US" dirty="0"/>
          </a:p>
        </p:txBody>
      </p:sp>
    </p:spTree>
    <p:extLst>
      <p:ext uri="{BB962C8B-B14F-4D97-AF65-F5344CB8AC3E}">
        <p14:creationId xmlns:p14="http://schemas.microsoft.com/office/powerpoint/2010/main" val="71947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Military Standard on FMEA doesn’t discuss software at all.  The military handbook discusses it but doesn’t provide the level of detail required to fully apply the FMEA to software.  The SAE guidebook provides more detail but still shows very few software specific failure modes and guidance.  This presentation is based on the latest guidebook published by Quanterion, Inc which is dedicated to providing the failure modes, viewpoints and examples needed for any organization developing or acquiring software systems to perform the software FMEA.</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9</a:t>
            </a:fld>
            <a:endParaRPr lang="en-US" dirty="0"/>
          </a:p>
        </p:txBody>
      </p:sp>
    </p:spTree>
    <p:extLst>
      <p:ext uri="{BB962C8B-B14F-4D97-AF65-F5344CB8AC3E}">
        <p14:creationId xmlns:p14="http://schemas.microsoft.com/office/powerpoint/2010/main" val="1619262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Prior to the publication of the </a:t>
            </a:r>
            <a:r>
              <a:rPr lang="en-US" sz="1200" dirty="0" smtClean="0"/>
              <a:t>“Effective Application of Software Failure Modes Effects Analysis”</a:t>
            </a:r>
            <a:r>
              <a:rPr lang="en-US" sz="1200" baseline="0" dirty="0" smtClean="0"/>
              <a:t> the available FMEA guidance did not provide sufficient guidance for the software failure mode taxonomies.  This presentation provides software failure modes and root causes that apply to virtually all software systems.  There are other taxonomies that apply to certain types of software systems.  For example, there is a taxonomy for computer reuse, object oriented software, e-commerce software, software vulnerabilities, and specific types of computers.  There is also a taxonomy written by this author concerning the hundreds of process related failure modes.  The reader is encouraged to explore other taxonomies as applicable.</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10</a:t>
            </a:fld>
            <a:endParaRPr lang="en-US" dirty="0"/>
          </a:p>
        </p:txBody>
      </p:sp>
    </p:spTree>
    <p:extLst>
      <p:ext uri="{BB962C8B-B14F-4D97-AF65-F5344CB8AC3E}">
        <p14:creationId xmlns:p14="http://schemas.microsoft.com/office/powerpoint/2010/main" val="20459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xfrm>
            <a:off x="989013" y="493713"/>
            <a:ext cx="5416550" cy="4062412"/>
          </a:xfrm>
          <a:ln/>
        </p:spPr>
      </p:sp>
      <p:sp>
        <p:nvSpPr>
          <p:cNvPr id="97283" name="Notes Placeholder 2"/>
          <p:cNvSpPr>
            <a:spLocks noGrp="1"/>
          </p:cNvSpPr>
          <p:nvPr>
            <p:ph type="body" idx="1"/>
          </p:nvPr>
        </p:nvSpPr>
        <p:spPr>
          <a:noFill/>
          <a:ln/>
        </p:spPr>
        <p:txBody>
          <a:bodyPr/>
          <a:lstStyle/>
          <a:p>
            <a:r>
              <a:rPr lang="en-US" dirty="0" smtClean="0"/>
              <a:t>The process for doin</a:t>
            </a:r>
            <a:r>
              <a:rPr lang="en-US" baseline="0" dirty="0" smtClean="0"/>
              <a:t>g a software FMEA is similar to that for doing a hardware FMEA.  The first step is to prepare the software FMEA.  This step includes defining the scope of the software FMEA, identifying the resources needed for the software FMEA and tailoring the software FMEA to the particular needs of the project.  The next major step is to analyze the failure modes and root causes.  This is where most of the effort is typically spent.  Once the applicable software specific failure modes and root causes are identified the consequences on the software and the system are identified for each failure mode and root cause.  Then, the corrective action and mitigation for the failure modes is identified.  The risk probability number is updated if the failure mode is mitigated or is planned to be mitigated.  Finally the failure modes and root causes that are equivalent (if any) are consolidated and a list of Critical Items is generated.  At this point the software and hardware critical items are typically merged so as to produce a system wide list of critical items.  The CIL will often be used to enrich the existing test plans as well as the existing requirements and design documents.  The CIL can also be used as inputs for any existing health monitoring software. </a:t>
            </a:r>
            <a:endParaRPr lang="en-US" dirty="0" smtClean="0"/>
          </a:p>
        </p:txBody>
      </p:sp>
      <p:sp>
        <p:nvSpPr>
          <p:cNvPr id="97284" name="Header Placeholder 3"/>
          <p:cNvSpPr>
            <a:spLocks noGrp="1"/>
          </p:cNvSpPr>
          <p:nvPr>
            <p:ph type="hdr" sz="quarter"/>
          </p:nvPr>
        </p:nvSpPr>
        <p:spPr>
          <a:noFill/>
        </p:spPr>
        <p:txBody>
          <a:bodyPr/>
          <a:lstStyle/>
          <a:p>
            <a:r>
              <a:rPr lang="en-US" dirty="0" smtClean="0"/>
              <a:t>Software FMEA</a:t>
            </a:r>
          </a:p>
        </p:txBody>
      </p:sp>
      <p:sp>
        <p:nvSpPr>
          <p:cNvPr id="97285" name="Date Placeholder 4"/>
          <p:cNvSpPr>
            <a:spLocks noGrp="1"/>
          </p:cNvSpPr>
          <p:nvPr>
            <p:ph type="dt" sz="quarter" idx="1"/>
          </p:nvPr>
        </p:nvSpPr>
        <p:spPr>
          <a:noFill/>
        </p:spPr>
        <p:txBody>
          <a:bodyPr/>
          <a:lstStyle/>
          <a:p>
            <a:endParaRPr lang="en-US" dirty="0" smtClean="0"/>
          </a:p>
        </p:txBody>
      </p:sp>
      <p:sp>
        <p:nvSpPr>
          <p:cNvPr id="97286"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7287" name="Slide Number Placeholder 6"/>
          <p:cNvSpPr>
            <a:spLocks noGrp="1"/>
          </p:cNvSpPr>
          <p:nvPr>
            <p:ph type="sldNum" sz="quarter" idx="5"/>
          </p:nvPr>
        </p:nvSpPr>
        <p:spPr>
          <a:noFill/>
        </p:spPr>
        <p:txBody>
          <a:bodyPr/>
          <a:lstStyle/>
          <a:p>
            <a:fld id="{75397C9D-4B1E-4607-B4D9-68D307C5F302}" type="slidenum">
              <a:rPr lang="en-US" smtClean="0"/>
              <a:pPr/>
              <a:t>11</a:t>
            </a:fld>
            <a:endParaRPr lang="en-US" dirty="0" smtClean="0"/>
          </a:p>
        </p:txBody>
      </p:sp>
    </p:spTree>
    <p:extLst>
      <p:ext uri="{BB962C8B-B14F-4D97-AF65-F5344CB8AC3E}">
        <p14:creationId xmlns:p14="http://schemas.microsoft.com/office/powerpoint/2010/main" val="2082081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have performed a FMEA on hardware it’s useful to know the</a:t>
            </a:r>
            <a:r>
              <a:rPr lang="en-US" baseline="0" dirty="0" smtClean="0"/>
              <a:t> differences when applying it to software. </a:t>
            </a:r>
            <a:r>
              <a:rPr lang="en-US" sz="1200" dirty="0" smtClean="0"/>
              <a:t>Software is not going to fail due to wear out, temperature, vibration, etc.  It will fail due to faulty requirements, faulty interfaces, faulty communications, faulty timing, faulty sequences, faulty logic, faulty data definition, faulty memory allocation, faulty installation, security vulnerabilities, etc.</a:t>
            </a:r>
            <a:r>
              <a:rPr lang="en-US" sz="1200" baseline="0" dirty="0" smtClean="0"/>
              <a:t> The software will have different viewpoints</a:t>
            </a:r>
            <a:r>
              <a:rPr lang="en-US" baseline="0" dirty="0" smtClean="0"/>
              <a:t>.  A viewpoint is how you look at the software. There are failure modes that apply to any software system which will be unique from hardware failure modes.  A software FMEA can analyze how the software reacts or should react to a hardware failure.  However, keep in mind that the software FMEA doesn’t analyze the hardware failure, but rather how the software handles that failure.   The similarities in the analyses are that the same template that’s used for a hardware FMEA can be used for software FMEA with a few minor alterations.  On the next slide you will learn more about the viewpoints and failure modes…</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12</a:t>
            </a:fld>
            <a:endParaRPr lang="en-US" dirty="0"/>
          </a:p>
        </p:txBody>
      </p:sp>
    </p:spTree>
    <p:extLst>
      <p:ext uri="{BB962C8B-B14F-4D97-AF65-F5344CB8AC3E}">
        <p14:creationId xmlns:p14="http://schemas.microsoft.com/office/powerpoint/2010/main" val="3623035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xfrm>
            <a:off x="989013" y="493713"/>
            <a:ext cx="5416550" cy="4062412"/>
          </a:xfrm>
          <a:ln/>
        </p:spPr>
      </p:sp>
      <p:sp>
        <p:nvSpPr>
          <p:cNvPr id="98307" name="Notes Placeholder 2"/>
          <p:cNvSpPr>
            <a:spLocks noGrp="1"/>
          </p:cNvSpPr>
          <p:nvPr>
            <p:ph type="body" idx="1"/>
          </p:nvPr>
        </p:nvSpPr>
        <p:spPr>
          <a:noFill/>
          <a:ln/>
        </p:spPr>
        <p:txBody>
          <a:bodyPr/>
          <a:lstStyle/>
          <a:p>
            <a:r>
              <a:rPr lang="en-US" dirty="0" smtClean="0"/>
              <a:t>Now that you understand the</a:t>
            </a:r>
            <a:r>
              <a:rPr lang="en-US" baseline="0" dirty="0" smtClean="0"/>
              <a:t> benefits and limitations of the software FMEA and how it’s similar and different than the hardware FMEA, let’s get started with the first step of software FMEA. This step is very important for a successful software FMEA.  First, we will identify the scope of the SFMEA so that only the riskiest parts and viewpoints of the software are analyzed. Then we will determine the artifacts and people needed for the particular scope that was previously identified.  Different viewpoints require different expertise.  Different parts of the software also require different expertise.  Once the scope and resources is identified it may/will be necessary to identify a selection scheme for the analysis.  For example, you select only 5% of the code for a detailed SFMEA.  The last step of the preparation is to tailor the SFMEA to the particular needs of your system and goals.  The ground rules are determined to ensure that the analysis doesn’t wonder off from the desired path.  The severity and likelihood ratings are defined up front -with respect to your software product - to ensure that they are used appropriately and consistently once the analysis started. The last preparation step is to identify the SFMEA template and tool.  </a:t>
            </a:r>
            <a:endParaRPr lang="en-US" dirty="0" smtClean="0"/>
          </a:p>
        </p:txBody>
      </p:sp>
      <p:sp>
        <p:nvSpPr>
          <p:cNvPr id="98308" name="Header Placeholder 3"/>
          <p:cNvSpPr>
            <a:spLocks noGrp="1"/>
          </p:cNvSpPr>
          <p:nvPr>
            <p:ph type="hdr" sz="quarter"/>
          </p:nvPr>
        </p:nvSpPr>
        <p:spPr>
          <a:noFill/>
        </p:spPr>
        <p:txBody>
          <a:bodyPr/>
          <a:lstStyle/>
          <a:p>
            <a:r>
              <a:rPr lang="en-US" dirty="0" smtClean="0"/>
              <a:t>Software FMEA</a:t>
            </a:r>
          </a:p>
        </p:txBody>
      </p:sp>
      <p:sp>
        <p:nvSpPr>
          <p:cNvPr id="98309" name="Date Placeholder 4"/>
          <p:cNvSpPr>
            <a:spLocks noGrp="1"/>
          </p:cNvSpPr>
          <p:nvPr>
            <p:ph type="dt" sz="quarter" idx="1"/>
          </p:nvPr>
        </p:nvSpPr>
        <p:spPr>
          <a:noFill/>
        </p:spPr>
        <p:txBody>
          <a:bodyPr/>
          <a:lstStyle/>
          <a:p>
            <a:endParaRPr lang="en-US" dirty="0" smtClean="0"/>
          </a:p>
        </p:txBody>
      </p:sp>
      <p:sp>
        <p:nvSpPr>
          <p:cNvPr id="98310"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98311" name="Slide Number Placeholder 6"/>
          <p:cNvSpPr>
            <a:spLocks noGrp="1"/>
          </p:cNvSpPr>
          <p:nvPr>
            <p:ph type="sldNum" sz="quarter" idx="5"/>
          </p:nvPr>
        </p:nvSpPr>
        <p:spPr>
          <a:noFill/>
        </p:spPr>
        <p:txBody>
          <a:bodyPr/>
          <a:lstStyle/>
          <a:p>
            <a:fld id="{F5B958E3-3A73-4875-ADFE-9403E1707189}" type="slidenum">
              <a:rPr lang="en-US" smtClean="0"/>
              <a:pPr/>
              <a:t>13</a:t>
            </a:fld>
            <a:endParaRPr lang="en-US" dirty="0" smtClean="0"/>
          </a:p>
        </p:txBody>
      </p:sp>
    </p:spTree>
    <p:extLst>
      <p:ext uri="{BB962C8B-B14F-4D97-AF65-F5344CB8AC3E}">
        <p14:creationId xmlns:p14="http://schemas.microsoft.com/office/powerpoint/2010/main" val="1658880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are the 8 viewpoints and when they are most</a:t>
            </a:r>
            <a:r>
              <a:rPr lang="en-US" baseline="0" dirty="0" smtClean="0"/>
              <a:t> applicable.  Any time you have a brand new software system, the functional viewpoint will be applicable.  The only time the functional viewpoint is not applicable is when the code is being changed but the requirements are not changing.  An example of this would be if you have product that runs on a particular Operating System and you rewrite the code for the product to work exactly the same but on another Operating System.  The code will change but not the software requirements.  The interface software FMEA is applicable almost all of the time as it focuses on the interfaces between 2 or more software LRUs or a software LRU and a hardware LRU.  The only time an interface software FMEA is less applicable is if the software is very small and it has simple interfaces to very stable hardware.  The detailed software FMEA is always applicable.  If your system is mathematically intensive this viewpoint may be the most productive at identifying failure modes.  However, as we will see later the detailed viewpoint can also be the most time consuming so some sampling is almost always required.  The maintenance software FMEA is applicable only when the software is in a maintenance phase of it’s life or if the software is so fragile that any time a change is made to it, a new defect is likely to be introduced.  The usability FMEA is most applicable if the user can contribute to a system failure because of the software.   The serviceability FMEA applies mostly to software applications that are mass deployed or software applications that are deployed to difficult to reach geography.  If the installation package doesn’t work that could mean that many end users, or one difficult to reach end user can’t operate the software.  Vulnerability is applicable to most system.  It is recommended that your organization seek an expert to help with vulnerability.  This presentation provides for failure modes that affect both reliability and vulnerability.  However, this presentation does not cover failure modes related to encryption, etc.  The production viewpoint is applicable when there are chronic problems with multiple software releases.  The goal is to find out what the organization is not developing reliable software as opposed to identifying specific requirements, design, code, install scripts, user manuals, user instructions that can cause the system to fail.</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16</a:t>
            </a:fld>
            <a:endParaRPr lang="en-US" dirty="0"/>
          </a:p>
        </p:txBody>
      </p:sp>
    </p:spTree>
    <p:extLst>
      <p:ext uri="{BB962C8B-B14F-4D97-AF65-F5344CB8AC3E}">
        <p14:creationId xmlns:p14="http://schemas.microsoft.com/office/powerpoint/2010/main" val="10412182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this point you know which</a:t>
            </a:r>
            <a:r>
              <a:rPr lang="en-US" baseline="0" dirty="0" smtClean="0"/>
              <a:t> viewpoints are applicable, when you can do the SFMEA for that viewpoint and the artifacts you need to collect.  In this step we will identify the failure modes usually associated with each viewpoint.  The goal of this step is to identify the viewpoints that map to our experience with the most likely failure modes for this type of system or software LRU. On the left column is a list of some common software failure modes.  The last 8 columns illustrate which viewpoints each of the failure modes is usually visible. For example if there is a software LRU that is doing GPS, we might want to consider the functional, detailed, maintenance and vulnerability SFMEAs as these pertain to mathematically intensive systems.  Another example, you know that in the past this type of software system had problems with synchronization.  You might want to consider the interface and vulnerability viewpoints.  </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17</a:t>
            </a:fld>
            <a:endParaRPr lang="en-US" dirty="0"/>
          </a:p>
        </p:txBody>
      </p:sp>
    </p:spTree>
    <p:extLst>
      <p:ext uri="{BB962C8B-B14F-4D97-AF65-F5344CB8AC3E}">
        <p14:creationId xmlns:p14="http://schemas.microsoft.com/office/powerpoint/2010/main" val="3856327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above shows</a:t>
            </a:r>
            <a:r>
              <a:rPr lang="en-US" baseline="0" dirty="0" smtClean="0"/>
              <a:t> some more failure modes.  Memory management failure modes are typically the most visible when looking at the detailed design or code.  Memory failure modes can also result in vulnerability issues.  If there have been a considerable number of system failures caused by human being who are attempting to use the software without malice then the usability FMEA may be applicable while the vulnerability FMEA is applicable for malicious users.  The next page has even more failure modes…</a:t>
            </a:r>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18</a:t>
            </a:fld>
            <a:endParaRPr lang="en-US" dirty="0"/>
          </a:p>
        </p:txBody>
      </p:sp>
    </p:spTree>
    <p:extLst>
      <p:ext uri="{BB962C8B-B14F-4D97-AF65-F5344CB8AC3E}">
        <p14:creationId xmlns:p14="http://schemas.microsoft.com/office/powerpoint/2010/main" val="434507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that you</a:t>
            </a:r>
            <a:r>
              <a:rPr lang="en-US" baseline="0" dirty="0" smtClean="0"/>
              <a:t> have identified the viewpoints that apply for the particular phase of development that your software is in, you will need to know the artifacts required for the analysis.  These artifacts should be requested from the appropriate subject matter experts well in advance to ensure that the software FMEA can be initiated in a timely manner.  Either the SRS or SyRS is required for the functional FMEA.  The SRS is preferred to the SyRs. The interface viewpoint require an interface design which is usually either a table of interfaces or a diagram. The detailed or vulnerability viewpoint requires either a detailed design or code.  Examples of detailed design are state diagrams, timing diagrams, algorithms, user interface diagrams, data flow diagrams, transaction flow diagrams, etc. For the maintenance SFMEA you will need to have access to all of the corrective action reports for the software.  If you are performing a usability FMEA you will need to collect the use cases, user’s manuals, and any user design documents.  You will need to collect the install scripts, readme files, release notes and services manuals when performing a serviceability FMEA.  You will need to collect the software schedules for each individual as well as overall schedules, any software process documents, the software development and all development artifacts shown above for the production SFMEA.</a:t>
            </a:r>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19</a:t>
            </a:fld>
            <a:endParaRPr lang="en-US" dirty="0"/>
          </a:p>
        </p:txBody>
      </p:sp>
    </p:spTree>
    <p:extLst>
      <p:ext uri="{BB962C8B-B14F-4D97-AF65-F5344CB8AC3E}">
        <p14:creationId xmlns:p14="http://schemas.microsoft.com/office/powerpoint/2010/main" val="1103116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that you</a:t>
            </a:r>
            <a:r>
              <a:rPr lang="en-US" baseline="0" dirty="0" smtClean="0"/>
              <a:t> have identified the viewpoints that apply for the particular phase of development that your software is in, you will need to know the artifacts required for the analysis.  These artifacts should be requested from the appropriate subject matter experts well in advance to ensure that the software FMEA can be initiated in a timely manner.  Either the SRS or SyRS is required for the functional FMEA.  The SRS is preferred to the SyRs. The interface viewpoint require an interface design which is usually either a table of interfaces or a diagram. The detailed or vulnerability viewpoint requires either a detailed design or code.  Examples of detailed design are state diagrams, timing diagrams, algorithms, user interface diagrams, data flow diagrams, transaction flow diagrams, etc. For the maintenance SFMEA you will need to have access to all of the corrective action reports for the software.  If you are performing a usability FMEA you will need to collect the use cases, user’s manuals, and any user design documents.  You will need to collect the install scripts, readme files, release notes and services manuals when performing a serviceability FMEA.  You will need to collect the software schedules for each individual as well as overall schedules, any software process documents, the software development and all development artifacts shown above for the production SFMEA.</a:t>
            </a:r>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20</a:t>
            </a:fld>
            <a:endParaRPr lang="en-US" dirty="0"/>
          </a:p>
        </p:txBody>
      </p:sp>
    </p:spTree>
    <p:extLst>
      <p:ext uri="{BB962C8B-B14F-4D97-AF65-F5344CB8AC3E}">
        <p14:creationId xmlns:p14="http://schemas.microsoft.com/office/powerpoint/2010/main" val="3911916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By the time you get to this step in the software FMEA it may be evident</a:t>
            </a:r>
            <a:r>
              <a:rPr lang="en-US" baseline="0" dirty="0" smtClean="0"/>
              <a:t> that the scope originally identified in section 2.2.1 and 2.2.2 isn’t feasible with the current resources.  If that’s the case, this page can be used to prune the scope in such a way as to keep the focus on the high risk areas and failure modes.  If the functional software FMEA is selected, the number of requirements identified or the number of failure modes identified for each requirement may need trimming.  The interface software FMEA scope can be trimmed similarly by either focusing on some interfaces heavily (with many different failure modes) or focusing on more interfaces with fewer failure modes.  The detailed software FMEA almost always requires some type of sampling as analyzing every line of code could be exhaustively expensive.  It’s useful to identify the part of the code most associated with the most serious of defects.  The vulnerability software FMEA can be trimmed by focusing on the vulnerabilities that rank the highest on </a:t>
            </a:r>
            <a:r>
              <a:rPr lang="en-US" baseline="0" dirty="0" err="1" smtClean="0"/>
              <a:t>Mitre’s</a:t>
            </a:r>
            <a:r>
              <a:rPr lang="en-US" baseline="0" dirty="0" smtClean="0"/>
              <a:t> Common Weakness Entry AND can be identified via analysis of the detailed design and code.  There are many vulnerabilities that cannot be identified via analysis so care should be taken to select those that can.  With the maintenance software FMEA, it’s unfortunately not recommended to trim any of the corrective actions.  The reason is that even the most trivial corrective action can have huge consequences.  The usability software FMEA can be pruned by focusing only on the user actions and interactions that are most associated with mission or safety critical functions.</a:t>
            </a:r>
            <a:endParaRPr lang="en-US" dirty="0"/>
          </a:p>
        </p:txBody>
      </p:sp>
      <p:sp>
        <p:nvSpPr>
          <p:cNvPr id="4" name="Header Placeholder 3"/>
          <p:cNvSpPr>
            <a:spLocks noGrp="1"/>
          </p:cNvSpPr>
          <p:nvPr>
            <p:ph type="hdr" sz="quarter" idx="10"/>
          </p:nvPr>
        </p:nvSpPr>
        <p:spPr/>
        <p:txBody>
          <a:bodyPr/>
          <a:lstStyle/>
          <a:p>
            <a:pPr>
              <a:defRPr/>
            </a:pPr>
            <a:r>
              <a:rPr lang="en-US"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smtClean="0"/>
              <a:t>Copyright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21</a:t>
            </a:fld>
            <a:endParaRPr lang="en-US" dirty="0"/>
          </a:p>
        </p:txBody>
      </p:sp>
    </p:spTree>
    <p:extLst>
      <p:ext uri="{BB962C8B-B14F-4D97-AF65-F5344CB8AC3E}">
        <p14:creationId xmlns:p14="http://schemas.microsoft.com/office/powerpoint/2010/main" val="1099321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mj-lt"/>
              <a:buNone/>
            </a:pPr>
            <a:r>
              <a:rPr lang="en-US" sz="1200" dirty="0" smtClean="0"/>
              <a:t>The ground rules shown here should be tailored to the particular software LRU or system under analysis.  In some cases, human</a:t>
            </a:r>
            <a:r>
              <a:rPr lang="en-US" sz="1200" baseline="0" dirty="0" smtClean="0"/>
              <a:t> error needs to be part of the analysis while in other cases it may not be.  If the interface software FMEA is in scope, you may need to define how many interfaces to analyze at once.  You may analyze several in chain at the same time or you may analyze the interface between 2 system components and constrain the analysis to those 2 components.  You also need to decide whether to introduce the availability of the network as part of your analysis.  Do you assume it’s always available or do you assume that maybe it’s not? The same thing applies to speed and throughput.  You need to decide up front whether to assume typical, maximum or minimum speed and throughput and then you need to be consistent in applying that ground rule while analyzing every failure mode.</a:t>
            </a:r>
            <a:endParaRPr lang="en-US" sz="1200" dirty="0" smtClean="0"/>
          </a:p>
          <a:p>
            <a:pPr marL="342900" lvl="0" indent="-342900">
              <a:buFont typeface="+mj-lt"/>
              <a:buAutoNum type="arabicPeriod"/>
            </a:pPr>
            <a:r>
              <a:rPr lang="en-US" sz="1200" dirty="0" smtClean="0"/>
              <a:t>Review the ground rules</a:t>
            </a:r>
          </a:p>
          <a:p>
            <a:pPr marL="342900" lvl="0" indent="-342900">
              <a:buFont typeface="+mj-lt"/>
              <a:buAutoNum type="arabicPeriod"/>
            </a:pPr>
            <a:r>
              <a:rPr lang="en-US" sz="1200" dirty="0" smtClean="0"/>
              <a:t>For each item in table on next slide, identify and agree on the ground rules that will be taken when doing this SFMEA</a:t>
            </a:r>
          </a:p>
          <a:p>
            <a:pPr marL="342900" lvl="0" indent="-342900">
              <a:buFont typeface="+mj-lt"/>
              <a:buAutoNum type="arabicPeriod"/>
            </a:pPr>
            <a:r>
              <a:rPr lang="en-US" sz="1200" dirty="0" smtClean="0"/>
              <a:t>Decide whether to assess the effects, severity and likelihood based on average or worst case.  Consistency is important in ranking the likelihood and severity. </a:t>
            </a:r>
          </a:p>
          <a:p>
            <a:pPr marL="342900" lvl="0" indent="-342900">
              <a:buFont typeface="+mj-lt"/>
              <a:buAutoNum type="arabicPeriod"/>
            </a:pPr>
            <a:r>
              <a:rPr lang="en-US" sz="1200" dirty="0" smtClean="0"/>
              <a:t>Document the ground rules for the SFMEA.  </a:t>
            </a:r>
          </a:p>
          <a:p>
            <a:pPr marL="342900" lvl="0" indent="-342900">
              <a:buFont typeface="+mj-lt"/>
              <a:buAutoNum type="arabicPeriod"/>
            </a:pPr>
            <a:r>
              <a:rPr lang="en-US" sz="1200" dirty="0" smtClean="0"/>
              <a:t>Make sure that all SFMEA participants are aware of the ground rules. During the SFMEA process, the ground rules should displayed in a visible place such as a white board, etc.</a:t>
            </a:r>
          </a:p>
          <a:p>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22</a:t>
            </a:fld>
            <a:endParaRPr lang="en-US" dirty="0"/>
          </a:p>
        </p:txBody>
      </p:sp>
    </p:spTree>
    <p:extLst>
      <p:ext uri="{BB962C8B-B14F-4D97-AF65-F5344CB8AC3E}">
        <p14:creationId xmlns:p14="http://schemas.microsoft.com/office/powerpoint/2010/main" val="3475105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xfrm>
            <a:off x="989013" y="493713"/>
            <a:ext cx="5416550" cy="4062412"/>
          </a:xfrm>
          <a:ln/>
        </p:spPr>
      </p:sp>
      <p:sp>
        <p:nvSpPr>
          <p:cNvPr id="105475" name="Notes Placeholder 2"/>
          <p:cNvSpPr>
            <a:spLocks noGrp="1"/>
          </p:cNvSpPr>
          <p:nvPr>
            <p:ph type="body" idx="1"/>
          </p:nvPr>
        </p:nvSpPr>
        <p:spPr>
          <a:noFill/>
          <a:ln/>
        </p:spPr>
        <p:txBody>
          <a:bodyPr/>
          <a:lstStyle/>
          <a:p>
            <a:r>
              <a:rPr lang="en-US" dirty="0" smtClean="0"/>
              <a:t>This looks like an easy activity but it’s often not.  Defining</a:t>
            </a:r>
            <a:r>
              <a:rPr lang="en-US" baseline="0" dirty="0" smtClean="0"/>
              <a:t> the categories for severity and likelihood are not difficult.  The difficult part is defining them as per your system.  Exactly what is catastrophic – for this system?  How does one discern between reasonably probable and possible?  The more concrete the definitions are, the easier it will be to perform the analysis.  On the other hand, if these definitions are ambiguous it can negatively affect the analysis as well as the results.  For example, when the definition of severity is ambiguous it’s not uncommon for all failure modes to be identified as critical or for none of them to be identified as critical.</a:t>
            </a:r>
            <a:endParaRPr lang="en-US" dirty="0" smtClean="0"/>
          </a:p>
        </p:txBody>
      </p:sp>
      <p:sp>
        <p:nvSpPr>
          <p:cNvPr id="105476" name="Header Placeholder 3"/>
          <p:cNvSpPr>
            <a:spLocks noGrp="1"/>
          </p:cNvSpPr>
          <p:nvPr>
            <p:ph type="hdr" sz="quarter"/>
          </p:nvPr>
        </p:nvSpPr>
        <p:spPr>
          <a:noFill/>
        </p:spPr>
        <p:txBody>
          <a:bodyPr/>
          <a:lstStyle/>
          <a:p>
            <a:r>
              <a:rPr lang="en-US" dirty="0" smtClean="0"/>
              <a:t>Software FMEA</a:t>
            </a:r>
          </a:p>
        </p:txBody>
      </p:sp>
      <p:sp>
        <p:nvSpPr>
          <p:cNvPr id="105477" name="Date Placeholder 4"/>
          <p:cNvSpPr>
            <a:spLocks noGrp="1"/>
          </p:cNvSpPr>
          <p:nvPr>
            <p:ph type="dt" sz="quarter" idx="1"/>
          </p:nvPr>
        </p:nvSpPr>
        <p:spPr>
          <a:noFill/>
        </p:spPr>
        <p:txBody>
          <a:bodyPr/>
          <a:lstStyle/>
          <a:p>
            <a:endParaRPr lang="en-US" dirty="0" smtClean="0"/>
          </a:p>
        </p:txBody>
      </p:sp>
      <p:sp>
        <p:nvSpPr>
          <p:cNvPr id="10547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05479" name="Slide Number Placeholder 6"/>
          <p:cNvSpPr>
            <a:spLocks noGrp="1"/>
          </p:cNvSpPr>
          <p:nvPr>
            <p:ph type="sldNum" sz="quarter" idx="5"/>
          </p:nvPr>
        </p:nvSpPr>
        <p:spPr>
          <a:noFill/>
        </p:spPr>
        <p:txBody>
          <a:bodyPr/>
          <a:lstStyle/>
          <a:p>
            <a:fld id="{C83D0F14-A60A-4DA1-80BB-DC68D69CC0D6}" type="slidenum">
              <a:rPr lang="en-US" smtClean="0"/>
              <a:pPr/>
              <a:t>23</a:t>
            </a:fld>
            <a:endParaRPr lang="en-US" dirty="0" smtClean="0"/>
          </a:p>
        </p:txBody>
      </p:sp>
    </p:spTree>
    <p:extLst>
      <p:ext uri="{BB962C8B-B14F-4D97-AF65-F5344CB8AC3E}">
        <p14:creationId xmlns:p14="http://schemas.microsoft.com/office/powerpoint/2010/main" val="1631887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an FDSC for a thermostat.</a:t>
            </a:r>
            <a:r>
              <a:rPr lang="en-US" baseline="0" dirty="0" smtClean="0"/>
              <a:t> </a:t>
            </a:r>
            <a:r>
              <a:rPr lang="en-US" dirty="0" smtClean="0"/>
              <a:t>Notice that there are concrete, application specific definitions for each severity level.</a:t>
            </a:r>
            <a:r>
              <a:rPr lang="en-US" baseline="0" dirty="0" smtClean="0"/>
              <a:t> </a:t>
            </a:r>
            <a:r>
              <a:rPr lang="en-US" dirty="0" smtClean="0"/>
              <a:t>The definitions should focus on the impact to the system as opposed to the type of defect.</a:t>
            </a:r>
            <a:r>
              <a:rPr lang="en-US" baseline="0" dirty="0" smtClean="0"/>
              <a:t>  For example, a </a:t>
            </a:r>
            <a:r>
              <a:rPr lang="en-US" dirty="0" smtClean="0"/>
              <a:t>crash does not necessarily have the same severity for every system.  For some systems (like</a:t>
            </a:r>
            <a:r>
              <a:rPr lang="en-US" baseline="0" dirty="0" smtClean="0"/>
              <a:t> a 911 system) a crash may have catastrophic effects while for others (social media) the effect is simply an annoyance.  </a:t>
            </a:r>
            <a:endParaRPr lang="en-US" dirty="0" smtClean="0"/>
          </a:p>
          <a:p>
            <a:endParaRPr lang="en-US" dirty="0"/>
          </a:p>
        </p:txBody>
      </p:sp>
      <p:sp>
        <p:nvSpPr>
          <p:cNvPr id="4" name="Header Placeholder 3"/>
          <p:cNvSpPr>
            <a:spLocks noGrp="1"/>
          </p:cNvSpPr>
          <p:nvPr>
            <p:ph type="hdr" sz="quarter" idx="10"/>
          </p:nvPr>
        </p:nvSpPr>
        <p:spPr/>
        <p:txBody>
          <a:bodyPr/>
          <a:lstStyle/>
          <a:p>
            <a:pPr>
              <a:defRPr/>
            </a:pPr>
            <a:r>
              <a:rPr lang="en-US"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smtClean="0"/>
              <a:t>Copyright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24</a:t>
            </a:fld>
            <a:endParaRPr lang="en-US" dirty="0"/>
          </a:p>
        </p:txBody>
      </p:sp>
    </p:spTree>
    <p:extLst>
      <p:ext uri="{BB962C8B-B14F-4D97-AF65-F5344CB8AC3E}">
        <p14:creationId xmlns:p14="http://schemas.microsoft.com/office/powerpoint/2010/main" val="1428126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the end of the software FMEA analysis, the highest ranked failure modes and corrective actions will</a:t>
            </a:r>
            <a:r>
              <a:rPr lang="en-US" baseline="0" dirty="0" smtClean="0"/>
              <a:t> be reviewed to determine which corrective actions are warranted.  Each failure mode/root cause will have an associated Risk Product Number that is simply the severity that you defined multiplied by the likelihood that you defined.  As part of the preparation phase, you should determine the shading in the risk matrix.  Failure modes associated with c</a:t>
            </a:r>
            <a:r>
              <a:rPr lang="en-US" dirty="0" smtClean="0"/>
              <a:t>ells shaded red are must mitigate, cells shaded orange or mitigate, yellow cells are mitigated when time allows and green aren’t mitigated.</a:t>
            </a:r>
            <a:r>
              <a:rPr lang="en-US" baseline="0" dirty="0" smtClean="0"/>
              <a:t>  The above is an example.  The output of this step is to identify the thresholds for mitigation that apply to your product and program.  These may already be defined for the hardware FMEA.</a:t>
            </a:r>
            <a:endParaRPr lang="en-US" dirty="0" smtClean="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25</a:t>
            </a:fld>
            <a:endParaRPr lang="en-US" dirty="0"/>
          </a:p>
        </p:txBody>
      </p:sp>
    </p:spTree>
    <p:extLst>
      <p:ext uri="{BB962C8B-B14F-4D97-AF65-F5344CB8AC3E}">
        <p14:creationId xmlns:p14="http://schemas.microsoft.com/office/powerpoint/2010/main" val="23539250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the end of the software FMEA analysis, the highest ranked failure modes and corrective actions will</a:t>
            </a:r>
            <a:r>
              <a:rPr lang="en-US" baseline="0" dirty="0" smtClean="0"/>
              <a:t> be reviewed to determine which corrective actions are warranted.  Each failure mode/root cause will have an associated Risk Product Number that is simply the severity that you defined multiplied by the likelihood that you defined.  As part of the preparation phase, you should determine the shading in the risk matrix.  Failure modes associated with c</a:t>
            </a:r>
            <a:r>
              <a:rPr lang="en-US" dirty="0" smtClean="0"/>
              <a:t>ells shaded red are must mitigate, cells shaded orange or mitigate, yellow cells are mitigated when time allows and green aren’t mitigated.</a:t>
            </a:r>
            <a:r>
              <a:rPr lang="en-US" baseline="0" dirty="0" smtClean="0"/>
              <a:t>  The above is an example.  The output of this step is to identify the thresholds for mitigation that apply to your product and program.  These may already be defined for the hardware FMEA.</a:t>
            </a:r>
            <a:endParaRPr lang="en-US" dirty="0" smtClean="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26</a:t>
            </a:fld>
            <a:endParaRPr lang="en-US" dirty="0"/>
          </a:p>
        </p:txBody>
      </p:sp>
    </p:spTree>
    <p:extLst>
      <p:ext uri="{BB962C8B-B14F-4D97-AF65-F5344CB8AC3E}">
        <p14:creationId xmlns:p14="http://schemas.microsoft.com/office/powerpoint/2010/main" val="2487693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xfrm>
            <a:off x="989013" y="493713"/>
            <a:ext cx="5416550" cy="4062412"/>
          </a:xfrm>
          <a:ln/>
        </p:spPr>
      </p:sp>
      <p:sp>
        <p:nvSpPr>
          <p:cNvPr id="107523" name="Notes Placeholder 2"/>
          <p:cNvSpPr>
            <a:spLocks noGrp="1"/>
          </p:cNvSpPr>
          <p:nvPr>
            <p:ph type="body" idx="1"/>
          </p:nvPr>
        </p:nvSpPr>
        <p:spPr>
          <a:noFill/>
          <a:ln/>
        </p:spPr>
        <p:txBody>
          <a:bodyPr/>
          <a:lstStyle/>
          <a:p>
            <a:r>
              <a:rPr lang="en-US" dirty="0" smtClean="0"/>
              <a:t>There</a:t>
            </a:r>
            <a:r>
              <a:rPr lang="en-US" baseline="0" dirty="0" smtClean="0"/>
              <a:t> are 8 possible viewpoints for analyzing failure modes.  This presentation will cover the first two on the list.  The detailed design and maintenance FMEAs are covered in module 2. The usability, serviceability and vulnerability FMEAs are covered in module 3.  The production FMEA is covered in module 4.  If you have purchased modules 2,3 or 4 you can proceed to those modules once module 1 is completed.</a:t>
            </a:r>
            <a:endParaRPr lang="en-US" dirty="0" smtClean="0"/>
          </a:p>
        </p:txBody>
      </p:sp>
      <p:sp>
        <p:nvSpPr>
          <p:cNvPr id="107524" name="Header Placeholder 3"/>
          <p:cNvSpPr>
            <a:spLocks noGrp="1"/>
          </p:cNvSpPr>
          <p:nvPr>
            <p:ph type="hdr" sz="quarter"/>
          </p:nvPr>
        </p:nvSpPr>
        <p:spPr>
          <a:noFill/>
        </p:spPr>
        <p:txBody>
          <a:bodyPr/>
          <a:lstStyle/>
          <a:p>
            <a:r>
              <a:rPr lang="en-US" dirty="0" smtClean="0"/>
              <a:t>Software FMEA</a:t>
            </a:r>
          </a:p>
        </p:txBody>
      </p:sp>
      <p:sp>
        <p:nvSpPr>
          <p:cNvPr id="107525" name="Date Placeholder 4"/>
          <p:cNvSpPr>
            <a:spLocks noGrp="1"/>
          </p:cNvSpPr>
          <p:nvPr>
            <p:ph type="dt" sz="quarter" idx="1"/>
          </p:nvPr>
        </p:nvSpPr>
        <p:spPr>
          <a:noFill/>
        </p:spPr>
        <p:txBody>
          <a:bodyPr/>
          <a:lstStyle/>
          <a:p>
            <a:endParaRPr lang="en-US" dirty="0" smtClean="0"/>
          </a:p>
        </p:txBody>
      </p:sp>
      <p:sp>
        <p:nvSpPr>
          <p:cNvPr id="107526"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07527" name="Slide Number Placeholder 6"/>
          <p:cNvSpPr>
            <a:spLocks noGrp="1"/>
          </p:cNvSpPr>
          <p:nvPr>
            <p:ph type="sldNum" sz="quarter" idx="5"/>
          </p:nvPr>
        </p:nvSpPr>
        <p:spPr>
          <a:noFill/>
        </p:spPr>
        <p:txBody>
          <a:bodyPr/>
          <a:lstStyle/>
          <a:p>
            <a:fld id="{7EEC8A46-3FCE-40DE-8B9E-1836158AC7AD}" type="slidenum">
              <a:rPr lang="en-US" smtClean="0"/>
              <a:pPr/>
              <a:t>27</a:t>
            </a:fld>
            <a:endParaRPr lang="en-US" dirty="0" smtClean="0"/>
          </a:p>
        </p:txBody>
      </p:sp>
    </p:spTree>
    <p:extLst>
      <p:ext uri="{BB962C8B-B14F-4D97-AF65-F5344CB8AC3E}">
        <p14:creationId xmlns:p14="http://schemas.microsoft.com/office/powerpoint/2010/main" val="4186846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xfrm>
            <a:off x="989013" y="493713"/>
            <a:ext cx="5416550" cy="4062412"/>
          </a:xfrm>
          <a:ln/>
        </p:spPr>
      </p:sp>
      <p:sp>
        <p:nvSpPr>
          <p:cNvPr id="114691" name="Notes Placeholder 2"/>
          <p:cNvSpPr>
            <a:spLocks noGrp="1"/>
          </p:cNvSpPr>
          <p:nvPr>
            <p:ph type="body" idx="1"/>
          </p:nvPr>
        </p:nvSpPr>
        <p:spPr>
          <a:noFill/>
          <a:ln/>
        </p:spPr>
        <p:txBody>
          <a:bodyPr/>
          <a:lstStyle/>
          <a:p>
            <a:r>
              <a:rPr lang="en-US" dirty="0" smtClean="0"/>
              <a:t>This analysis</a:t>
            </a:r>
            <a:r>
              <a:rPr lang="en-US" baseline="0" dirty="0" smtClean="0"/>
              <a:t> can be conducted by software engineers, reliability engineers or systems engineers who are familiar with the requirements of the system.  While having software engineering knowledge helps, that’s not required for this viewpoint as long as the analyst is familiar with the system.</a:t>
            </a:r>
            <a:endParaRPr lang="en-US" dirty="0" smtClean="0"/>
          </a:p>
        </p:txBody>
      </p:sp>
      <p:sp>
        <p:nvSpPr>
          <p:cNvPr id="114692" name="Header Placeholder 3"/>
          <p:cNvSpPr>
            <a:spLocks noGrp="1"/>
          </p:cNvSpPr>
          <p:nvPr>
            <p:ph type="hdr" sz="quarter"/>
          </p:nvPr>
        </p:nvSpPr>
        <p:spPr>
          <a:noFill/>
        </p:spPr>
        <p:txBody>
          <a:bodyPr/>
          <a:lstStyle/>
          <a:p>
            <a:r>
              <a:rPr lang="en-US" dirty="0" smtClean="0"/>
              <a:t>Software FMEA</a:t>
            </a:r>
          </a:p>
        </p:txBody>
      </p:sp>
      <p:sp>
        <p:nvSpPr>
          <p:cNvPr id="114693" name="Date Placeholder 4"/>
          <p:cNvSpPr>
            <a:spLocks noGrp="1"/>
          </p:cNvSpPr>
          <p:nvPr>
            <p:ph type="dt" sz="quarter" idx="1"/>
          </p:nvPr>
        </p:nvSpPr>
        <p:spPr>
          <a:noFill/>
        </p:spPr>
        <p:txBody>
          <a:bodyPr/>
          <a:lstStyle/>
          <a:p>
            <a:endParaRPr lang="en-US" dirty="0" smtClean="0"/>
          </a:p>
        </p:txBody>
      </p:sp>
      <p:sp>
        <p:nvSpPr>
          <p:cNvPr id="114694"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14695" name="Slide Number Placeholder 6"/>
          <p:cNvSpPr>
            <a:spLocks noGrp="1"/>
          </p:cNvSpPr>
          <p:nvPr>
            <p:ph type="sldNum" sz="quarter" idx="5"/>
          </p:nvPr>
        </p:nvSpPr>
        <p:spPr>
          <a:noFill/>
        </p:spPr>
        <p:txBody>
          <a:bodyPr/>
          <a:lstStyle/>
          <a:p>
            <a:fld id="{8B71EA5E-409B-4136-9714-3D2BD658183F}" type="slidenum">
              <a:rPr lang="en-US" smtClean="0"/>
              <a:pPr/>
              <a:t>28</a:t>
            </a:fld>
            <a:endParaRPr lang="en-US" dirty="0" smtClean="0"/>
          </a:p>
        </p:txBody>
      </p:sp>
    </p:spTree>
    <p:extLst>
      <p:ext uri="{BB962C8B-B14F-4D97-AF65-F5344CB8AC3E}">
        <p14:creationId xmlns:p14="http://schemas.microsoft.com/office/powerpoint/2010/main" val="3982348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xfrm>
            <a:off x="989013" y="493713"/>
            <a:ext cx="5416550" cy="4062412"/>
          </a:xfrm>
          <a:ln/>
        </p:spPr>
      </p:sp>
      <p:sp>
        <p:nvSpPr>
          <p:cNvPr id="115715" name="Notes Placeholder 2"/>
          <p:cNvSpPr>
            <a:spLocks noGrp="1"/>
          </p:cNvSpPr>
          <p:nvPr>
            <p:ph type="body" idx="1"/>
          </p:nvPr>
        </p:nvSpPr>
        <p:spPr>
          <a:noFill/>
          <a:ln/>
        </p:spPr>
        <p:txBody>
          <a:bodyPr/>
          <a:lstStyle/>
          <a:p>
            <a:r>
              <a:rPr lang="en-US" dirty="0" smtClean="0"/>
              <a:t>These are the steps for performing</a:t>
            </a:r>
            <a:r>
              <a:rPr lang="en-US" baseline="0" dirty="0" smtClean="0"/>
              <a:t> a functional software FMEA.  We will walk through these steps a few steps at a time.</a:t>
            </a:r>
            <a:endParaRPr lang="en-US" dirty="0" smtClean="0"/>
          </a:p>
        </p:txBody>
      </p:sp>
      <p:sp>
        <p:nvSpPr>
          <p:cNvPr id="115716" name="Header Placeholder 3"/>
          <p:cNvSpPr>
            <a:spLocks noGrp="1"/>
          </p:cNvSpPr>
          <p:nvPr>
            <p:ph type="hdr" sz="quarter"/>
          </p:nvPr>
        </p:nvSpPr>
        <p:spPr>
          <a:noFill/>
        </p:spPr>
        <p:txBody>
          <a:bodyPr/>
          <a:lstStyle/>
          <a:p>
            <a:r>
              <a:rPr lang="en-US" dirty="0" smtClean="0"/>
              <a:t>Software FMEA</a:t>
            </a:r>
          </a:p>
        </p:txBody>
      </p:sp>
      <p:sp>
        <p:nvSpPr>
          <p:cNvPr id="115717" name="Date Placeholder 4"/>
          <p:cNvSpPr>
            <a:spLocks noGrp="1"/>
          </p:cNvSpPr>
          <p:nvPr>
            <p:ph type="dt" sz="quarter" idx="1"/>
          </p:nvPr>
        </p:nvSpPr>
        <p:spPr>
          <a:noFill/>
        </p:spPr>
        <p:txBody>
          <a:bodyPr/>
          <a:lstStyle/>
          <a:p>
            <a:endParaRPr lang="en-US" dirty="0" smtClean="0"/>
          </a:p>
        </p:txBody>
      </p:sp>
      <p:sp>
        <p:nvSpPr>
          <p:cNvPr id="11571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15719" name="Slide Number Placeholder 6"/>
          <p:cNvSpPr>
            <a:spLocks noGrp="1"/>
          </p:cNvSpPr>
          <p:nvPr>
            <p:ph type="sldNum" sz="quarter" idx="5"/>
          </p:nvPr>
        </p:nvSpPr>
        <p:spPr>
          <a:noFill/>
        </p:spPr>
        <p:txBody>
          <a:bodyPr/>
          <a:lstStyle/>
          <a:p>
            <a:fld id="{1FDBD09B-4609-49EE-B8F6-EDF1971E3FD2}" type="slidenum">
              <a:rPr lang="en-US" smtClean="0"/>
              <a:pPr/>
              <a:t>29</a:t>
            </a:fld>
            <a:endParaRPr lang="en-US" dirty="0" smtClean="0"/>
          </a:p>
        </p:txBody>
      </p:sp>
    </p:spTree>
    <p:extLst>
      <p:ext uri="{BB962C8B-B14F-4D97-AF65-F5344CB8AC3E}">
        <p14:creationId xmlns:p14="http://schemas.microsoft.com/office/powerpoint/2010/main" val="768101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smtClean="0"/>
          </a:p>
          <a:p>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30</a:t>
            </a:fld>
            <a:endParaRPr lang="en-US" dirty="0"/>
          </a:p>
        </p:txBody>
      </p:sp>
    </p:spTree>
    <p:extLst>
      <p:ext uri="{BB962C8B-B14F-4D97-AF65-F5344CB8AC3E}">
        <p14:creationId xmlns:p14="http://schemas.microsoft.com/office/powerpoint/2010/main" val="822833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One of the most famous race conditions in history is the radiation overdoses by the Therac-25 in the 1980s. The radiation overdose occurred because the interlocked failed and the high-power electron beam was activated without the beam spreader plate rotated into place.  If the system had had a hardware interlock that would have likely prevented the race condition.  The race condition could have also been prevented by writing the code such that it does not allow this important variable to be changed by two sources at the same time.  This is also</a:t>
            </a:r>
            <a:r>
              <a:rPr lang="en-US" sz="1200" baseline="0" dirty="0" smtClean="0"/>
              <a:t> an example of faulty data since the one byte counter was the wrong data size.</a:t>
            </a:r>
            <a:r>
              <a:rPr lang="en-US" sz="1200" dirty="0" smtClean="0"/>
              <a:t> [THERAC]</a:t>
            </a:r>
          </a:p>
          <a:p>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31</a:t>
            </a:fld>
            <a:endParaRPr lang="en-US" dirty="0"/>
          </a:p>
        </p:txBody>
      </p:sp>
    </p:spTree>
    <p:extLst>
      <p:ext uri="{BB962C8B-B14F-4D97-AF65-F5344CB8AC3E}">
        <p14:creationId xmlns:p14="http://schemas.microsoft.com/office/powerpoint/2010/main" val="2505817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32</a:t>
            </a:fld>
            <a:endParaRPr lang="en-US" dirty="0"/>
          </a:p>
        </p:txBody>
      </p:sp>
    </p:spTree>
    <p:extLst>
      <p:ext uri="{BB962C8B-B14F-4D97-AF65-F5344CB8AC3E}">
        <p14:creationId xmlns:p14="http://schemas.microsoft.com/office/powerpoint/2010/main" val="1992733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xfrm>
            <a:off x="989013" y="493713"/>
            <a:ext cx="5416550" cy="4062412"/>
          </a:xfrm>
          <a:ln/>
        </p:spPr>
      </p:sp>
      <p:sp>
        <p:nvSpPr>
          <p:cNvPr id="115715" name="Notes Placeholder 2"/>
          <p:cNvSpPr>
            <a:spLocks noGrp="1"/>
          </p:cNvSpPr>
          <p:nvPr>
            <p:ph type="body" idx="1"/>
          </p:nvPr>
        </p:nvSpPr>
        <p:spPr>
          <a:noFill/>
          <a:ln/>
        </p:spPr>
        <p:txBody>
          <a:bodyPr/>
          <a:lstStyle/>
          <a:p>
            <a:r>
              <a:rPr lang="en-US" dirty="0" smtClean="0"/>
              <a:t>The</a:t>
            </a:r>
            <a:r>
              <a:rPr lang="en-US" baseline="0" dirty="0" smtClean="0"/>
              <a:t> above example is a simple requirement discussing how the software will handle an erroneous condition.  The first root cause for the Faulty Functionality failure mode pertains to what’s missing from this requirement.  The analysts review the requirement as well as their understanding of that requirement.  They see that 2 things are missing in this requirement. First the requirement doesn’t say whether the user is required to acknowledge the error message.  Secondly it doesn’t say what the software should do after this message is displayed.  So for the generic root cause “Requirement is missing functionality” there are 2 specific root causes which are added to the FMEA template on 2 different rows.  Each of these root causes will then be further analyzed.  The next root cause is “Requirement has unwritten assumptions”.  The analysts review this root cause and aren’t able to identify any specific root causes so they proceed to the next root cause which is  “Conflicting requirements”.</a:t>
            </a:r>
            <a:endParaRPr lang="en-US" dirty="0" smtClean="0"/>
          </a:p>
        </p:txBody>
      </p:sp>
      <p:sp>
        <p:nvSpPr>
          <p:cNvPr id="115716" name="Header Placeholder 3"/>
          <p:cNvSpPr>
            <a:spLocks noGrp="1"/>
          </p:cNvSpPr>
          <p:nvPr>
            <p:ph type="hdr" sz="quarter"/>
          </p:nvPr>
        </p:nvSpPr>
        <p:spPr>
          <a:noFill/>
        </p:spPr>
        <p:txBody>
          <a:bodyPr/>
          <a:lstStyle/>
          <a:p>
            <a:r>
              <a:rPr lang="en-US" dirty="0" smtClean="0"/>
              <a:t>Software FMEA</a:t>
            </a:r>
          </a:p>
        </p:txBody>
      </p:sp>
      <p:sp>
        <p:nvSpPr>
          <p:cNvPr id="115717" name="Date Placeholder 4"/>
          <p:cNvSpPr>
            <a:spLocks noGrp="1"/>
          </p:cNvSpPr>
          <p:nvPr>
            <p:ph type="dt" sz="quarter" idx="1"/>
          </p:nvPr>
        </p:nvSpPr>
        <p:spPr>
          <a:noFill/>
        </p:spPr>
        <p:txBody>
          <a:bodyPr/>
          <a:lstStyle/>
          <a:p>
            <a:endParaRPr lang="en-US" dirty="0" smtClean="0"/>
          </a:p>
        </p:txBody>
      </p:sp>
      <p:sp>
        <p:nvSpPr>
          <p:cNvPr id="11571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15719" name="Slide Number Placeholder 6"/>
          <p:cNvSpPr>
            <a:spLocks noGrp="1"/>
          </p:cNvSpPr>
          <p:nvPr>
            <p:ph type="sldNum" sz="quarter" idx="5"/>
          </p:nvPr>
        </p:nvSpPr>
        <p:spPr>
          <a:noFill/>
        </p:spPr>
        <p:txBody>
          <a:bodyPr/>
          <a:lstStyle/>
          <a:p>
            <a:fld id="{1FDBD09B-4609-49EE-B8F6-EDF1971E3FD2}" type="slidenum">
              <a:rPr lang="en-US" smtClean="0"/>
              <a:pPr/>
              <a:t>33</a:t>
            </a:fld>
            <a:endParaRPr lang="en-US" dirty="0" smtClean="0"/>
          </a:p>
        </p:txBody>
      </p:sp>
    </p:spTree>
    <p:extLst>
      <p:ext uri="{BB962C8B-B14F-4D97-AF65-F5344CB8AC3E}">
        <p14:creationId xmlns:p14="http://schemas.microsoft.com/office/powerpoint/2010/main" val="3365496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xfrm>
            <a:off x="989013" y="493713"/>
            <a:ext cx="5416550" cy="4062412"/>
          </a:xfrm>
          <a:ln/>
        </p:spPr>
      </p:sp>
      <p:sp>
        <p:nvSpPr>
          <p:cNvPr id="115715" name="Notes Placeholder 2"/>
          <p:cNvSpPr>
            <a:spLocks noGrp="1"/>
          </p:cNvSpPr>
          <p:nvPr>
            <p:ph type="body" idx="1"/>
          </p:nvPr>
        </p:nvSpPr>
        <p:spPr>
          <a:noFill/>
          <a:ln/>
        </p:spPr>
        <p:txBody>
          <a:bodyPr/>
          <a:lstStyle/>
          <a:p>
            <a:r>
              <a:rPr lang="en-US" dirty="0" smtClean="0"/>
              <a:t>The next generic root cause for</a:t>
            </a:r>
            <a:r>
              <a:rPr lang="en-US" baseline="0" dirty="0" smtClean="0"/>
              <a:t> the Faulty Functionality failure mode is “Conflicting requirement”.  A conflicting requirement can be across 2 or more requirements or it can be within a requirement.  It’s clear when analyzing this requirement for conflicts that it does indeed conflict with itself.  The quoted text says that the only negative values are prohibited while the unquoted text includes zero as a prohibited value.  It’s not clear which part of the statement is correct.  Since the data items is being used to measure presumably it’s the analyst understanding that it can’t be zero.  However, the analyst will need to resolve the conflict later in the mitigation phase of the FMEA.  The analyst reviews the next root cause which is “Requirement is obsolete”.  This requirement is analyzed for obsoletion and it does not appear that obsoletion is relevant to this requirement. So the next root cause is analyzed “Requirement has extra featured.”</a:t>
            </a:r>
            <a:endParaRPr lang="en-US" dirty="0" smtClean="0"/>
          </a:p>
        </p:txBody>
      </p:sp>
      <p:sp>
        <p:nvSpPr>
          <p:cNvPr id="115716" name="Header Placeholder 3"/>
          <p:cNvSpPr>
            <a:spLocks noGrp="1"/>
          </p:cNvSpPr>
          <p:nvPr>
            <p:ph type="hdr" sz="quarter"/>
          </p:nvPr>
        </p:nvSpPr>
        <p:spPr>
          <a:noFill/>
        </p:spPr>
        <p:txBody>
          <a:bodyPr/>
          <a:lstStyle/>
          <a:p>
            <a:r>
              <a:rPr lang="en-US" dirty="0" smtClean="0"/>
              <a:t>Software FMEA</a:t>
            </a:r>
          </a:p>
        </p:txBody>
      </p:sp>
      <p:sp>
        <p:nvSpPr>
          <p:cNvPr id="115717" name="Date Placeholder 4"/>
          <p:cNvSpPr>
            <a:spLocks noGrp="1"/>
          </p:cNvSpPr>
          <p:nvPr>
            <p:ph type="dt" sz="quarter" idx="1"/>
          </p:nvPr>
        </p:nvSpPr>
        <p:spPr>
          <a:noFill/>
        </p:spPr>
        <p:txBody>
          <a:bodyPr/>
          <a:lstStyle/>
          <a:p>
            <a:endParaRPr lang="en-US" dirty="0" smtClean="0"/>
          </a:p>
        </p:txBody>
      </p:sp>
      <p:sp>
        <p:nvSpPr>
          <p:cNvPr id="11571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15719" name="Slide Number Placeholder 6"/>
          <p:cNvSpPr>
            <a:spLocks noGrp="1"/>
          </p:cNvSpPr>
          <p:nvPr>
            <p:ph type="sldNum" sz="quarter" idx="5"/>
          </p:nvPr>
        </p:nvSpPr>
        <p:spPr>
          <a:noFill/>
        </p:spPr>
        <p:txBody>
          <a:bodyPr/>
          <a:lstStyle/>
          <a:p>
            <a:fld id="{1FDBD09B-4609-49EE-B8F6-EDF1971E3FD2}" type="slidenum">
              <a:rPr lang="en-US" smtClean="0"/>
              <a:pPr/>
              <a:t>34</a:t>
            </a:fld>
            <a:endParaRPr lang="en-US" dirty="0" smtClean="0"/>
          </a:p>
        </p:txBody>
      </p:sp>
    </p:spTree>
    <p:extLst>
      <p:ext uri="{BB962C8B-B14F-4D97-AF65-F5344CB8AC3E}">
        <p14:creationId xmlns:p14="http://schemas.microsoft.com/office/powerpoint/2010/main" val="1889176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xfrm>
            <a:off x="989013" y="493713"/>
            <a:ext cx="5416550" cy="4062412"/>
          </a:xfrm>
          <a:ln/>
        </p:spPr>
      </p:sp>
      <p:sp>
        <p:nvSpPr>
          <p:cNvPr id="115715" name="Notes Placeholder 2"/>
          <p:cNvSpPr>
            <a:spLocks noGrp="1"/>
          </p:cNvSpPr>
          <p:nvPr>
            <p:ph type="body" idx="1"/>
          </p:nvPr>
        </p:nvSpPr>
        <p:spPr>
          <a:noFill/>
          <a:ln/>
        </p:spPr>
        <p:txBody>
          <a:bodyPr/>
          <a:lstStyle/>
          <a:p>
            <a:r>
              <a:rPr lang="en-US" dirty="0" smtClean="0"/>
              <a:t>The last generic</a:t>
            </a:r>
            <a:r>
              <a:rPr lang="en-US" baseline="0" dirty="0" smtClean="0"/>
              <a:t> root cause for Faulty Functionality is analyzed.  At first the analysts do not see how this requirement an have “extra” features.  However, eventually that see that it may in fact have extra functionality.  The entire requirement is intended to advise the user that they cannot enter negative values.  However, the message box may be unnecessary.  The user interface can simply not allow invalid inputs.  This would eliminate the need for the error message but still leave the requirement that the software not allow the invalid inputs.  This would then eliminate the need for the end user to acknowledge the message which is an issue identified earlier in the SFMEA.  For now, the analysts don’t attempt to rewrite the requirement, they will save that for later in the mitigation section.  For now they identify that the requirement does have an unnecessary feature.  At this point the faulty functionality failure mode has been analyzed and the analysts continue to the next failure mode which is faulty timing.  Before we proceed to that failure mode it might be useful to see some real life failures that resulted from faulty functionality…</a:t>
            </a:r>
            <a:endParaRPr lang="en-US" dirty="0" smtClean="0"/>
          </a:p>
        </p:txBody>
      </p:sp>
      <p:sp>
        <p:nvSpPr>
          <p:cNvPr id="115716" name="Header Placeholder 3"/>
          <p:cNvSpPr>
            <a:spLocks noGrp="1"/>
          </p:cNvSpPr>
          <p:nvPr>
            <p:ph type="hdr" sz="quarter"/>
          </p:nvPr>
        </p:nvSpPr>
        <p:spPr>
          <a:noFill/>
        </p:spPr>
        <p:txBody>
          <a:bodyPr/>
          <a:lstStyle/>
          <a:p>
            <a:r>
              <a:rPr lang="en-US" dirty="0" smtClean="0"/>
              <a:t>Software FMEA</a:t>
            </a:r>
          </a:p>
        </p:txBody>
      </p:sp>
      <p:sp>
        <p:nvSpPr>
          <p:cNvPr id="115717" name="Date Placeholder 4"/>
          <p:cNvSpPr>
            <a:spLocks noGrp="1"/>
          </p:cNvSpPr>
          <p:nvPr>
            <p:ph type="dt" sz="quarter" idx="1"/>
          </p:nvPr>
        </p:nvSpPr>
        <p:spPr>
          <a:noFill/>
        </p:spPr>
        <p:txBody>
          <a:bodyPr/>
          <a:lstStyle/>
          <a:p>
            <a:endParaRPr lang="en-US" dirty="0" smtClean="0"/>
          </a:p>
        </p:txBody>
      </p:sp>
      <p:sp>
        <p:nvSpPr>
          <p:cNvPr id="115718"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15719" name="Slide Number Placeholder 6"/>
          <p:cNvSpPr>
            <a:spLocks noGrp="1"/>
          </p:cNvSpPr>
          <p:nvPr>
            <p:ph type="sldNum" sz="quarter" idx="5"/>
          </p:nvPr>
        </p:nvSpPr>
        <p:spPr>
          <a:noFill/>
        </p:spPr>
        <p:txBody>
          <a:bodyPr/>
          <a:lstStyle/>
          <a:p>
            <a:fld id="{1FDBD09B-4609-49EE-B8F6-EDF1971E3FD2}" type="slidenum">
              <a:rPr lang="en-US" smtClean="0"/>
              <a:pPr/>
              <a:t>35</a:t>
            </a:fld>
            <a:endParaRPr lang="en-US" dirty="0" smtClean="0"/>
          </a:p>
        </p:txBody>
      </p:sp>
    </p:spTree>
    <p:extLst>
      <p:ext uri="{BB962C8B-B14F-4D97-AF65-F5344CB8AC3E}">
        <p14:creationId xmlns:p14="http://schemas.microsoft.com/office/powerpoint/2010/main" val="4178236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xfrm>
            <a:off x="989013" y="493713"/>
            <a:ext cx="5416550" cy="4062412"/>
          </a:xfrm>
          <a:ln/>
        </p:spPr>
      </p:sp>
      <p:sp>
        <p:nvSpPr>
          <p:cNvPr id="145411" name="Notes Placeholder 2"/>
          <p:cNvSpPr>
            <a:spLocks noGrp="1"/>
          </p:cNvSpPr>
          <p:nvPr>
            <p:ph type="body" idx="1"/>
          </p:nvPr>
        </p:nvSpPr>
        <p:spPr>
          <a:noFill/>
          <a:ln/>
        </p:spPr>
        <p:txBody>
          <a:bodyPr/>
          <a:lstStyle/>
          <a:p>
            <a:endParaRPr lang="en-US" dirty="0" smtClean="0"/>
          </a:p>
        </p:txBody>
      </p:sp>
      <p:sp>
        <p:nvSpPr>
          <p:cNvPr id="145412" name="Header Placeholder 3"/>
          <p:cNvSpPr>
            <a:spLocks noGrp="1"/>
          </p:cNvSpPr>
          <p:nvPr>
            <p:ph type="hdr" sz="quarter"/>
          </p:nvPr>
        </p:nvSpPr>
        <p:spPr>
          <a:noFill/>
        </p:spPr>
        <p:txBody>
          <a:bodyPr/>
          <a:lstStyle/>
          <a:p>
            <a:r>
              <a:rPr lang="en-US" dirty="0" smtClean="0"/>
              <a:t>Software FMEA</a:t>
            </a:r>
          </a:p>
        </p:txBody>
      </p:sp>
      <p:sp>
        <p:nvSpPr>
          <p:cNvPr id="145413" name="Date Placeholder 4"/>
          <p:cNvSpPr>
            <a:spLocks noGrp="1"/>
          </p:cNvSpPr>
          <p:nvPr>
            <p:ph type="dt" sz="quarter" idx="1"/>
          </p:nvPr>
        </p:nvSpPr>
        <p:spPr>
          <a:noFill/>
        </p:spPr>
        <p:txBody>
          <a:bodyPr/>
          <a:lstStyle/>
          <a:p>
            <a:endParaRPr lang="en-US" dirty="0" smtClean="0"/>
          </a:p>
        </p:txBody>
      </p:sp>
      <p:sp>
        <p:nvSpPr>
          <p:cNvPr id="145414"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45415" name="Slide Number Placeholder 6"/>
          <p:cNvSpPr>
            <a:spLocks noGrp="1"/>
          </p:cNvSpPr>
          <p:nvPr>
            <p:ph type="sldNum" sz="quarter" idx="5"/>
          </p:nvPr>
        </p:nvSpPr>
        <p:spPr>
          <a:noFill/>
        </p:spPr>
        <p:txBody>
          <a:bodyPr/>
          <a:lstStyle/>
          <a:p>
            <a:fld id="{2753D925-A42D-46D9-B956-5DCED93BDB13}" type="slidenum">
              <a:rPr lang="en-US" smtClean="0"/>
              <a:pPr/>
              <a:t>38</a:t>
            </a:fld>
            <a:endParaRPr lang="en-US" dirty="0" smtClean="0"/>
          </a:p>
        </p:txBody>
      </p:sp>
    </p:spTree>
    <p:extLst>
      <p:ext uri="{BB962C8B-B14F-4D97-AF65-F5344CB8AC3E}">
        <p14:creationId xmlns:p14="http://schemas.microsoft.com/office/powerpoint/2010/main" val="15989170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Software FMEA</a:t>
            </a:r>
            <a:endParaRPr lang="en-US" dirty="0"/>
          </a:p>
        </p:txBody>
      </p:sp>
      <p:sp>
        <p:nvSpPr>
          <p:cNvPr id="5" name="Date Placeholder 4"/>
          <p:cNvSpPr>
            <a:spLocks noGrp="1"/>
          </p:cNvSpPr>
          <p:nvPr>
            <p:ph type="dt" idx="11"/>
          </p:nvPr>
        </p:nvSpPr>
        <p:spPr/>
        <p:txBody>
          <a:bodyPr/>
          <a:lstStyle/>
          <a:p>
            <a:pPr>
              <a:defRPr/>
            </a:pPr>
            <a:endParaRPr lang="en-US" dirty="0"/>
          </a:p>
        </p:txBody>
      </p:sp>
      <p:sp>
        <p:nvSpPr>
          <p:cNvPr id="6" name="Footer Placeholder 5"/>
          <p:cNvSpPr>
            <a:spLocks noGrp="1"/>
          </p:cNvSpPr>
          <p:nvPr>
            <p:ph type="ftr" sz="quarter" idx="12"/>
          </p:nvPr>
        </p:nvSpPr>
        <p:spPr/>
        <p:txBody>
          <a:bodyPr/>
          <a:lstStyle/>
          <a:p>
            <a:pPr>
              <a:defRPr/>
            </a:pPr>
            <a:r>
              <a:rPr lang="en-US" dirty="0" smtClean="0"/>
              <a:t>© SoftRel, LLC 2010 This material may not be reprinted in part or in whole without written permission from Ann Marie Neufelder.</a:t>
            </a:r>
            <a:endParaRPr lang="en-US" dirty="0"/>
          </a:p>
        </p:txBody>
      </p:sp>
      <p:sp>
        <p:nvSpPr>
          <p:cNvPr id="7" name="Slide Number Placeholder 6"/>
          <p:cNvSpPr>
            <a:spLocks noGrp="1"/>
          </p:cNvSpPr>
          <p:nvPr>
            <p:ph type="sldNum" sz="quarter" idx="13"/>
          </p:nvPr>
        </p:nvSpPr>
        <p:spPr/>
        <p:txBody>
          <a:bodyPr/>
          <a:lstStyle/>
          <a:p>
            <a:pPr>
              <a:defRPr/>
            </a:pPr>
            <a:fld id="{C83E018F-04F2-4A39-87FD-4ADEDC4295A1}" type="slidenum">
              <a:rPr lang="en-US" smtClean="0"/>
              <a:pPr>
                <a:defRPr/>
              </a:pPr>
              <a:t>39</a:t>
            </a:fld>
            <a:endParaRPr lang="en-US" dirty="0"/>
          </a:p>
        </p:txBody>
      </p:sp>
    </p:spTree>
    <p:extLst>
      <p:ext uri="{BB962C8B-B14F-4D97-AF65-F5344CB8AC3E}">
        <p14:creationId xmlns:p14="http://schemas.microsoft.com/office/powerpoint/2010/main" val="3833220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a:xfrm>
            <a:off x="989013" y="493713"/>
            <a:ext cx="5416550" cy="4062412"/>
          </a:xfrm>
          <a:ln/>
        </p:spPr>
      </p:sp>
      <p:sp>
        <p:nvSpPr>
          <p:cNvPr id="149507" name="Notes Placeholder 2"/>
          <p:cNvSpPr>
            <a:spLocks noGrp="1"/>
          </p:cNvSpPr>
          <p:nvPr>
            <p:ph type="body" idx="1"/>
          </p:nvPr>
        </p:nvSpPr>
        <p:spPr>
          <a:noFill/>
          <a:ln/>
        </p:spPr>
        <p:txBody>
          <a:bodyPr/>
          <a:lstStyle/>
          <a:p>
            <a:endParaRPr lang="en-US" dirty="0" smtClean="0"/>
          </a:p>
        </p:txBody>
      </p:sp>
      <p:sp>
        <p:nvSpPr>
          <p:cNvPr id="149508" name="Header Placeholder 3"/>
          <p:cNvSpPr>
            <a:spLocks noGrp="1"/>
          </p:cNvSpPr>
          <p:nvPr>
            <p:ph type="hdr" sz="quarter"/>
          </p:nvPr>
        </p:nvSpPr>
        <p:spPr>
          <a:noFill/>
        </p:spPr>
        <p:txBody>
          <a:bodyPr/>
          <a:lstStyle/>
          <a:p>
            <a:r>
              <a:rPr lang="en-US" dirty="0" smtClean="0"/>
              <a:t>Software FMEA</a:t>
            </a:r>
          </a:p>
        </p:txBody>
      </p:sp>
      <p:sp>
        <p:nvSpPr>
          <p:cNvPr id="149509" name="Date Placeholder 4"/>
          <p:cNvSpPr>
            <a:spLocks noGrp="1"/>
          </p:cNvSpPr>
          <p:nvPr>
            <p:ph type="dt" sz="quarter" idx="1"/>
          </p:nvPr>
        </p:nvSpPr>
        <p:spPr>
          <a:noFill/>
        </p:spPr>
        <p:txBody>
          <a:bodyPr/>
          <a:lstStyle/>
          <a:p>
            <a:endParaRPr lang="en-US" dirty="0" smtClean="0"/>
          </a:p>
        </p:txBody>
      </p:sp>
      <p:sp>
        <p:nvSpPr>
          <p:cNvPr id="149510"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49511" name="Slide Number Placeholder 6"/>
          <p:cNvSpPr>
            <a:spLocks noGrp="1"/>
          </p:cNvSpPr>
          <p:nvPr>
            <p:ph type="sldNum" sz="quarter" idx="5"/>
          </p:nvPr>
        </p:nvSpPr>
        <p:spPr>
          <a:noFill/>
        </p:spPr>
        <p:txBody>
          <a:bodyPr/>
          <a:lstStyle/>
          <a:p>
            <a:fld id="{40F8D4F0-86E8-44FF-8EFA-3E494A1B7ED1}" type="slidenum">
              <a:rPr lang="en-US" smtClean="0"/>
              <a:pPr/>
              <a:t>43</a:t>
            </a:fld>
            <a:endParaRPr lang="en-US" dirty="0" smtClean="0"/>
          </a:p>
        </p:txBody>
      </p:sp>
    </p:spTree>
    <p:extLst>
      <p:ext uri="{BB962C8B-B14F-4D97-AF65-F5344CB8AC3E}">
        <p14:creationId xmlns:p14="http://schemas.microsoft.com/office/powerpoint/2010/main" val="2564607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a:xfrm>
            <a:off x="989013" y="493713"/>
            <a:ext cx="5416550" cy="4062412"/>
          </a:xfrm>
          <a:ln/>
        </p:spPr>
      </p:sp>
      <p:sp>
        <p:nvSpPr>
          <p:cNvPr id="149507" name="Notes Placeholder 2"/>
          <p:cNvSpPr>
            <a:spLocks noGrp="1"/>
          </p:cNvSpPr>
          <p:nvPr>
            <p:ph type="body" idx="1"/>
          </p:nvPr>
        </p:nvSpPr>
        <p:spPr>
          <a:noFill/>
          <a:ln/>
        </p:spPr>
        <p:txBody>
          <a:bodyPr/>
          <a:lstStyle/>
          <a:p>
            <a:endParaRPr lang="en-US" dirty="0" smtClean="0"/>
          </a:p>
        </p:txBody>
      </p:sp>
      <p:sp>
        <p:nvSpPr>
          <p:cNvPr id="149508" name="Header Placeholder 3"/>
          <p:cNvSpPr>
            <a:spLocks noGrp="1"/>
          </p:cNvSpPr>
          <p:nvPr>
            <p:ph type="hdr" sz="quarter"/>
          </p:nvPr>
        </p:nvSpPr>
        <p:spPr>
          <a:noFill/>
        </p:spPr>
        <p:txBody>
          <a:bodyPr/>
          <a:lstStyle/>
          <a:p>
            <a:r>
              <a:rPr lang="en-US" dirty="0" smtClean="0"/>
              <a:t>Software FMEA</a:t>
            </a:r>
          </a:p>
        </p:txBody>
      </p:sp>
      <p:sp>
        <p:nvSpPr>
          <p:cNvPr id="149509" name="Date Placeholder 4"/>
          <p:cNvSpPr>
            <a:spLocks noGrp="1"/>
          </p:cNvSpPr>
          <p:nvPr>
            <p:ph type="dt" sz="quarter" idx="1"/>
          </p:nvPr>
        </p:nvSpPr>
        <p:spPr>
          <a:noFill/>
        </p:spPr>
        <p:txBody>
          <a:bodyPr/>
          <a:lstStyle/>
          <a:p>
            <a:endParaRPr lang="en-US" dirty="0" smtClean="0"/>
          </a:p>
        </p:txBody>
      </p:sp>
      <p:sp>
        <p:nvSpPr>
          <p:cNvPr id="149510"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49511" name="Slide Number Placeholder 6"/>
          <p:cNvSpPr>
            <a:spLocks noGrp="1"/>
          </p:cNvSpPr>
          <p:nvPr>
            <p:ph type="sldNum" sz="quarter" idx="5"/>
          </p:nvPr>
        </p:nvSpPr>
        <p:spPr>
          <a:noFill/>
        </p:spPr>
        <p:txBody>
          <a:bodyPr/>
          <a:lstStyle/>
          <a:p>
            <a:fld id="{40F8D4F0-86E8-44FF-8EFA-3E494A1B7ED1}" type="slidenum">
              <a:rPr lang="en-US" smtClean="0"/>
              <a:pPr/>
              <a:t>44</a:t>
            </a:fld>
            <a:endParaRPr lang="en-US" dirty="0" smtClean="0"/>
          </a:p>
        </p:txBody>
      </p:sp>
    </p:spTree>
    <p:extLst>
      <p:ext uri="{BB962C8B-B14F-4D97-AF65-F5344CB8AC3E}">
        <p14:creationId xmlns:p14="http://schemas.microsoft.com/office/powerpoint/2010/main" val="8399473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xfrm>
            <a:off x="989013" y="493713"/>
            <a:ext cx="5416550" cy="4062412"/>
          </a:xfrm>
          <a:ln/>
        </p:spPr>
      </p:sp>
      <p:sp>
        <p:nvSpPr>
          <p:cNvPr id="158723" name="Notes Placeholder 2"/>
          <p:cNvSpPr>
            <a:spLocks noGrp="1"/>
          </p:cNvSpPr>
          <p:nvPr>
            <p:ph type="body" idx="1"/>
          </p:nvPr>
        </p:nvSpPr>
        <p:spPr>
          <a:noFill/>
          <a:ln/>
        </p:spPr>
        <p:txBody>
          <a:bodyPr/>
          <a:lstStyle/>
          <a:p>
            <a:endParaRPr lang="en-US" dirty="0" smtClean="0"/>
          </a:p>
        </p:txBody>
      </p:sp>
      <p:sp>
        <p:nvSpPr>
          <p:cNvPr id="158724" name="Header Placeholder 3"/>
          <p:cNvSpPr>
            <a:spLocks noGrp="1"/>
          </p:cNvSpPr>
          <p:nvPr>
            <p:ph type="hdr" sz="quarter"/>
          </p:nvPr>
        </p:nvSpPr>
        <p:spPr>
          <a:noFill/>
        </p:spPr>
        <p:txBody>
          <a:bodyPr/>
          <a:lstStyle/>
          <a:p>
            <a:r>
              <a:rPr lang="en-US" dirty="0" smtClean="0"/>
              <a:t>Software FMEA</a:t>
            </a:r>
          </a:p>
        </p:txBody>
      </p:sp>
      <p:sp>
        <p:nvSpPr>
          <p:cNvPr id="158725" name="Date Placeholder 4"/>
          <p:cNvSpPr>
            <a:spLocks noGrp="1"/>
          </p:cNvSpPr>
          <p:nvPr>
            <p:ph type="dt" sz="quarter" idx="1"/>
          </p:nvPr>
        </p:nvSpPr>
        <p:spPr>
          <a:noFill/>
        </p:spPr>
        <p:txBody>
          <a:bodyPr/>
          <a:lstStyle/>
          <a:p>
            <a:endParaRPr lang="en-US" dirty="0" smtClean="0"/>
          </a:p>
        </p:txBody>
      </p:sp>
      <p:sp>
        <p:nvSpPr>
          <p:cNvPr id="158726" name="Footer Placeholder 5"/>
          <p:cNvSpPr>
            <a:spLocks noGrp="1"/>
          </p:cNvSpPr>
          <p:nvPr>
            <p:ph type="ftr" sz="quarter" idx="4"/>
          </p:nvPr>
        </p:nvSpPr>
        <p:spPr>
          <a:noFill/>
        </p:spPr>
        <p:txBody>
          <a:bodyPr/>
          <a:lstStyle/>
          <a:p>
            <a:r>
              <a:rPr lang="en-US" dirty="0" smtClean="0"/>
              <a:t>© SoftRel, LLC 2010 This material may not be reprinted in part or in whole without written permission from Ann Marie Neufelder.</a:t>
            </a:r>
          </a:p>
        </p:txBody>
      </p:sp>
      <p:sp>
        <p:nvSpPr>
          <p:cNvPr id="158727" name="Slide Number Placeholder 6"/>
          <p:cNvSpPr>
            <a:spLocks noGrp="1"/>
          </p:cNvSpPr>
          <p:nvPr>
            <p:ph type="sldNum" sz="quarter" idx="5"/>
          </p:nvPr>
        </p:nvSpPr>
        <p:spPr>
          <a:noFill/>
        </p:spPr>
        <p:txBody>
          <a:bodyPr/>
          <a:lstStyle/>
          <a:p>
            <a:fld id="{2458D202-E149-48E2-8EFD-6087D43B379B}" type="slidenum">
              <a:rPr lang="en-US" smtClean="0"/>
              <a:pPr/>
              <a:t>46</a:t>
            </a:fld>
            <a:endParaRPr lang="en-US" dirty="0" smtClean="0"/>
          </a:p>
        </p:txBody>
      </p:sp>
    </p:spTree>
    <p:extLst>
      <p:ext uri="{BB962C8B-B14F-4D97-AF65-F5344CB8AC3E}">
        <p14:creationId xmlns:p14="http://schemas.microsoft.com/office/powerpoint/2010/main" val="34302061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hdr" sz="quarter"/>
          </p:nvPr>
        </p:nvSpPr>
        <p:spPr>
          <a:noFill/>
        </p:spPr>
        <p:txBody>
          <a:bodyPr/>
          <a:lstStyle/>
          <a:p>
            <a:r>
              <a:rPr lang="en-US" dirty="0" smtClean="0"/>
              <a:t>Software FMEA</a:t>
            </a:r>
          </a:p>
        </p:txBody>
      </p:sp>
      <p:sp>
        <p:nvSpPr>
          <p:cNvPr id="159747" name="Rectangle 3"/>
          <p:cNvSpPr>
            <a:spLocks noGrp="1" noChangeArrowheads="1"/>
          </p:cNvSpPr>
          <p:nvPr>
            <p:ph type="dt" sz="quarter" idx="1"/>
          </p:nvPr>
        </p:nvSpPr>
        <p:spPr>
          <a:noFill/>
        </p:spPr>
        <p:txBody>
          <a:bodyPr/>
          <a:lstStyle/>
          <a:p>
            <a:endParaRPr lang="en-US" dirty="0" smtClean="0"/>
          </a:p>
        </p:txBody>
      </p:sp>
      <p:sp>
        <p:nvSpPr>
          <p:cNvPr id="159748" name="Rectangle 6"/>
          <p:cNvSpPr>
            <a:spLocks noGrp="1" noChangeArrowheads="1"/>
          </p:cNvSpPr>
          <p:nvPr>
            <p:ph type="ftr" sz="quarter" idx="4"/>
          </p:nvPr>
        </p:nvSpPr>
        <p:spPr>
          <a:noFill/>
        </p:spPr>
        <p:txBody>
          <a:bodyPr/>
          <a:lstStyle/>
          <a:p>
            <a:pPr defTabSz="943489"/>
            <a:r>
              <a:rPr lang="en-US" dirty="0" smtClean="0"/>
              <a:t>© SoftRel, LLC 2010 This material may not be reprinted in part or in whole without written permission from Ann Marie Neufelder</a:t>
            </a:r>
          </a:p>
        </p:txBody>
      </p:sp>
      <p:sp>
        <p:nvSpPr>
          <p:cNvPr id="159749" name="Rectangle 7"/>
          <p:cNvSpPr>
            <a:spLocks noGrp="1" noChangeArrowheads="1"/>
          </p:cNvSpPr>
          <p:nvPr>
            <p:ph type="sldNum" sz="quarter" idx="5"/>
          </p:nvPr>
        </p:nvSpPr>
        <p:spPr>
          <a:noFill/>
        </p:spPr>
        <p:txBody>
          <a:bodyPr/>
          <a:lstStyle/>
          <a:p>
            <a:fld id="{99111845-24A8-4420-BA46-E1C4E6860DA6}" type="slidenum">
              <a:rPr lang="en-US" smtClean="0"/>
              <a:pPr/>
              <a:t>49</a:t>
            </a:fld>
            <a:endParaRPr lang="en-US" dirty="0" smtClean="0"/>
          </a:p>
        </p:txBody>
      </p:sp>
      <p:sp>
        <p:nvSpPr>
          <p:cNvPr id="159750" name="Rectangle 2"/>
          <p:cNvSpPr>
            <a:spLocks noGrp="1" noRot="1" noChangeAspect="1" noChangeArrowheads="1" noTextEdit="1"/>
          </p:cNvSpPr>
          <p:nvPr>
            <p:ph type="sldImg"/>
          </p:nvPr>
        </p:nvSpPr>
        <p:spPr>
          <a:xfrm>
            <a:off x="841375" y="576263"/>
            <a:ext cx="5632450" cy="4224337"/>
          </a:xfrm>
          <a:ln/>
        </p:spPr>
      </p:sp>
      <p:sp>
        <p:nvSpPr>
          <p:cNvPr id="159751" name="Rectangle 3"/>
          <p:cNvSpPr>
            <a:spLocks noGrp="1" noChangeArrowheads="1"/>
          </p:cNvSpPr>
          <p:nvPr>
            <p:ph type="body" idx="1"/>
          </p:nvPr>
        </p:nvSpPr>
        <p:spPr>
          <a:xfrm>
            <a:off x="976345" y="4323249"/>
            <a:ext cx="5362511" cy="4715963"/>
          </a:xfrm>
          <a:noFill/>
          <a:ln/>
        </p:spPr>
        <p:txBody>
          <a:bodyPr/>
          <a:lstStyle/>
          <a:p>
            <a:pPr defTabSz="901741" eaLnBrk="1" hangingPunct="1">
              <a:lnSpc>
                <a:spcPct val="80000"/>
              </a:lnSpc>
              <a:spcBef>
                <a:spcPct val="0"/>
              </a:spcBef>
            </a:pPr>
            <a:endParaRPr kumimoji="0" lang="en-US" sz="900" dirty="0" smtClean="0">
              <a:latin typeface="Arial" charset="0"/>
            </a:endParaRPr>
          </a:p>
          <a:p>
            <a:pPr defTabSz="901741" eaLnBrk="1" hangingPunct="1">
              <a:lnSpc>
                <a:spcPct val="80000"/>
              </a:lnSpc>
              <a:spcBef>
                <a:spcPct val="0"/>
              </a:spcBef>
            </a:pPr>
            <a:endParaRPr kumimoji="0" lang="en-US" sz="700" dirty="0" smtClean="0">
              <a:latin typeface="Arial" charset="0"/>
            </a:endParaRPr>
          </a:p>
        </p:txBody>
      </p:sp>
    </p:spTree>
    <p:extLst>
      <p:ext uri="{BB962C8B-B14F-4D97-AF65-F5344CB8AC3E}">
        <p14:creationId xmlns:p14="http://schemas.microsoft.com/office/powerpoint/2010/main" val="517806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48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924612660"/>
      </p:ext>
    </p:extLst>
  </p:cSld>
  <p:clrMapOvr>
    <a:masterClrMapping/>
  </p:clrMapOvr>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a:xfrm>
            <a:off x="152400" y="457199"/>
            <a:ext cx="8763000" cy="457201"/>
          </a:xfrm>
        </p:spPr>
        <p:txBody>
          <a:bodyPr>
            <a:normAutofit/>
          </a:bodyPr>
          <a:lstStyle>
            <a:lvl1pPr>
              <a:defRPr sz="3200"/>
            </a:lvl1pPr>
          </a:lstStyle>
          <a:p>
            <a:r>
              <a:rPr lang="en-US" dirty="0" smtClean="0"/>
              <a:t>Click to edit Master title style</a:t>
            </a:r>
            <a:endParaRPr lang="en-US" dirty="0"/>
          </a:p>
        </p:txBody>
      </p:sp>
      <p:sp>
        <p:nvSpPr>
          <p:cNvPr id="3" name="Content Placeholder 2"/>
          <p:cNvSpPr>
            <a:spLocks noGrp="1"/>
          </p:cNvSpPr>
          <p:nvPr>
            <p:ph idx="1"/>
          </p:nvPr>
        </p:nvSpPr>
        <p:spPr>
          <a:xfrm>
            <a:off x="152400" y="922986"/>
            <a:ext cx="8458200" cy="543336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7" name="Slide Number Placeholder 3"/>
          <p:cNvSpPr txBox="1">
            <a:spLocks/>
          </p:cNvSpPr>
          <p:nvPr userDrawn="1"/>
        </p:nvSpPr>
        <p:spPr>
          <a:xfrm>
            <a:off x="0" y="6538913"/>
            <a:ext cx="533400" cy="304800"/>
          </a:xfrm>
          <a:prstGeom prst="rect">
            <a:avLst/>
          </a:prstGeom>
        </p:spPr>
        <p:txBody>
          <a:bodyPr anchor="ctr">
            <a:normAutofit/>
          </a:bodyPr>
          <a:lstStyle>
            <a:lvl1pPr>
              <a:defRPr>
                <a:solidFill>
                  <a:schemeClr val="tx2"/>
                </a:solidFill>
              </a:defRPr>
            </a:lvl1pPr>
          </a:lstStyle>
          <a:p>
            <a:pPr algn="ctr">
              <a:defRPr/>
            </a:pPr>
            <a:fld id="{56FF26D6-3CE2-431E-BAB8-0F58EAFEBD6C}"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1069943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54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dirty="0" smtClean="0"/>
              <a:t>Click to edit Master title style</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C63EF900-2E96-4EB4-9236-E3E3DE957E74}" type="slidenum">
              <a:rPr lang="en-US" smtClean="0"/>
              <a:pPr>
                <a:defRPr/>
              </a:pPr>
              <a:t>‹#›</a:t>
            </a:fld>
            <a:endParaRPr lang="en-US" dirty="0"/>
          </a:p>
        </p:txBody>
      </p:sp>
    </p:spTree>
    <p:extLst>
      <p:ext uri="{BB962C8B-B14F-4D97-AF65-F5344CB8AC3E}">
        <p14:creationId xmlns:p14="http://schemas.microsoft.com/office/powerpoint/2010/main" val="3656982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20675"/>
            <a:ext cx="8763000" cy="517526"/>
          </a:xfrm>
        </p:spPr>
        <p:txBody>
          <a:bodyPr>
            <a:noAutofit/>
          </a:bodyPr>
          <a:lstStyle>
            <a:lvl1pPr>
              <a:defRPr sz="3200"/>
            </a:lvl1pPr>
          </a:lstStyle>
          <a:p>
            <a:r>
              <a:rPr lang="en-US" smtClean="0"/>
              <a:t>Click to edit Master title style</a:t>
            </a:r>
            <a:endParaRPr lang="en-US" dirty="0"/>
          </a:p>
        </p:txBody>
      </p:sp>
      <p:sp>
        <p:nvSpPr>
          <p:cNvPr id="3" name="Content Placeholder 2"/>
          <p:cNvSpPr>
            <a:spLocks noGrp="1"/>
          </p:cNvSpPr>
          <p:nvPr>
            <p:ph sz="half" idx="1"/>
          </p:nvPr>
        </p:nvSpPr>
        <p:spPr>
          <a:xfrm>
            <a:off x="178158" y="1040172"/>
            <a:ext cx="3936642"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27314" y="1040172"/>
            <a:ext cx="4383285"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0C96C056-5F68-4925-9918-3C55B47410CC}" type="slidenum">
              <a:rPr lang="en-US" smtClean="0"/>
              <a:pPr>
                <a:defRPr/>
              </a:pPr>
              <a:t>‹#›</a:t>
            </a:fld>
            <a:endParaRPr lang="en-US" dirty="0"/>
          </a:p>
        </p:txBody>
      </p:sp>
      <p:sp>
        <p:nvSpPr>
          <p:cNvPr id="8" name="Slide Number Placeholder 3"/>
          <p:cNvSpPr txBox="1">
            <a:spLocks/>
          </p:cNvSpPr>
          <p:nvPr userDrawn="1"/>
        </p:nvSpPr>
        <p:spPr>
          <a:xfrm>
            <a:off x="0" y="6517448"/>
            <a:ext cx="533400" cy="304800"/>
          </a:xfrm>
          <a:prstGeom prst="rect">
            <a:avLst/>
          </a:prstGeom>
        </p:spPr>
        <p:txBody>
          <a:bodyPr anchor="ctr">
            <a:normAutofit/>
          </a:bodyPr>
          <a:lstStyle>
            <a:lvl1pPr>
              <a:defRPr>
                <a:solidFill>
                  <a:schemeClr val="tx2"/>
                </a:solidFill>
              </a:defRPr>
            </a:lvl1pPr>
          </a:lstStyle>
          <a:p>
            <a:pPr algn="ctr">
              <a:defRPr/>
            </a:pPr>
            <a:fld id="{2C8F5581-036D-4F7C-BDC8-6AA44297181F}"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364853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840000" y="2505075"/>
            <a:ext cx="3768912"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6" name="Content Placeholder 5"/>
          <p:cNvSpPr>
            <a:spLocks noGrp="1"/>
          </p:cNvSpPr>
          <p:nvPr>
            <p:ph sz="quarter" idx="4"/>
          </p:nvPr>
        </p:nvSpPr>
        <p:spPr>
          <a:xfrm>
            <a:off x="4739880" y="2505075"/>
            <a:ext cx="377666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B30B2857-D1A7-4FB9-B448-DF10CE38EB25}" type="slidenum">
              <a:rPr lang="en-US" smtClean="0"/>
              <a:pPr>
                <a:defRPr/>
              </a:pPr>
              <a:t>‹#›</a:t>
            </a:fld>
            <a:endParaRPr lang="en-US" dirty="0"/>
          </a:p>
        </p:txBody>
      </p:sp>
      <p:sp>
        <p:nvSpPr>
          <p:cNvPr id="10" name="Slide Number Placeholder 3"/>
          <p:cNvSpPr txBox="1">
            <a:spLocks/>
          </p:cNvSpPr>
          <p:nvPr userDrawn="1"/>
        </p:nvSpPr>
        <p:spPr>
          <a:xfrm>
            <a:off x="0" y="1219200"/>
            <a:ext cx="533400" cy="304800"/>
          </a:xfrm>
          <a:prstGeom prst="rect">
            <a:avLst/>
          </a:prstGeom>
        </p:spPr>
        <p:txBody>
          <a:bodyPr anchor="ctr">
            <a:normAutofit/>
          </a:bodyPr>
          <a:lstStyle>
            <a:lvl1pPr>
              <a:defRPr>
                <a:solidFill>
                  <a:schemeClr val="tx2"/>
                </a:solidFill>
              </a:defRPr>
            </a:lvl1pPr>
          </a:lstStyle>
          <a:p>
            <a:pPr algn="ctr">
              <a:defRPr/>
            </a:pPr>
            <a:fld id="{507FCA9E-7953-4567-9316-A17BA77862DD}"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2314534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78CA14FD-A9BF-4D1C-8A02-2238969D0366}" type="slidenum">
              <a:rPr lang="en-US" smtClean="0"/>
              <a:pPr>
                <a:defRPr/>
              </a:pPr>
              <a:t>‹#›</a:t>
            </a:fld>
            <a:endParaRPr lang="en-US" dirty="0"/>
          </a:p>
        </p:txBody>
      </p:sp>
      <p:sp>
        <p:nvSpPr>
          <p:cNvPr id="6" name="Slide Number Placeholder 3"/>
          <p:cNvSpPr txBox="1">
            <a:spLocks/>
          </p:cNvSpPr>
          <p:nvPr userDrawn="1"/>
        </p:nvSpPr>
        <p:spPr>
          <a:xfrm>
            <a:off x="0" y="1219200"/>
            <a:ext cx="533400" cy="304800"/>
          </a:xfrm>
          <a:prstGeom prst="rect">
            <a:avLst/>
          </a:prstGeom>
        </p:spPr>
        <p:txBody>
          <a:bodyPr anchor="ctr">
            <a:normAutofit/>
          </a:bodyPr>
          <a:lstStyle>
            <a:lvl1pPr>
              <a:defRPr>
                <a:solidFill>
                  <a:schemeClr val="tx2"/>
                </a:solidFill>
              </a:defRPr>
            </a:lvl1pPr>
          </a:lstStyle>
          <a:p>
            <a:pPr algn="ctr">
              <a:defRPr/>
            </a:pPr>
            <a:fld id="{A0F00718-DEC9-4417-90DB-C659831E968B}"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1070836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D95B7E41-6EF1-4CE3-8EC5-8A9660D2F1C7}" type="slidenum">
              <a:rPr lang="en-US" smtClean="0"/>
              <a:pPr>
                <a:defRPr/>
              </a:pPr>
              <a:t>‹#›</a:t>
            </a:fld>
            <a:endParaRPr lang="en-US" dirty="0"/>
          </a:p>
        </p:txBody>
      </p:sp>
    </p:spTree>
    <p:extLst>
      <p:ext uri="{BB962C8B-B14F-4D97-AF65-F5344CB8AC3E}">
        <p14:creationId xmlns:p14="http://schemas.microsoft.com/office/powerpoint/2010/main" val="1372348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B43FB56D-4E69-431E-845B-9DCD6DD02397}" type="slidenum">
              <a:rPr lang="en-US" smtClean="0"/>
              <a:pPr>
                <a:defRPr/>
              </a:pPr>
              <a:t>‹#›</a:t>
            </a:fld>
            <a:endParaRPr lang="en-US" dirty="0"/>
          </a:p>
        </p:txBody>
      </p:sp>
      <p:sp>
        <p:nvSpPr>
          <p:cNvPr id="8" name="Slide Number Placeholder 3"/>
          <p:cNvSpPr txBox="1">
            <a:spLocks/>
          </p:cNvSpPr>
          <p:nvPr userDrawn="1"/>
        </p:nvSpPr>
        <p:spPr>
          <a:xfrm>
            <a:off x="0" y="1219200"/>
            <a:ext cx="533400" cy="304800"/>
          </a:xfrm>
          <a:prstGeom prst="rect">
            <a:avLst/>
          </a:prstGeom>
        </p:spPr>
        <p:txBody>
          <a:bodyPr anchor="ctr">
            <a:normAutofit/>
          </a:bodyPr>
          <a:lstStyle>
            <a:lvl1pPr>
              <a:defRPr>
                <a:solidFill>
                  <a:schemeClr val="tx2"/>
                </a:solidFill>
              </a:defRPr>
            </a:lvl1pPr>
          </a:lstStyle>
          <a:p>
            <a:pPr algn="ctr">
              <a:defRPr/>
            </a:pPr>
            <a:fld id="{CBCA24E4-CBD4-45D1-B6DB-E41FB1B2F112}"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4256560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smtClean="0"/>
              <a:t>Click icon to add picture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25BEC155-5E0B-4BDD-85B4-8D85BEBB1D54}" type="slidenum">
              <a:rPr lang="en-US" smtClean="0"/>
              <a:pPr>
                <a:defRPr/>
              </a:pPr>
              <a:t>‹#›</a:t>
            </a:fld>
            <a:endParaRPr lang="en-US" dirty="0"/>
          </a:p>
        </p:txBody>
      </p:sp>
    </p:spTree>
    <p:extLst>
      <p:ext uri="{BB962C8B-B14F-4D97-AF65-F5344CB8AC3E}">
        <p14:creationId xmlns:p14="http://schemas.microsoft.com/office/powerpoint/2010/main" val="269738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smtClean="0"/>
              <a:t>Click icon to add picture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1840564765"/>
      </p:ext>
    </p:extLst>
  </p:cSld>
  <p:clrMapOvr>
    <a:masterClrMapping/>
  </p:clrMapOvr>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en-US" smtClean="0"/>
              <a:t>Click to edit Master title style</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2845599587"/>
      </p:ext>
    </p:extLst>
  </p:cSld>
  <p:clrMapOvr>
    <a:masterClrMapping/>
  </p:clrMapOvr>
  <p:hf sldNum="0"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046221807"/>
      </p:ext>
    </p:extLst>
  </p:cSld>
  <p:clrMapOvr>
    <a:masterClrMapping/>
  </p:clrMapOvr>
  <p:hf sldNum="0"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en-US" smtClean="0"/>
              <a:t>Click to edit Master title style</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803403624"/>
      </p:ext>
    </p:extLst>
  </p:cSld>
  <p:clrMapOvr>
    <a:masterClrMapping/>
  </p:clrMapOvr>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smtClean="0"/>
              <a:t>Click to edit Master text styles</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1/7/2016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3543991637"/>
      </p:ext>
    </p:extLst>
  </p:cSld>
  <p:clrMapOvr>
    <a:masterClrMapping/>
  </p:clrMapOvr>
  <p:hf sldNum="0"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1/7/2016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1559924760"/>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1/7/2016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432B862A-B9EC-4153-8E76-EDB0F0AAE860}" type="slidenum">
              <a:rPr lang="en-US" smtClean="0"/>
              <a:pPr>
                <a:defRPr/>
              </a:pPr>
              <a:t>‹#›</a:t>
            </a:fld>
            <a:endParaRPr lang="en-US" dirty="0"/>
          </a:p>
        </p:txBody>
      </p:sp>
      <p:sp>
        <p:nvSpPr>
          <p:cNvPr id="7" name="Slide Number Placeholder 3"/>
          <p:cNvSpPr txBox="1">
            <a:spLocks/>
          </p:cNvSpPr>
          <p:nvPr userDrawn="1"/>
        </p:nvSpPr>
        <p:spPr>
          <a:xfrm>
            <a:off x="0" y="1219200"/>
            <a:ext cx="533400" cy="304800"/>
          </a:xfrm>
          <a:prstGeom prst="rect">
            <a:avLst/>
          </a:prstGeom>
        </p:spPr>
        <p:txBody>
          <a:bodyPr anchor="ctr">
            <a:normAutofit/>
          </a:bodyPr>
          <a:lstStyle>
            <a:lvl1pPr>
              <a:defRPr>
                <a:solidFill>
                  <a:schemeClr val="tx2"/>
                </a:solidFill>
              </a:defRPr>
            </a:lvl1pPr>
          </a:lstStyle>
          <a:p>
            <a:pPr algn="ctr">
              <a:defRPr/>
            </a:pPr>
            <a:fld id="{CC76FE27-B7D5-44DE-BAAA-125397A2E49C}" type="slidenum">
              <a:rPr lang="en-US" sz="1400" smtClean="0">
                <a:solidFill>
                  <a:schemeClr val="tx1"/>
                </a:solidFill>
              </a:rPr>
              <a:pPr algn="ctr">
                <a:defRPr/>
              </a:pPr>
              <a:t>‹#›</a:t>
            </a:fld>
            <a:endParaRPr lang="en-US" sz="1400" dirty="0">
              <a:solidFill>
                <a:schemeClr val="tx1"/>
              </a:solidFill>
            </a:endParaRPr>
          </a:p>
        </p:txBody>
      </p:sp>
    </p:spTree>
    <p:extLst>
      <p:ext uri="{BB962C8B-B14F-4D97-AF65-F5344CB8AC3E}">
        <p14:creationId xmlns:p14="http://schemas.microsoft.com/office/powerpoint/2010/main" val="283278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87B2ECCA-5551-413F-9E52-B7A787EBC83B}" type="slidenum">
              <a:rPr lang="en-US" smtClean="0"/>
              <a:pPr>
                <a:defRPr/>
              </a:pPr>
              <a:t>‹#›</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21FFE4C6-5CDA-4A21-8A13-81A24E7202A1}" type="slidenum">
              <a:rPr lang="en-US" smtClean="0"/>
              <a:pPr>
                <a:defRPr/>
              </a:pPr>
              <a:t>‹#›</a:t>
            </a:fld>
            <a:endParaRPr lang="en-US" dirty="0"/>
          </a:p>
        </p:txBody>
      </p:sp>
    </p:spTree>
    <p:extLst>
      <p:ext uri="{BB962C8B-B14F-4D97-AF65-F5344CB8AC3E}">
        <p14:creationId xmlns:p14="http://schemas.microsoft.com/office/powerpoint/2010/main" val="112213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dirty="0"/>
              <a:t>1/7/2016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en-US" dirty="0"/>
              <a:t>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pPr>
              <a:defRPr/>
            </a:pPr>
            <a:fld id="{F04386FF-021B-48BB-945F-89045564AF04}" type="slidenum">
              <a:rPr lang="en-US" smtClean="0"/>
              <a:pPr>
                <a:defRPr/>
              </a:pPr>
              <a:t>‹#›</a:t>
            </a:fld>
            <a:endParaRPr lang="en-US" dirty="0"/>
          </a:p>
        </p:txBody>
      </p:sp>
    </p:spTree>
    <p:extLst>
      <p:ext uri="{BB962C8B-B14F-4D97-AF65-F5344CB8AC3E}">
        <p14:creationId xmlns:p14="http://schemas.microsoft.com/office/powerpoint/2010/main" val="992669993"/>
      </p:ext>
    </p:extLst>
  </p:cSld>
  <p:clrMap bg1="dk1" tx1="lt1" bg2="dk2" tx2="lt2" accent1="accent1" accent2="accent2" accent3="accent3" accent4="accent4" accent5="accent5" accent6="accent6" hlink="hlink" folHlink="folHlink"/>
  <p:sldLayoutIdLst>
    <p:sldLayoutId id="2147484316" r:id="rId1"/>
    <p:sldLayoutId id="2147484317" r:id="rId2"/>
    <p:sldLayoutId id="2147484318" r:id="rId3"/>
    <p:sldLayoutId id="2147484319" r:id="rId4"/>
    <p:sldLayoutId id="2147484320" r:id="rId5"/>
    <p:sldLayoutId id="2147484321" r:id="rId6"/>
    <p:sldLayoutId id="2147484322" r:id="rId7"/>
    <p:sldLayoutId id="2147484323" r:id="rId8"/>
    <p:sldLayoutId id="2147484324" r:id="rId9"/>
    <p:sldLayoutId id="2147484325" r:id="rId10"/>
    <p:sldLayoutId id="2147484326" r:id="rId11"/>
    <p:sldLayoutId id="2147484327" r:id="rId12"/>
    <p:sldLayoutId id="2147484328" r:id="rId13"/>
    <p:sldLayoutId id="2147484329" r:id="rId14"/>
    <p:sldLayoutId id="2147484330" r:id="rId15"/>
    <p:sldLayoutId id="2147484331" r:id="rId16"/>
    <p:sldLayoutId id="2147484332" r:id="rId17"/>
  </p:sldLayoutIdLst>
  <p:hf sldNum="0" hdr="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oftre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hyperlink" Target="http://www.softrel.com/5SFMEAToolkit.htm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softrel.com/5SWFMEATraining.ht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www.softrel.com/5SFMEAToolkit.html"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softrel.com/5SFMEAToolkit.htm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www.softrel.com/5SFMEAToolkit.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softrel.com/5SFMEAToolkit.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www.softrel.com/5SFMEAToolkit.html" TargetMode="External"/><Relationship Id="rId2" Type="http://schemas.openxmlformats.org/officeDocument/2006/relationships/hyperlink" Target="http://www.softrel.com/5SWFMEATraining.html" TargetMode="External"/><Relationship Id="rId1" Type="http://schemas.openxmlformats.org/officeDocument/2006/relationships/slideLayout" Target="../slideLayouts/slideLayout2.xml"/><Relationship Id="rId4" Type="http://schemas.openxmlformats.org/officeDocument/2006/relationships/hyperlink" Target="http://www.softrel.com/Resume1.html"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cwe.mitre.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0" y="1243277"/>
            <a:ext cx="9144000" cy="1194650"/>
          </a:xfrm>
        </p:spPr>
        <p:txBody>
          <a:bodyPr>
            <a:normAutofit fontScale="90000"/>
          </a:bodyPr>
          <a:lstStyle/>
          <a:p>
            <a:pPr algn="ctr"/>
            <a:r>
              <a:rPr lang="en-US" dirty="0" smtClean="0"/>
              <a:t>An </a:t>
            </a:r>
            <a:r>
              <a:rPr lang="en-US" smtClean="0"/>
              <a:t>Introduction to Software </a:t>
            </a:r>
            <a:r>
              <a:rPr lang="en-US" dirty="0" smtClean="0"/>
              <a:t/>
            </a:r>
            <a:br>
              <a:rPr lang="en-US" dirty="0" smtClean="0"/>
            </a:br>
            <a:r>
              <a:rPr lang="en-US" dirty="0" smtClean="0"/>
              <a:t>Failure </a:t>
            </a:r>
            <a:r>
              <a:rPr lang="en-US" dirty="0"/>
              <a:t>Modes </a:t>
            </a:r>
            <a:r>
              <a:rPr lang="en-US"/>
              <a:t>Effects </a:t>
            </a:r>
            <a:r>
              <a:rPr lang="en-US" smtClean="0"/>
              <a:t>Analysis (SFMEA)</a:t>
            </a:r>
            <a:endParaRPr lang="en-US" dirty="0"/>
          </a:p>
        </p:txBody>
      </p:sp>
      <p:sp>
        <p:nvSpPr>
          <p:cNvPr id="7" name="Subtitle 6"/>
          <p:cNvSpPr>
            <a:spLocks noGrp="1"/>
          </p:cNvSpPr>
          <p:nvPr>
            <p:ph type="subTitle" idx="1"/>
          </p:nvPr>
        </p:nvSpPr>
        <p:spPr>
          <a:xfrm>
            <a:off x="457200" y="3829878"/>
            <a:ext cx="8058149" cy="618523"/>
          </a:xfrm>
        </p:spPr>
        <p:txBody>
          <a:bodyPr>
            <a:normAutofit fontScale="25000" lnSpcReduction="20000"/>
          </a:bodyPr>
          <a:lstStyle/>
          <a:p>
            <a:pPr algn="ctr"/>
            <a:r>
              <a:rPr lang="en-US" sz="9600" b="1" dirty="0" smtClean="0"/>
              <a:t>Ann Marie Neufelder</a:t>
            </a:r>
          </a:p>
          <a:p>
            <a:pPr algn="ctr"/>
            <a:r>
              <a:rPr lang="en-US" sz="9600" b="1" dirty="0" smtClean="0"/>
              <a:t>© </a:t>
            </a:r>
            <a:r>
              <a:rPr lang="en-US" sz="9600" b="1" dirty="0"/>
              <a:t>SoftRel, LLC, </a:t>
            </a:r>
            <a:r>
              <a:rPr lang="en-US" sz="9600" b="1" dirty="0" smtClean="0"/>
              <a:t>2015</a:t>
            </a:r>
            <a:endParaRPr lang="en-US" sz="9600" b="1" dirty="0"/>
          </a:p>
          <a:p>
            <a:pPr algn="ctr"/>
            <a:r>
              <a:rPr lang="en-US" sz="9600" b="1" dirty="0" smtClean="0"/>
              <a:t>amneufelder@softrel.com</a:t>
            </a:r>
            <a:endParaRPr lang="en-US" sz="9600" b="1" dirty="0"/>
          </a:p>
          <a:p>
            <a:pPr algn="ctr"/>
            <a:r>
              <a:rPr lang="en-US" sz="9600" b="1" dirty="0" smtClean="0">
                <a:hlinkClick r:id="rId3"/>
              </a:rPr>
              <a:t>www.softrel.com</a:t>
            </a:r>
            <a:endParaRPr lang="en-US" sz="9600" b="1" dirty="0" smtClean="0"/>
          </a:p>
          <a:p>
            <a:endParaRPr lang="en-US" dirty="0"/>
          </a:p>
        </p:txBody>
      </p:sp>
      <p:sp>
        <p:nvSpPr>
          <p:cNvPr id="2" name="Rectangle 1"/>
          <p:cNvSpPr/>
          <p:nvPr/>
        </p:nvSpPr>
        <p:spPr>
          <a:xfrm>
            <a:off x="190500" y="6172200"/>
            <a:ext cx="8763000" cy="523220"/>
          </a:xfrm>
          <a:prstGeom prst="rect">
            <a:avLst/>
          </a:prstGeom>
        </p:spPr>
        <p:txBody>
          <a:bodyPr wrap="square">
            <a:spAutoFit/>
          </a:bodyPr>
          <a:lstStyle/>
          <a:p>
            <a:pPr algn="ctr">
              <a:defRPr/>
            </a:pPr>
            <a:r>
              <a:rPr lang="en-US" sz="1400" b="0" dirty="0" smtClean="0"/>
              <a:t>© SoftRel</a:t>
            </a:r>
            <a:r>
              <a:rPr lang="en-US" sz="1400" b="0" dirty="0"/>
              <a:t>, LLC </a:t>
            </a:r>
            <a:r>
              <a:rPr lang="en-US" sz="1400" b="0" dirty="0" smtClean="0"/>
              <a:t>2015 </a:t>
            </a:r>
            <a:r>
              <a:rPr lang="en-US" sz="1400" b="0" dirty="0"/>
              <a:t>This material may not be reprinted in part or in whole without written permission from Ann Marie Neufelder.</a:t>
            </a:r>
          </a:p>
        </p:txBody>
      </p:sp>
    </p:spTree>
    <p:extLst>
      <p:ext uri="{BB962C8B-B14F-4D97-AF65-F5344CB8AC3E}">
        <p14:creationId xmlns:p14="http://schemas.microsoft.com/office/powerpoint/2010/main" val="1445587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357909" y="152400"/>
            <a:ext cx="7886700" cy="625474"/>
          </a:xfrm>
        </p:spPr>
        <p:txBody>
          <a:bodyPr/>
          <a:lstStyle/>
          <a:p>
            <a:pPr eaLnBrk="1" hangingPunct="1"/>
            <a:r>
              <a:rPr lang="en-US" sz="3200" dirty="0" smtClean="0"/>
              <a:t>Agenda</a:t>
            </a:r>
          </a:p>
        </p:txBody>
      </p:sp>
      <p:sp>
        <p:nvSpPr>
          <p:cNvPr id="18435" name="Content Placeholder 2"/>
          <p:cNvSpPr>
            <a:spLocks noGrp="1"/>
          </p:cNvSpPr>
          <p:nvPr>
            <p:ph idx="1"/>
          </p:nvPr>
        </p:nvSpPr>
        <p:spPr>
          <a:xfrm>
            <a:off x="344462" y="742015"/>
            <a:ext cx="7675350" cy="4351338"/>
          </a:xfrm>
        </p:spPr>
        <p:txBody>
          <a:bodyPr>
            <a:noAutofit/>
          </a:bodyPr>
          <a:lstStyle/>
          <a:p>
            <a:pPr marL="457200" indent="-457200" eaLnBrk="1" hangingPunct="1">
              <a:buFont typeface="Tw Cen MT" pitchFamily="34" charset="0"/>
              <a:buAutoNum type="arabicPeriod"/>
            </a:pPr>
            <a:r>
              <a:rPr lang="en-US" sz="2000" dirty="0" smtClean="0"/>
              <a:t>Overview </a:t>
            </a:r>
          </a:p>
          <a:p>
            <a:pPr marL="457200" indent="-457200" eaLnBrk="1" hangingPunct="1">
              <a:buFont typeface="Tw Cen MT" pitchFamily="34" charset="0"/>
              <a:buAutoNum type="arabicPeriod"/>
            </a:pPr>
            <a:r>
              <a:rPr lang="en-US" sz="2000" dirty="0" smtClean="0"/>
              <a:t>Prepare the SFMEA</a:t>
            </a:r>
          </a:p>
          <a:p>
            <a:pPr marL="777875" lvl="1" indent="-457200" eaLnBrk="1" hangingPunct="1"/>
            <a:r>
              <a:rPr lang="en-US" sz="1800" dirty="0" smtClean="0"/>
              <a:t>Identify scope of SFMEA</a:t>
            </a:r>
          </a:p>
          <a:p>
            <a:pPr marL="777875" lvl="1" indent="-457200" eaLnBrk="1" hangingPunct="1"/>
            <a:r>
              <a:rPr lang="en-US" sz="1800" dirty="0" smtClean="0"/>
              <a:t>Identify resources required</a:t>
            </a:r>
          </a:p>
          <a:p>
            <a:pPr marL="457200" indent="-457200" eaLnBrk="1" hangingPunct="1">
              <a:buFont typeface="Tw Cen MT" pitchFamily="34" charset="0"/>
              <a:buAutoNum type="arabicPeriod"/>
            </a:pPr>
            <a:r>
              <a:rPr lang="en-US" sz="2000" dirty="0" smtClean="0"/>
              <a:t>Analyze the software failure modes and root causes</a:t>
            </a:r>
          </a:p>
          <a:p>
            <a:pPr marL="777875" lvl="1" indent="-457200" eaLnBrk="1" hangingPunct="1"/>
            <a:r>
              <a:rPr lang="en-US" sz="1800" dirty="0" smtClean="0"/>
              <a:t>Research past failure modes</a:t>
            </a:r>
          </a:p>
          <a:p>
            <a:pPr marL="777875" lvl="1" indent="-457200" eaLnBrk="1" hangingPunct="1"/>
            <a:r>
              <a:rPr lang="en-US" sz="1800" dirty="0" smtClean="0"/>
              <a:t>Brainstorm failure modes</a:t>
            </a:r>
          </a:p>
          <a:p>
            <a:pPr marL="777875" lvl="1" indent="-457200" eaLnBrk="1" hangingPunct="1"/>
            <a:r>
              <a:rPr lang="en-US" sz="1800" dirty="0" smtClean="0"/>
              <a:t>Analyze failure modes and root causes</a:t>
            </a:r>
          </a:p>
          <a:p>
            <a:pPr marL="457200" indent="-457200" eaLnBrk="1" hangingPunct="1">
              <a:buFont typeface="Tw Cen MT" pitchFamily="34" charset="0"/>
              <a:buAutoNum type="arabicPeriod"/>
            </a:pPr>
            <a:r>
              <a:rPr lang="en-US" sz="2000" dirty="0" smtClean="0"/>
              <a:t>Analyze consequences</a:t>
            </a:r>
          </a:p>
          <a:p>
            <a:pPr marL="777875" lvl="1" indent="-457200" eaLnBrk="1" hangingPunct="1"/>
            <a:r>
              <a:rPr lang="en-US" sz="1800" dirty="0" smtClean="0"/>
              <a:t>Identify subsystem, system effects, patient and user effects</a:t>
            </a:r>
          </a:p>
          <a:p>
            <a:pPr marL="777875" lvl="1" indent="-457200" eaLnBrk="1" hangingPunct="1"/>
            <a:r>
              <a:rPr lang="en-US" sz="1800" dirty="0" smtClean="0"/>
              <a:t>Identify preventive measures</a:t>
            </a:r>
          </a:p>
          <a:p>
            <a:pPr marL="777875" lvl="1" indent="-457200" eaLnBrk="1" hangingPunct="1"/>
            <a:r>
              <a:rPr lang="en-US" sz="1800" dirty="0" smtClean="0"/>
              <a:t>Identify severity and likelihood</a:t>
            </a:r>
          </a:p>
          <a:p>
            <a:pPr marL="457200" indent="-457200" eaLnBrk="1" hangingPunct="1">
              <a:buFont typeface="Tw Cen MT" pitchFamily="34" charset="0"/>
              <a:buAutoNum type="arabicPeriod"/>
            </a:pPr>
            <a:r>
              <a:rPr lang="en-US" sz="2000" dirty="0" smtClean="0"/>
              <a:t>Identify mitigation</a:t>
            </a:r>
          </a:p>
          <a:p>
            <a:pPr marL="777875" lvl="1" indent="-457200" eaLnBrk="1" hangingPunct="1"/>
            <a:r>
              <a:rPr lang="en-US" sz="1800" dirty="0" smtClean="0"/>
              <a:t>Identify corrective actions</a:t>
            </a:r>
          </a:p>
          <a:p>
            <a:pPr marL="777875" lvl="1" indent="-457200" eaLnBrk="1" hangingPunct="1"/>
            <a:r>
              <a:rPr lang="en-US" sz="1800" dirty="0" smtClean="0"/>
              <a:t>Identify compensating provisions</a:t>
            </a:r>
          </a:p>
          <a:p>
            <a:pPr marL="777875" lvl="1" indent="-457200" eaLnBrk="1" hangingPunct="1"/>
            <a:r>
              <a:rPr lang="en-US" sz="1800" dirty="0" smtClean="0"/>
              <a:t>Revise RPN</a:t>
            </a:r>
          </a:p>
          <a:p>
            <a:pPr marL="457200" indent="-457200" eaLnBrk="1" hangingPunct="1">
              <a:buFont typeface="Tw Cen MT" pitchFamily="34" charset="0"/>
              <a:buAutoNum type="arabicPeriod"/>
            </a:pPr>
            <a:r>
              <a:rPr lang="en-US" sz="2000" dirty="0" smtClean="0"/>
              <a:t>Avoid common mistakes</a:t>
            </a:r>
          </a:p>
        </p:txBody>
      </p:sp>
      <p:sp>
        <p:nvSpPr>
          <p:cNvPr id="4" name="Rectangle 3"/>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59" y="491983"/>
            <a:ext cx="8763000" cy="457201"/>
          </a:xfrm>
        </p:spPr>
        <p:txBody>
          <a:bodyPr>
            <a:noAutofit/>
          </a:bodyPr>
          <a:lstStyle/>
          <a:p>
            <a:r>
              <a:rPr lang="en-US" sz="3600" dirty="0" smtClean="0"/>
              <a:t>Software is increasing in size</a:t>
            </a:r>
            <a:endParaRPr lang="en-US" sz="3600" dirty="0"/>
          </a:p>
        </p:txBody>
      </p:sp>
      <p:sp>
        <p:nvSpPr>
          <p:cNvPr id="3" name="Content Placeholder 2"/>
          <p:cNvSpPr>
            <a:spLocks noGrp="1"/>
          </p:cNvSpPr>
          <p:nvPr>
            <p:ph idx="1"/>
          </p:nvPr>
        </p:nvSpPr>
        <p:spPr>
          <a:xfrm>
            <a:off x="188259" y="1222610"/>
            <a:ext cx="8153400" cy="4572000"/>
          </a:xfrm>
        </p:spPr>
        <p:txBody>
          <a:bodyPr>
            <a:normAutofit/>
          </a:bodyPr>
          <a:lstStyle/>
          <a:p>
            <a:r>
              <a:rPr lang="en-US" dirty="0" smtClean="0"/>
              <a:t>The increase in size of F16A to F35 is just one example[1] </a:t>
            </a:r>
          </a:p>
          <a:p>
            <a:r>
              <a:rPr lang="en-US" dirty="0"/>
              <a:t>With increased size comes increased complexity and increased failures due to </a:t>
            </a:r>
            <a:r>
              <a:rPr lang="en-US" dirty="0" smtClean="0"/>
              <a:t>software as shown next</a:t>
            </a:r>
            <a:endParaRPr lang="en-US" dirty="0"/>
          </a:p>
        </p:txBody>
      </p:sp>
      <p:sp>
        <p:nvSpPr>
          <p:cNvPr id="4" name="TextBox 4"/>
          <p:cNvSpPr txBox="1">
            <a:spLocks noChangeArrowheads="1"/>
          </p:cNvSpPr>
          <p:nvPr/>
        </p:nvSpPr>
        <p:spPr bwMode="auto">
          <a:xfrm>
            <a:off x="152400" y="122095"/>
            <a:ext cx="5562600" cy="369888"/>
          </a:xfrm>
          <a:prstGeom prst="rect">
            <a:avLst/>
          </a:prstGeom>
          <a:noFill/>
          <a:ln w="9525">
            <a:noFill/>
            <a:miter lim="800000"/>
            <a:headEnd/>
            <a:tailEnd/>
          </a:ln>
        </p:spPr>
        <p:txBody>
          <a:bodyPr>
            <a:spAutoFit/>
          </a:bodyPr>
          <a:lstStyle/>
          <a:p>
            <a:r>
              <a:rPr lang="en-US" dirty="0">
                <a:solidFill>
                  <a:schemeClr val="tx2"/>
                </a:solidFill>
              </a:rPr>
              <a:t>1.0 </a:t>
            </a:r>
            <a:r>
              <a:rPr lang="en-US" dirty="0" smtClean="0">
                <a:solidFill>
                  <a:schemeClr val="tx2"/>
                </a:solidFill>
              </a:rPr>
              <a:t>Introduction</a:t>
            </a:r>
            <a:endParaRPr lang="en-US" dirty="0">
              <a:solidFill>
                <a:schemeClr val="tx2"/>
              </a:solidFill>
            </a:endParaRPr>
          </a:p>
        </p:txBody>
      </p:sp>
      <p:graphicFrame>
        <p:nvGraphicFramePr>
          <p:cNvPr id="8" name="Chart 7"/>
          <p:cNvGraphicFramePr>
            <a:graphicFrameLocks/>
          </p:cNvGraphicFramePr>
          <p:nvPr>
            <p:extLst/>
          </p:nvPr>
        </p:nvGraphicFramePr>
        <p:xfrm>
          <a:off x="762000" y="2525902"/>
          <a:ext cx="7467600" cy="3576918"/>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1553389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Just a </a:t>
            </a:r>
            <a:r>
              <a:rPr lang="en-US" i="1" dirty="0" smtClean="0">
                <a:solidFill>
                  <a:schemeClr val="accent6">
                    <a:lumMod val="20000"/>
                    <a:lumOff val="80000"/>
                  </a:schemeClr>
                </a:solidFill>
              </a:rPr>
              <a:t>few</a:t>
            </a:r>
            <a:r>
              <a:rPr lang="en-US" dirty="0" smtClean="0"/>
              <a:t> failure events due to software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71275949"/>
              </p:ext>
            </p:extLst>
          </p:nvPr>
        </p:nvGraphicFramePr>
        <p:xfrm>
          <a:off x="179294" y="932329"/>
          <a:ext cx="8763000" cy="5532120"/>
        </p:xfrm>
        <a:graphic>
          <a:graphicData uri="http://schemas.openxmlformats.org/drawingml/2006/table">
            <a:tbl>
              <a:tblPr>
                <a:tableStyleId>{D7AC3CCA-C797-4891-BE02-D94E43425B78}</a:tableStyleId>
              </a:tblPr>
              <a:tblGrid>
                <a:gridCol w="3783106"/>
                <a:gridCol w="4979894"/>
              </a:tblGrid>
              <a:tr h="108611">
                <a:tc>
                  <a:txBody>
                    <a:bodyPr/>
                    <a:lstStyle/>
                    <a:p>
                      <a:pPr marL="0" marR="118745" hangingPunct="0">
                        <a:spcBef>
                          <a:spcPts val="0"/>
                        </a:spcBef>
                        <a:spcAft>
                          <a:spcPts val="600"/>
                        </a:spcAft>
                        <a:tabLst>
                          <a:tab pos="228600" algn="l"/>
                          <a:tab pos="571500" algn="l"/>
                        </a:tabLst>
                      </a:pPr>
                      <a:r>
                        <a:rPr lang="en-US" sz="1700" dirty="0">
                          <a:effectLst/>
                        </a:rPr>
                        <a:t>Failure Event</a:t>
                      </a:r>
                      <a:endParaRPr lang="en-US" sz="1700" b="1" dirty="0">
                        <a:effectLst/>
                        <a:latin typeface="Times New Roman" panose="02020603050405020304" pitchFamily="18" charset="0"/>
                        <a:ea typeface="Times New Roman" panose="02020603050405020304" pitchFamily="18" charset="0"/>
                      </a:endParaRPr>
                    </a:p>
                  </a:txBody>
                  <a:tcPr marL="48986" marR="48986" marT="0" marB="0"/>
                </a:tc>
                <a:tc>
                  <a:txBody>
                    <a:bodyPr/>
                    <a:lstStyle/>
                    <a:p>
                      <a:pPr marL="0" marR="0" hangingPunct="0">
                        <a:spcBef>
                          <a:spcPts val="0"/>
                        </a:spcBef>
                        <a:spcAft>
                          <a:spcPts val="0"/>
                        </a:spcAft>
                      </a:pPr>
                      <a:r>
                        <a:rPr lang="en-US" sz="1700" kern="1200" dirty="0">
                          <a:effectLst/>
                        </a:rPr>
                        <a:t>Associated software fault</a:t>
                      </a:r>
                      <a:endParaRPr lang="en-US" sz="1700" b="1" dirty="0">
                        <a:effectLst/>
                        <a:latin typeface="Times New Roman" panose="02020603050405020304" pitchFamily="18" charset="0"/>
                        <a:ea typeface="Times New Roman" panose="02020603050405020304" pitchFamily="18" charset="0"/>
                      </a:endParaRPr>
                    </a:p>
                  </a:txBody>
                  <a:tcPr marL="48986" marR="48986" marT="0" marB="0"/>
                </a:tc>
              </a:tr>
              <a:tr h="319316">
                <a:tc>
                  <a:txBody>
                    <a:bodyPr/>
                    <a:lstStyle/>
                    <a:p>
                      <a:pPr marL="0" marR="118745" hangingPunct="0">
                        <a:spcBef>
                          <a:spcPts val="0"/>
                        </a:spcBef>
                        <a:spcAft>
                          <a:spcPts val="600"/>
                        </a:spcAft>
                        <a:tabLst>
                          <a:tab pos="228600" algn="l"/>
                          <a:tab pos="571500" algn="l"/>
                        </a:tabLst>
                      </a:pPr>
                      <a:r>
                        <a:rPr lang="en-US" sz="1700" dirty="0">
                          <a:effectLst/>
                        </a:rPr>
                        <a:t>Several patients suffered radiation overdose from the Therac 25 equipment in the mid-1980s.  [THERAC]</a:t>
                      </a:r>
                      <a:endParaRPr lang="en-US" sz="1700" dirty="0">
                        <a:effectLst/>
                        <a:latin typeface="+mn-lt"/>
                        <a:ea typeface="Times New Roman" panose="02020603050405020304" pitchFamily="18" charset="0"/>
                      </a:endParaRPr>
                    </a:p>
                  </a:txBody>
                  <a:tcPr marL="48986" marR="48986" marT="0" marB="0"/>
                </a:tc>
                <a:tc>
                  <a:txBody>
                    <a:bodyPr/>
                    <a:lstStyle/>
                    <a:p>
                      <a:pPr marL="0" marR="0" hangingPunct="0">
                        <a:spcBef>
                          <a:spcPts val="0"/>
                        </a:spcBef>
                        <a:spcAft>
                          <a:spcPts val="0"/>
                        </a:spcAft>
                      </a:pPr>
                      <a:r>
                        <a:rPr lang="en-US" sz="1700" kern="1200" dirty="0">
                          <a:effectLst/>
                        </a:rPr>
                        <a:t>A race condition combined with ambiguous error messages and missing hardware overrides.</a:t>
                      </a:r>
                      <a:endParaRPr lang="en-US" sz="1700" dirty="0">
                        <a:effectLst/>
                        <a:latin typeface="+mn-lt"/>
                        <a:ea typeface="Times New Roman" panose="02020603050405020304" pitchFamily="18" charset="0"/>
                      </a:endParaRPr>
                    </a:p>
                  </a:txBody>
                  <a:tcPr marL="48986" marR="48986" marT="0" marB="0"/>
                </a:tc>
              </a:tr>
              <a:tr h="319316">
                <a:tc>
                  <a:txBody>
                    <a:bodyPr/>
                    <a:lstStyle/>
                    <a:p>
                      <a:pPr marL="0" marR="118745" hangingPunct="0">
                        <a:spcBef>
                          <a:spcPts val="0"/>
                        </a:spcBef>
                        <a:spcAft>
                          <a:spcPts val="600"/>
                        </a:spcAft>
                        <a:tabLst>
                          <a:tab pos="228600" algn="l"/>
                          <a:tab pos="571500" algn="l"/>
                        </a:tabLst>
                      </a:pPr>
                      <a:r>
                        <a:rPr lang="en-US" sz="1700" kern="1200" dirty="0">
                          <a:effectLst/>
                        </a:rPr>
                        <a:t>AT&amp;T long distance service was down for 9 hours in January 1991. [AT&amp;T]</a:t>
                      </a:r>
                      <a:endParaRPr lang="en-US" sz="1700" dirty="0">
                        <a:effectLst/>
                        <a:latin typeface="+mn-lt"/>
                        <a:ea typeface="Times New Roman" panose="02020603050405020304" pitchFamily="18" charset="0"/>
                      </a:endParaRPr>
                    </a:p>
                  </a:txBody>
                  <a:tcPr marL="48986" marR="48986" marT="0" marB="0"/>
                </a:tc>
                <a:tc>
                  <a:txBody>
                    <a:bodyPr/>
                    <a:lstStyle/>
                    <a:p>
                      <a:pPr marL="0" marR="0" hangingPunct="0">
                        <a:spcBef>
                          <a:spcPts val="0"/>
                        </a:spcBef>
                        <a:spcAft>
                          <a:spcPts val="0"/>
                        </a:spcAft>
                      </a:pPr>
                      <a:r>
                        <a:rPr lang="en-US" sz="1700" kern="1200" dirty="0">
                          <a:effectLst/>
                        </a:rPr>
                        <a:t>An improperly placed “break” statement was introduced into the code while making another change.</a:t>
                      </a:r>
                      <a:endParaRPr lang="en-US" sz="1700" dirty="0">
                        <a:effectLst/>
                        <a:latin typeface="+mn-lt"/>
                        <a:ea typeface="Times New Roman" panose="02020603050405020304" pitchFamily="18" charset="0"/>
                      </a:endParaRPr>
                    </a:p>
                  </a:txBody>
                  <a:tcPr marL="48986" marR="48986" marT="0" marB="0"/>
                </a:tc>
              </a:tr>
              <a:tr h="217222">
                <a:tc>
                  <a:txBody>
                    <a:bodyPr/>
                    <a:lstStyle/>
                    <a:p>
                      <a:pPr marL="0" marR="118745" hangingPunct="0">
                        <a:spcBef>
                          <a:spcPts val="0"/>
                        </a:spcBef>
                        <a:spcAft>
                          <a:spcPts val="600"/>
                        </a:spcAft>
                        <a:tabLst>
                          <a:tab pos="228600" algn="l"/>
                          <a:tab pos="571500" algn="l"/>
                        </a:tabLst>
                      </a:pPr>
                      <a:r>
                        <a:rPr lang="en-US" sz="1700" dirty="0">
                          <a:effectLst/>
                        </a:rPr>
                        <a:t>Ariane 5 Explosion in 1996. [ARIAN5]</a:t>
                      </a:r>
                      <a:endParaRPr lang="en-US" sz="1700" dirty="0">
                        <a:effectLst/>
                        <a:latin typeface="+mn-lt"/>
                        <a:ea typeface="Times New Roman" panose="02020603050405020304" pitchFamily="18" charset="0"/>
                      </a:endParaRPr>
                    </a:p>
                  </a:txBody>
                  <a:tcPr marL="48986" marR="48986" marT="0" marB="0"/>
                </a:tc>
                <a:tc>
                  <a:txBody>
                    <a:bodyPr/>
                    <a:lstStyle/>
                    <a:p>
                      <a:pPr marL="0" marR="118745" hangingPunct="0">
                        <a:spcBef>
                          <a:spcPts val="0"/>
                        </a:spcBef>
                        <a:spcAft>
                          <a:spcPts val="600"/>
                        </a:spcAft>
                        <a:tabLst>
                          <a:tab pos="228600" algn="l"/>
                          <a:tab pos="571500" algn="l"/>
                        </a:tabLst>
                      </a:pPr>
                      <a:r>
                        <a:rPr lang="en-US" sz="1700" dirty="0">
                          <a:effectLst/>
                        </a:rPr>
                        <a:t>An unhandled mismatch between 64 bit and 16 bit format.  </a:t>
                      </a:r>
                      <a:endParaRPr lang="en-US" sz="1700" dirty="0">
                        <a:effectLst/>
                        <a:latin typeface="+mn-lt"/>
                        <a:ea typeface="Times New Roman" panose="02020603050405020304" pitchFamily="18" charset="0"/>
                      </a:endParaRPr>
                    </a:p>
                  </a:txBody>
                  <a:tcPr marL="48986" marR="48986" marT="0" marB="0"/>
                </a:tc>
              </a:tr>
              <a:tr h="609600">
                <a:tc>
                  <a:txBody>
                    <a:bodyPr/>
                    <a:lstStyle/>
                    <a:p>
                      <a:pPr marL="0" marR="118745" hangingPunct="0">
                        <a:spcBef>
                          <a:spcPts val="0"/>
                        </a:spcBef>
                        <a:spcAft>
                          <a:spcPts val="600"/>
                        </a:spcAft>
                        <a:tabLst>
                          <a:tab pos="228600" algn="l"/>
                          <a:tab pos="571500" algn="l"/>
                        </a:tabLst>
                      </a:pPr>
                      <a:r>
                        <a:rPr lang="en-US" sz="1700" dirty="0">
                          <a:effectLst/>
                        </a:rPr>
                        <a:t>NASA Mars Climate Orbiter crash in 1999.[MARS]</a:t>
                      </a:r>
                      <a:endParaRPr lang="en-US" sz="1700" dirty="0">
                        <a:effectLst/>
                        <a:latin typeface="+mn-lt"/>
                        <a:ea typeface="Times New Roman" panose="02020603050405020304" pitchFamily="18" charset="0"/>
                      </a:endParaRPr>
                    </a:p>
                  </a:txBody>
                  <a:tcPr marL="48986" marR="48986" marT="0" marB="0"/>
                </a:tc>
                <a:tc>
                  <a:txBody>
                    <a:bodyPr/>
                    <a:lstStyle/>
                    <a:p>
                      <a:pPr marL="0" marR="0" hangingPunct="0">
                        <a:spcBef>
                          <a:spcPts val="0"/>
                        </a:spcBef>
                        <a:spcAft>
                          <a:spcPts val="0"/>
                        </a:spcAft>
                      </a:pPr>
                      <a:r>
                        <a:rPr lang="en-US" sz="1700" kern="1200" dirty="0">
                          <a:effectLst/>
                        </a:rPr>
                        <a:t>Metric/English unit mismatch. </a:t>
                      </a:r>
                      <a:r>
                        <a:rPr lang="en-US" sz="1700" dirty="0">
                          <a:effectLst/>
                        </a:rPr>
                        <a:t>Mars Climate Orbiter was written to take thrust instructions using the metric unit </a:t>
                      </a:r>
                      <a:r>
                        <a:rPr lang="en-US" sz="1700" u="sng" dirty="0">
                          <a:effectLst/>
                        </a:rPr>
                        <a:t>Newton</a:t>
                      </a:r>
                      <a:r>
                        <a:rPr lang="en-US" sz="1700" dirty="0">
                          <a:effectLst/>
                        </a:rPr>
                        <a:t> (N), while the software on the ground that generated those instructions used the Imperial measure </a:t>
                      </a:r>
                      <a:r>
                        <a:rPr lang="en-US" sz="1700" u="sng" dirty="0">
                          <a:effectLst/>
                        </a:rPr>
                        <a:t>pound-force</a:t>
                      </a:r>
                      <a:r>
                        <a:rPr lang="en-US" sz="1700" dirty="0">
                          <a:effectLst/>
                        </a:rPr>
                        <a:t> (lbf).</a:t>
                      </a:r>
                      <a:endParaRPr lang="en-US" sz="1700" dirty="0">
                        <a:solidFill>
                          <a:schemeClr val="bg1"/>
                        </a:solidFill>
                        <a:effectLst/>
                        <a:latin typeface="+mn-lt"/>
                        <a:ea typeface="Times New Roman" panose="02020603050405020304" pitchFamily="18" charset="0"/>
                      </a:endParaRPr>
                    </a:p>
                  </a:txBody>
                  <a:tcPr marL="48986" marR="48986" marT="0" marB="0"/>
                </a:tc>
              </a:tr>
              <a:tr h="609600">
                <a:tc>
                  <a:txBody>
                    <a:bodyPr/>
                    <a:lstStyle/>
                    <a:p>
                      <a:pPr marL="0" marR="118745" hangingPunct="0">
                        <a:spcBef>
                          <a:spcPts val="0"/>
                        </a:spcBef>
                        <a:spcAft>
                          <a:spcPts val="600"/>
                        </a:spcAft>
                        <a:tabLst>
                          <a:tab pos="228600" algn="l"/>
                          <a:tab pos="571500" algn="l"/>
                        </a:tabLst>
                      </a:pPr>
                      <a:r>
                        <a:rPr lang="en-US" sz="1700" dirty="0">
                          <a:effectLst/>
                        </a:rPr>
                        <a:t>28 cancer patients were over-radiated in Panama City in 2000. [PANAMA]</a:t>
                      </a:r>
                      <a:endParaRPr lang="en-US" sz="17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hangingPunct="0">
                        <a:spcBef>
                          <a:spcPts val="0"/>
                        </a:spcBef>
                        <a:spcAft>
                          <a:spcPts val="0"/>
                        </a:spcAft>
                      </a:pPr>
                      <a:r>
                        <a:rPr lang="en-US" sz="1700" kern="1200" dirty="0">
                          <a:effectLst/>
                        </a:rPr>
                        <a:t>The software was reconfigured in a manner that had not been tested by the manufacturer.</a:t>
                      </a:r>
                      <a:endParaRPr lang="en-US" sz="1700" dirty="0">
                        <a:effectLst/>
                        <a:latin typeface="+mn-lt"/>
                        <a:ea typeface="Times New Roman" panose="02020603050405020304" pitchFamily="18" charset="0"/>
                        <a:cs typeface="Times New Roman" panose="02020603050405020304" pitchFamily="18" charset="0"/>
                      </a:endParaRPr>
                    </a:p>
                  </a:txBody>
                  <a:tcPr marL="68580" marR="68580" marT="0" marB="0"/>
                </a:tc>
              </a:tr>
              <a:tr h="365760">
                <a:tc>
                  <a:txBody>
                    <a:bodyPr/>
                    <a:lstStyle/>
                    <a:p>
                      <a:pPr marL="0" marR="0" hangingPunct="0">
                        <a:spcBef>
                          <a:spcPts val="0"/>
                        </a:spcBef>
                        <a:spcAft>
                          <a:spcPts val="0"/>
                        </a:spcAft>
                      </a:pPr>
                      <a:r>
                        <a:rPr lang="en-US" sz="1700" dirty="0">
                          <a:effectLst/>
                        </a:rPr>
                        <a:t>On October 8</a:t>
                      </a:r>
                      <a:r>
                        <a:rPr lang="en-US" sz="1700" baseline="30000" dirty="0">
                          <a:effectLst/>
                        </a:rPr>
                        <a:t>th</a:t>
                      </a:r>
                      <a:r>
                        <a:rPr lang="en-US" sz="1700" dirty="0">
                          <a:effectLst/>
                        </a:rPr>
                        <a:t>, 2005, The European Space Agency's CryoSat-1 satellite was lost shortly after launching.  </a:t>
                      </a:r>
                      <a:r>
                        <a:rPr lang="en-GB" sz="1700" dirty="0">
                          <a:effectLst/>
                        </a:rPr>
                        <a:t>[CRYOSAT]</a:t>
                      </a:r>
                      <a:endParaRPr lang="en-US" sz="1700" dirty="0">
                        <a:effectLst/>
                        <a:latin typeface="+mn-lt"/>
                        <a:ea typeface="Times New Roman" panose="02020603050405020304" pitchFamily="18" charset="0"/>
                      </a:endParaRPr>
                    </a:p>
                  </a:txBody>
                  <a:tcPr marL="68580" marR="68580" marT="0" marB="0"/>
                </a:tc>
                <a:tc>
                  <a:txBody>
                    <a:bodyPr/>
                    <a:lstStyle/>
                    <a:p>
                      <a:pPr marL="0" marR="0" fontAlgn="auto" hangingPunct="1">
                        <a:spcBef>
                          <a:spcPts val="0"/>
                        </a:spcBef>
                        <a:spcAft>
                          <a:spcPts val="0"/>
                        </a:spcAft>
                      </a:pPr>
                      <a:r>
                        <a:rPr lang="en-GB" sz="1700" dirty="0">
                          <a:effectLst/>
                        </a:rPr>
                        <a:t>Flight Control System code was missing a required command from the on-board flight control system to the main engine.</a:t>
                      </a:r>
                      <a:endParaRPr lang="en-US" sz="1700" dirty="0">
                        <a:effectLst/>
                        <a:latin typeface="+mn-lt"/>
                        <a:ea typeface="Times New Roman" panose="02020603050405020304" pitchFamily="18" charset="0"/>
                      </a:endParaRPr>
                    </a:p>
                  </a:txBody>
                  <a:tcPr marL="68580" marR="68580" marT="0" marB="0"/>
                </a:tc>
              </a:tr>
              <a:tr h="365760">
                <a:tc>
                  <a:txBody>
                    <a:bodyPr/>
                    <a:lstStyle/>
                    <a:p>
                      <a:pPr marL="0" marR="118745" hangingPunct="0">
                        <a:spcBef>
                          <a:spcPts val="0"/>
                        </a:spcBef>
                        <a:spcAft>
                          <a:spcPts val="600"/>
                        </a:spcAft>
                        <a:tabLst>
                          <a:tab pos="228600" algn="l"/>
                          <a:tab pos="571500" algn="l"/>
                        </a:tabLst>
                      </a:pPr>
                      <a:r>
                        <a:rPr lang="en-US" sz="1700" dirty="0">
                          <a:effectLst/>
                        </a:rPr>
                        <a:t>A rail car fire in a major underground metro system in April 2007. [RAILCAR]</a:t>
                      </a:r>
                      <a:endParaRPr lang="en-US" sz="1700" dirty="0">
                        <a:effectLst/>
                        <a:latin typeface="+mn-lt"/>
                        <a:ea typeface="Times New Roman" panose="02020603050405020304" pitchFamily="18" charset="0"/>
                      </a:endParaRPr>
                    </a:p>
                  </a:txBody>
                  <a:tcPr marL="68580" marR="68580" marT="0" marB="0"/>
                </a:tc>
                <a:tc>
                  <a:txBody>
                    <a:bodyPr/>
                    <a:lstStyle/>
                    <a:p>
                      <a:pPr marL="0" marR="0" fontAlgn="auto" hangingPunct="1">
                        <a:spcBef>
                          <a:spcPts val="0"/>
                        </a:spcBef>
                        <a:spcAft>
                          <a:spcPts val="0"/>
                        </a:spcAft>
                      </a:pPr>
                      <a:r>
                        <a:rPr lang="en-US" sz="1700" dirty="0">
                          <a:effectLst/>
                        </a:rPr>
                        <a:t>Missing error detection and recovery by the software. </a:t>
                      </a:r>
                      <a:endParaRPr lang="en-US" sz="1700" dirty="0">
                        <a:effectLst/>
                        <a:latin typeface="+mn-lt"/>
                        <a:ea typeface="Times New Roman" panose="02020603050405020304" pitchFamily="18" charset="0"/>
                      </a:endParaRPr>
                    </a:p>
                  </a:txBody>
                  <a:tcPr marL="68580" marR="68580" marT="0" marB="0"/>
                </a:tc>
              </a:tr>
            </a:tbl>
          </a:graphicData>
        </a:graphic>
      </p:graphicFrame>
      <p:sp>
        <p:nvSpPr>
          <p:cNvPr id="5" name="TextBox 4"/>
          <p:cNvSpPr txBox="1">
            <a:spLocks noChangeArrowheads="1"/>
          </p:cNvSpPr>
          <p:nvPr/>
        </p:nvSpPr>
        <p:spPr bwMode="auto">
          <a:xfrm>
            <a:off x="246529" y="180182"/>
            <a:ext cx="5562600" cy="369888"/>
          </a:xfrm>
          <a:prstGeom prst="rect">
            <a:avLst/>
          </a:prstGeom>
          <a:noFill/>
          <a:ln w="9525">
            <a:noFill/>
            <a:miter lim="800000"/>
            <a:headEnd/>
            <a:tailEnd/>
          </a:ln>
        </p:spPr>
        <p:txBody>
          <a:bodyPr>
            <a:spAutoFit/>
          </a:bodyPr>
          <a:lstStyle/>
          <a:p>
            <a:r>
              <a:rPr lang="en-US" dirty="0">
                <a:solidFill>
                  <a:schemeClr val="tx2"/>
                </a:solidFill>
              </a:rPr>
              <a:t>1.0 </a:t>
            </a:r>
            <a:r>
              <a:rPr lang="en-US" dirty="0" smtClean="0">
                <a:solidFill>
                  <a:schemeClr val="tx2"/>
                </a:solidFill>
              </a:rPr>
              <a:t>Introduction</a:t>
            </a:r>
            <a:endParaRPr lang="en-US" dirty="0">
              <a:solidFill>
                <a:schemeClr val="tx2"/>
              </a:solidFill>
            </a:endParaRPr>
          </a:p>
        </p:txBody>
      </p:sp>
      <p:sp>
        <p:nvSpPr>
          <p:cNvPr id="6" name="Rectangle 5"/>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532922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52400" y="642143"/>
            <a:ext cx="8763000" cy="457201"/>
          </a:xfrm>
        </p:spPr>
        <p:txBody>
          <a:bodyPr>
            <a:noAutofit/>
          </a:bodyPr>
          <a:lstStyle/>
          <a:p>
            <a:pPr eaLnBrk="1" hangingPunct="1"/>
            <a:r>
              <a:rPr lang="en-US" sz="3600" dirty="0" smtClean="0"/>
              <a:t>Terms</a:t>
            </a:r>
          </a:p>
        </p:txBody>
      </p:sp>
      <p:sp>
        <p:nvSpPr>
          <p:cNvPr id="20483" name="Rectangle 3"/>
          <p:cNvSpPr>
            <a:spLocks noGrp="1" noChangeArrowheads="1"/>
          </p:cNvSpPr>
          <p:nvPr>
            <p:ph idx="1"/>
          </p:nvPr>
        </p:nvSpPr>
        <p:spPr>
          <a:xfrm>
            <a:off x="381000" y="1099344"/>
            <a:ext cx="8534400" cy="4351338"/>
          </a:xfrm>
        </p:spPr>
        <p:txBody>
          <a:bodyPr>
            <a:noAutofit/>
          </a:bodyPr>
          <a:lstStyle/>
          <a:p>
            <a:pPr eaLnBrk="1" hangingPunct="1"/>
            <a:r>
              <a:rPr lang="en-US" dirty="0" smtClean="0"/>
              <a:t>Failure mode – The means by which the software could contribute to a system failure</a:t>
            </a:r>
          </a:p>
          <a:p>
            <a:pPr eaLnBrk="1" hangingPunct="1"/>
            <a:r>
              <a:rPr lang="en-US" dirty="0" smtClean="0"/>
              <a:t>Effect – Behavior that results from that failure</a:t>
            </a:r>
          </a:p>
          <a:p>
            <a:pPr eaLnBrk="1" hangingPunct="1"/>
            <a:r>
              <a:rPr lang="en-US" dirty="0" smtClean="0"/>
              <a:t>SFMECA – Software Failure Modes Effects Criticality Analysis includes a severity and likelihood ranking used for prioritizing corrective actions</a:t>
            </a:r>
          </a:p>
          <a:p>
            <a:pPr eaLnBrk="1" hangingPunct="1"/>
            <a:r>
              <a:rPr lang="en-US" dirty="0" smtClean="0"/>
              <a:t>Error - A discrepancy between a computed, observed, or measured value or condition and the true, specified or theoretically correct value or condition. </a:t>
            </a:r>
          </a:p>
          <a:p>
            <a:pPr eaLnBrk="1" hangingPunct="1"/>
            <a:r>
              <a:rPr lang="en-US" dirty="0" smtClean="0"/>
              <a:t>Defect – The manifestation of an error in the software product such as the requirements, design, or code.  This is also a root cause for a failure event.</a:t>
            </a:r>
          </a:p>
          <a:p>
            <a:pPr eaLnBrk="1" hangingPunct="1"/>
            <a:r>
              <a:rPr lang="en-US" dirty="0" smtClean="0"/>
              <a:t>Fault – A defect that has resulted in one or more failures. </a:t>
            </a:r>
          </a:p>
          <a:p>
            <a:pPr eaLnBrk="1" hangingPunct="1"/>
            <a:endParaRPr lang="en-US" dirty="0" smtClean="0"/>
          </a:p>
          <a:p>
            <a:pPr eaLnBrk="1" hangingPunct="1">
              <a:buNone/>
            </a:pPr>
            <a:endParaRPr lang="en-US" dirty="0" smtClean="0"/>
          </a:p>
          <a:p>
            <a:pPr eaLnBrk="1" hangingPunct="1"/>
            <a:endParaRPr lang="en-US" dirty="0" smtClean="0"/>
          </a:p>
          <a:p>
            <a:pPr eaLnBrk="1" hangingPunct="1">
              <a:buFont typeface="Monotype Sorts" pitchFamily="2" charset="2"/>
              <a:buNone/>
            </a:pPr>
            <a:endParaRPr lang="en-US" sz="3600" dirty="0" smtClean="0"/>
          </a:p>
        </p:txBody>
      </p:sp>
      <p:sp>
        <p:nvSpPr>
          <p:cNvPr id="5" name="TextBox 4"/>
          <p:cNvSpPr txBox="1">
            <a:spLocks noChangeArrowheads="1"/>
          </p:cNvSpPr>
          <p:nvPr/>
        </p:nvSpPr>
        <p:spPr bwMode="auto">
          <a:xfrm>
            <a:off x="152400" y="272255"/>
            <a:ext cx="5562600" cy="369888"/>
          </a:xfrm>
          <a:prstGeom prst="rect">
            <a:avLst/>
          </a:prstGeom>
          <a:noFill/>
          <a:ln w="9525">
            <a:noFill/>
            <a:miter lim="800000"/>
            <a:headEnd/>
            <a:tailEnd/>
          </a:ln>
        </p:spPr>
        <p:txBody>
          <a:bodyPr>
            <a:spAutoFit/>
          </a:bodyPr>
          <a:lstStyle/>
          <a:p>
            <a:r>
              <a:rPr lang="en-US" dirty="0" smtClean="0">
                <a:solidFill>
                  <a:schemeClr val="tx2"/>
                </a:solidFill>
              </a:rPr>
              <a:t>1.1 Software FMEA defined</a:t>
            </a:r>
            <a:endParaRPr lang="en-US" dirty="0">
              <a:solidFill>
                <a:schemeClr val="tx2"/>
              </a:solidFill>
            </a:endParaRPr>
          </a:p>
        </p:txBody>
      </p:sp>
      <p:sp>
        <p:nvSpPr>
          <p:cNvPr id="6" name="Rectangle 5"/>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77660" y="735382"/>
            <a:ext cx="8153400" cy="457200"/>
          </a:xfrm>
        </p:spPr>
        <p:txBody>
          <a:bodyPr>
            <a:normAutofit fontScale="90000"/>
          </a:bodyPr>
          <a:lstStyle/>
          <a:p>
            <a:pPr eaLnBrk="1" hangingPunct="1"/>
            <a:r>
              <a:rPr lang="en-US" sz="2800" dirty="0" smtClean="0"/>
              <a:t>The viewpoint of a SFMEA</a:t>
            </a:r>
          </a:p>
        </p:txBody>
      </p:sp>
      <p:sp>
        <p:nvSpPr>
          <p:cNvPr id="21510" name="AutoShape 7"/>
          <p:cNvSpPr>
            <a:spLocks noChangeArrowheads="1"/>
          </p:cNvSpPr>
          <p:nvPr/>
        </p:nvSpPr>
        <p:spPr bwMode="auto">
          <a:xfrm>
            <a:off x="0" y="3276600"/>
            <a:ext cx="1981200" cy="2590800"/>
          </a:xfrm>
          <a:prstGeom prst="upArrow">
            <a:avLst>
              <a:gd name="adj1" fmla="val 50000"/>
              <a:gd name="adj2" fmla="val 32692"/>
            </a:avLst>
          </a:prstGeom>
          <a:solidFill>
            <a:schemeClr val="bg1"/>
          </a:solidFill>
          <a:ln w="9525">
            <a:solidFill>
              <a:schemeClr val="tx1"/>
            </a:solidFill>
            <a:miter lim="800000"/>
            <a:headEnd/>
            <a:tailEnd/>
          </a:ln>
        </p:spPr>
        <p:txBody>
          <a:bodyPr wrap="none" anchor="ctr"/>
          <a:lstStyle/>
          <a:p>
            <a:r>
              <a:rPr lang="en-US" dirty="0" smtClean="0"/>
              <a:t>SFMEA </a:t>
            </a:r>
          </a:p>
          <a:p>
            <a:r>
              <a:rPr lang="en-US" dirty="0" smtClean="0"/>
              <a:t>works </a:t>
            </a:r>
          </a:p>
          <a:p>
            <a:r>
              <a:rPr lang="en-US" dirty="0" smtClean="0"/>
              <a:t>this way</a:t>
            </a:r>
            <a:endParaRPr lang="en-US" dirty="0"/>
          </a:p>
        </p:txBody>
      </p:sp>
      <p:grpSp>
        <p:nvGrpSpPr>
          <p:cNvPr id="15" name="Group 14"/>
          <p:cNvGrpSpPr/>
          <p:nvPr/>
        </p:nvGrpSpPr>
        <p:grpSpPr>
          <a:xfrm>
            <a:off x="990600" y="919097"/>
            <a:ext cx="7696200" cy="5486400"/>
            <a:chOff x="990600" y="914400"/>
            <a:chExt cx="7696200" cy="5486400"/>
          </a:xfrm>
        </p:grpSpPr>
        <p:sp>
          <p:nvSpPr>
            <p:cNvPr id="13" name="Trapezoid 12"/>
            <p:cNvSpPr/>
            <p:nvPr/>
          </p:nvSpPr>
          <p:spPr>
            <a:xfrm>
              <a:off x="990600" y="5867400"/>
              <a:ext cx="7696200" cy="533400"/>
            </a:xfrm>
            <a:prstGeom prst="trapezoid">
              <a:avLst>
                <a:gd name="adj" fmla="val 8767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Customer and software requirements, architectural design, interface design, code, users manuals</a:t>
              </a:r>
              <a:endParaRPr lang="en-US" sz="1600" dirty="0"/>
            </a:p>
          </p:txBody>
        </p:sp>
        <p:sp>
          <p:nvSpPr>
            <p:cNvPr id="14" name="Trapezoid 13"/>
            <p:cNvSpPr/>
            <p:nvPr/>
          </p:nvSpPr>
          <p:spPr>
            <a:xfrm>
              <a:off x="1447800" y="5334000"/>
              <a:ext cx="6781800" cy="533400"/>
            </a:xfrm>
            <a:prstGeom prst="trapezoid">
              <a:avLst>
                <a:gd name="adj" fmla="val 793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Failure modes and root causes applicable to incorrect requirements, design, code, users manuals</a:t>
              </a:r>
              <a:endParaRPr lang="en-US" sz="1600" dirty="0"/>
            </a:p>
          </p:txBody>
        </p:sp>
        <p:sp>
          <p:nvSpPr>
            <p:cNvPr id="16" name="Trapezoid 15"/>
            <p:cNvSpPr/>
            <p:nvPr/>
          </p:nvSpPr>
          <p:spPr>
            <a:xfrm>
              <a:off x="1828800" y="4800600"/>
              <a:ext cx="6019800" cy="533400"/>
            </a:xfrm>
            <a:prstGeom prst="trapezoid">
              <a:avLst>
                <a:gd name="adj" fmla="val 73848"/>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Immediate Effect (crash, hang, etc.)</a:t>
              </a:r>
              <a:endParaRPr lang="en-US" sz="1600" dirty="0">
                <a:solidFill>
                  <a:schemeClr val="bg1"/>
                </a:solidFill>
              </a:endParaRPr>
            </a:p>
          </p:txBody>
        </p:sp>
        <p:sp>
          <p:nvSpPr>
            <p:cNvPr id="17" name="Trapezoid 16"/>
            <p:cNvSpPr/>
            <p:nvPr/>
          </p:nvSpPr>
          <p:spPr>
            <a:xfrm>
              <a:off x="2209800" y="4267200"/>
              <a:ext cx="5257800" cy="533400"/>
            </a:xfrm>
            <a:prstGeom prst="trapezoid">
              <a:avLst>
                <a:gd name="adj" fmla="val 7108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bg1"/>
                  </a:solidFill>
                </a:rPr>
                <a:t>Effect on subsystem  (loss of data, communications between systems, etc.)</a:t>
              </a:r>
              <a:endParaRPr lang="en-US" sz="1600" dirty="0">
                <a:solidFill>
                  <a:schemeClr val="bg1"/>
                </a:solidFill>
              </a:endParaRPr>
            </a:p>
          </p:txBody>
        </p:sp>
        <p:sp>
          <p:nvSpPr>
            <p:cNvPr id="18" name="Trapezoid 17"/>
            <p:cNvSpPr/>
            <p:nvPr/>
          </p:nvSpPr>
          <p:spPr>
            <a:xfrm>
              <a:off x="2590800" y="3429000"/>
              <a:ext cx="4495800" cy="838200"/>
            </a:xfrm>
            <a:prstGeom prst="trapezoid">
              <a:avLst>
                <a:gd name="adj" fmla="val 6681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Effect on system (loss of system, degradation of system, downtime, etc.)</a:t>
              </a:r>
              <a:endParaRPr lang="en-US" sz="1600" dirty="0"/>
            </a:p>
          </p:txBody>
        </p:sp>
        <p:sp>
          <p:nvSpPr>
            <p:cNvPr id="19" name="Trapezoid 18"/>
            <p:cNvSpPr/>
            <p:nvPr/>
          </p:nvSpPr>
          <p:spPr>
            <a:xfrm>
              <a:off x="3124200" y="914400"/>
              <a:ext cx="3429000" cy="2514600"/>
            </a:xfrm>
            <a:prstGeom prst="trapezoid">
              <a:avLst>
                <a:gd name="adj" fmla="val 6555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Effect on end users</a:t>
              </a:r>
              <a:endParaRPr lang="en-US" sz="1600" dirty="0"/>
            </a:p>
          </p:txBody>
        </p:sp>
      </p:grpSp>
      <p:sp>
        <p:nvSpPr>
          <p:cNvPr id="20" name="Rectangle 19"/>
          <p:cNvSpPr/>
          <p:nvPr/>
        </p:nvSpPr>
        <p:spPr>
          <a:xfrm>
            <a:off x="304800" y="1524000"/>
            <a:ext cx="2743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Visible to SW engineers</a:t>
            </a:r>
            <a:endParaRPr lang="en-US" dirty="0"/>
          </a:p>
        </p:txBody>
      </p:sp>
      <p:sp>
        <p:nvSpPr>
          <p:cNvPr id="21" name="Rectangle 20"/>
          <p:cNvSpPr/>
          <p:nvPr/>
        </p:nvSpPr>
        <p:spPr>
          <a:xfrm>
            <a:off x="304800" y="2286000"/>
            <a:ext cx="2743200" cy="3810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Visible to users</a:t>
            </a:r>
            <a:endParaRPr lang="en-US" dirty="0"/>
          </a:p>
        </p:txBody>
      </p:sp>
      <p:sp>
        <p:nvSpPr>
          <p:cNvPr id="22" name="Rectangle 21"/>
          <p:cNvSpPr/>
          <p:nvPr/>
        </p:nvSpPr>
        <p:spPr>
          <a:xfrm>
            <a:off x="304800" y="2819400"/>
            <a:ext cx="2743200"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Possibly visible to both</a:t>
            </a:r>
            <a:endParaRPr lang="en-US" dirty="0"/>
          </a:p>
        </p:txBody>
      </p:sp>
      <p:sp>
        <p:nvSpPr>
          <p:cNvPr id="23" name="TextBox 4"/>
          <p:cNvSpPr txBox="1">
            <a:spLocks noChangeArrowheads="1"/>
          </p:cNvSpPr>
          <p:nvPr/>
        </p:nvSpPr>
        <p:spPr bwMode="auto">
          <a:xfrm>
            <a:off x="304800" y="182514"/>
            <a:ext cx="5562600" cy="369888"/>
          </a:xfrm>
          <a:prstGeom prst="rect">
            <a:avLst/>
          </a:prstGeom>
          <a:noFill/>
          <a:ln w="9525">
            <a:noFill/>
            <a:miter lim="800000"/>
            <a:headEnd/>
            <a:tailEnd/>
          </a:ln>
        </p:spPr>
        <p:txBody>
          <a:bodyPr>
            <a:spAutoFit/>
          </a:bodyPr>
          <a:lstStyle/>
          <a:p>
            <a:r>
              <a:rPr lang="en-US" dirty="0">
                <a:solidFill>
                  <a:schemeClr val="tx2"/>
                </a:solidFill>
              </a:rPr>
              <a:t>1.1 Software FMEA defined</a:t>
            </a:r>
          </a:p>
        </p:txBody>
      </p:sp>
      <p:sp>
        <p:nvSpPr>
          <p:cNvPr id="24" name="Rectangle 23"/>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959967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Autofit/>
          </a:bodyPr>
          <a:lstStyle/>
          <a:p>
            <a:pPr eaLnBrk="1" hangingPunct="1"/>
            <a:r>
              <a:rPr lang="en-US" sz="3600" dirty="0" smtClean="0"/>
              <a:t>Key benefits of Software FMEAs</a:t>
            </a:r>
          </a:p>
        </p:txBody>
      </p:sp>
      <p:sp>
        <p:nvSpPr>
          <p:cNvPr id="22531" name="Content Placeholder 2"/>
          <p:cNvSpPr>
            <a:spLocks noGrp="1"/>
          </p:cNvSpPr>
          <p:nvPr>
            <p:ph idx="1"/>
          </p:nvPr>
        </p:nvSpPr>
        <p:spPr>
          <a:xfrm>
            <a:off x="304800" y="1066800"/>
            <a:ext cx="7675350" cy="4351338"/>
          </a:xfrm>
        </p:spPr>
        <p:txBody>
          <a:bodyPr>
            <a:noAutofit/>
          </a:bodyPr>
          <a:lstStyle/>
          <a:p>
            <a:pPr eaLnBrk="1" hangingPunct="1"/>
            <a:r>
              <a:rPr lang="en-US" sz="2800" dirty="0" smtClean="0"/>
              <a:t>SFMEAs are useful for identifying</a:t>
            </a:r>
          </a:p>
          <a:p>
            <a:pPr lvl="1" eaLnBrk="1" hangingPunct="1"/>
            <a:r>
              <a:rPr lang="en-US" sz="2400" dirty="0" smtClean="0"/>
              <a:t>Defects that easier to see when looking at the design or code but difficult to see during testing</a:t>
            </a:r>
          </a:p>
          <a:p>
            <a:pPr lvl="2" eaLnBrk="1" hangingPunct="1"/>
            <a:r>
              <a:rPr lang="en-US" sz="2000" dirty="0" smtClean="0"/>
              <a:t>i.e. can be used to improve the efficiency of design or code reviews</a:t>
            </a:r>
          </a:p>
          <a:p>
            <a:pPr lvl="1" eaLnBrk="1" hangingPunct="1"/>
            <a:r>
              <a:rPr lang="en-US" sz="2400" dirty="0" smtClean="0"/>
              <a:t>Single point failures due to software</a:t>
            </a:r>
          </a:p>
          <a:p>
            <a:pPr lvl="1" eaLnBrk="1" hangingPunct="1"/>
            <a:r>
              <a:rPr lang="en-US" sz="2400" dirty="0" smtClean="0"/>
              <a:t>Defects that cannot be addressed by redundancy or other hardware controls</a:t>
            </a:r>
          </a:p>
          <a:p>
            <a:pPr lvl="1" eaLnBrk="1" hangingPunct="1"/>
            <a:r>
              <a:rPr lang="en-US" sz="2400" dirty="0" smtClean="0"/>
              <a:t>Abnormal behavior that might be missing from the requirements or design specifications</a:t>
            </a:r>
          </a:p>
          <a:p>
            <a:pPr lvl="1" eaLnBrk="1" hangingPunct="1"/>
            <a:r>
              <a:rPr lang="en-US" sz="2400" dirty="0" smtClean="0"/>
              <a:t>Unwritten assumptions </a:t>
            </a:r>
          </a:p>
          <a:p>
            <a:pPr lvl="1" eaLnBrk="1" hangingPunct="1"/>
            <a:r>
              <a:rPr lang="en-US" sz="2400" dirty="0" smtClean="0"/>
              <a:t>Features that need fault handling design</a:t>
            </a:r>
          </a:p>
          <a:p>
            <a:pPr eaLnBrk="1" hangingPunct="1"/>
            <a:r>
              <a:rPr lang="en-US" sz="2800" dirty="0" smtClean="0"/>
              <a:t>Addressing one failure mode could mean eliminating several failures</a:t>
            </a:r>
          </a:p>
        </p:txBody>
      </p:sp>
      <p:sp>
        <p:nvSpPr>
          <p:cNvPr id="22532" name="TextBox 4"/>
          <p:cNvSpPr txBox="1">
            <a:spLocks noChangeArrowheads="1"/>
          </p:cNvSpPr>
          <p:nvPr/>
        </p:nvSpPr>
        <p:spPr bwMode="auto">
          <a:xfrm>
            <a:off x="152400" y="87311"/>
            <a:ext cx="5562600" cy="369888"/>
          </a:xfrm>
          <a:prstGeom prst="rect">
            <a:avLst/>
          </a:prstGeom>
          <a:noFill/>
          <a:ln w="9525">
            <a:noFill/>
            <a:miter lim="800000"/>
            <a:headEnd/>
            <a:tailEnd/>
          </a:ln>
        </p:spPr>
        <p:txBody>
          <a:bodyPr>
            <a:spAutoFit/>
          </a:bodyPr>
          <a:lstStyle/>
          <a:p>
            <a:r>
              <a:rPr lang="en-US" dirty="0" smtClean="0">
                <a:solidFill>
                  <a:schemeClr val="tx2"/>
                </a:solidFill>
              </a:rPr>
              <a:t>1.2 SFMEA Purpose</a:t>
            </a:r>
            <a:endParaRPr lang="en-US" dirty="0">
              <a:solidFill>
                <a:schemeClr val="tx2"/>
              </a:solidFill>
            </a:endParaRPr>
          </a:p>
        </p:txBody>
      </p:sp>
      <p:sp>
        <p:nvSpPr>
          <p:cNvPr id="5" name="Rectangle 4"/>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42143"/>
            <a:ext cx="8763000" cy="457201"/>
          </a:xfrm>
        </p:spPr>
        <p:txBody>
          <a:bodyPr>
            <a:noAutofit/>
          </a:bodyPr>
          <a:lstStyle/>
          <a:p>
            <a:r>
              <a:rPr lang="en-US" sz="3600" dirty="0" smtClean="0"/>
              <a:t>SFMEA Limitations</a:t>
            </a:r>
            <a:endParaRPr lang="en-US" sz="3600" dirty="0"/>
          </a:p>
        </p:txBody>
      </p:sp>
      <p:sp>
        <p:nvSpPr>
          <p:cNvPr id="3" name="Content Placeholder 2"/>
          <p:cNvSpPr>
            <a:spLocks noGrp="1"/>
          </p:cNvSpPr>
          <p:nvPr>
            <p:ph idx="1"/>
          </p:nvPr>
        </p:nvSpPr>
        <p:spPr>
          <a:xfrm>
            <a:off x="381000" y="1136557"/>
            <a:ext cx="8229600" cy="4351338"/>
          </a:xfrm>
        </p:spPr>
        <p:txBody>
          <a:bodyPr>
            <a:noAutofit/>
          </a:bodyPr>
          <a:lstStyle/>
          <a:p>
            <a:r>
              <a:rPr lang="en-US" sz="2800" dirty="0" smtClean="0"/>
              <a:t>Highly dependent on experience of analyst with system under development</a:t>
            </a:r>
          </a:p>
          <a:p>
            <a:r>
              <a:rPr lang="en-US" sz="2800" dirty="0" smtClean="0"/>
              <a:t>Results depend on willingness of analyst to consider the failure space – what can go wrong</a:t>
            </a:r>
          </a:p>
          <a:p>
            <a:r>
              <a:rPr lang="en-US" sz="2800" dirty="0" smtClean="0"/>
              <a:t>Dependent on adequate software requirements, design</a:t>
            </a:r>
          </a:p>
          <a:p>
            <a:r>
              <a:rPr lang="en-US" sz="2800" dirty="0" smtClean="0"/>
              <a:t>Most productive when they focus on riskiest software with most likely failure modes</a:t>
            </a:r>
          </a:p>
          <a:p>
            <a:r>
              <a:rPr lang="en-US" sz="2800" dirty="0" smtClean="0"/>
              <a:t>Not as effective when conducted too early or too late</a:t>
            </a:r>
          </a:p>
          <a:p>
            <a:endParaRPr lang="en-US" sz="2800" dirty="0" smtClean="0"/>
          </a:p>
        </p:txBody>
      </p:sp>
      <p:sp>
        <p:nvSpPr>
          <p:cNvPr id="4" name="TextBox 3"/>
          <p:cNvSpPr txBox="1">
            <a:spLocks noChangeArrowheads="1"/>
          </p:cNvSpPr>
          <p:nvPr/>
        </p:nvSpPr>
        <p:spPr bwMode="auto">
          <a:xfrm>
            <a:off x="152400" y="272255"/>
            <a:ext cx="5562600" cy="369888"/>
          </a:xfrm>
          <a:prstGeom prst="rect">
            <a:avLst/>
          </a:prstGeom>
          <a:noFill/>
          <a:ln w="9525">
            <a:noFill/>
            <a:miter lim="800000"/>
            <a:headEnd/>
            <a:tailEnd/>
          </a:ln>
        </p:spPr>
        <p:txBody>
          <a:bodyPr>
            <a:spAutoFit/>
          </a:bodyPr>
          <a:lstStyle/>
          <a:p>
            <a:r>
              <a:rPr lang="en-US" dirty="0" smtClean="0">
                <a:solidFill>
                  <a:schemeClr val="tx2"/>
                </a:solidFill>
              </a:rPr>
              <a:t>1.4 SFMEA Limitations</a:t>
            </a:r>
            <a:endParaRPr lang="en-US" dirty="0">
              <a:solidFill>
                <a:schemeClr val="tx2"/>
              </a:solidFill>
            </a:endParaRPr>
          </a:p>
        </p:txBody>
      </p:sp>
      <p:sp>
        <p:nvSpPr>
          <p:cNvPr id="5" name="Rectangle 4"/>
          <p:cNvSpPr/>
          <p:nvPr/>
        </p:nvSpPr>
        <p:spPr>
          <a:xfrm>
            <a:off x="344462" y="6477000"/>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64775"/>
            <a:ext cx="8763000" cy="457201"/>
          </a:xfrm>
        </p:spPr>
        <p:txBody>
          <a:bodyPr>
            <a:noAutofit/>
          </a:bodyPr>
          <a:lstStyle/>
          <a:p>
            <a:r>
              <a:rPr lang="en-US" sz="3600" dirty="0" smtClean="0"/>
              <a:t>Existing SFMEA guidance</a:t>
            </a:r>
            <a:endParaRPr lang="en-US" sz="36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93248984"/>
              </p:ext>
            </p:extLst>
          </p:nvPr>
        </p:nvGraphicFramePr>
        <p:xfrm>
          <a:off x="182880" y="960568"/>
          <a:ext cx="8763000" cy="5577840"/>
        </p:xfrm>
        <a:graphic>
          <a:graphicData uri="http://schemas.openxmlformats.org/drawingml/2006/table">
            <a:tbl>
              <a:tblPr firstRow="1" bandRow="1">
                <a:tableStyleId>{5C22544A-7EE6-4342-B048-85BDC9FD1C3A}</a:tableStyleId>
              </a:tblPr>
              <a:tblGrid>
                <a:gridCol w="4305300"/>
                <a:gridCol w="4457700"/>
              </a:tblGrid>
              <a:tr h="369366">
                <a:tc>
                  <a:txBody>
                    <a:bodyPr/>
                    <a:lstStyle/>
                    <a:p>
                      <a:r>
                        <a:rPr lang="en-US" sz="2000" dirty="0" smtClean="0"/>
                        <a:t>Guidance</a:t>
                      </a:r>
                      <a:endParaRPr lang="en-US" sz="2000" dirty="0"/>
                    </a:p>
                  </a:txBody>
                  <a:tcPr/>
                </a:tc>
                <a:tc>
                  <a:txBody>
                    <a:bodyPr/>
                    <a:lstStyle/>
                    <a:p>
                      <a:r>
                        <a:rPr lang="en-US" sz="2000" dirty="0" smtClean="0"/>
                        <a:t>Comments</a:t>
                      </a:r>
                      <a:endParaRPr lang="en-US" sz="2000" dirty="0"/>
                    </a:p>
                  </a:txBody>
                  <a:tcPr/>
                </a:tc>
              </a:tr>
              <a:tr h="852382">
                <a:tc>
                  <a:txBody>
                    <a:bodyPr/>
                    <a:lstStyle/>
                    <a:p>
                      <a:pPr marL="0" marR="0" hangingPunct="1">
                        <a:spcBef>
                          <a:spcPts val="0"/>
                        </a:spcBef>
                        <a:spcAft>
                          <a:spcPts val="0"/>
                        </a:spcAft>
                      </a:pPr>
                      <a:r>
                        <a:rPr lang="en-US" sz="2000" kern="1200" dirty="0">
                          <a:latin typeface="+mj-lt"/>
                          <a:ea typeface="Times New Roman"/>
                          <a:cs typeface="Times New Roman"/>
                        </a:rPr>
                        <a:t>Mil-Std 1629A Procedures for Performing a Failure Mode, Effects and Criticality Analysis, November 24, 1980.</a:t>
                      </a:r>
                      <a:endParaRPr lang="en-US" sz="2400" dirty="0">
                        <a:latin typeface="+mj-lt"/>
                        <a:ea typeface="Times New Roman"/>
                        <a:cs typeface="Times New Roman"/>
                      </a:endParaRPr>
                    </a:p>
                  </a:txBody>
                  <a:tcPr marL="68580" marR="68580" marT="0" marB="0"/>
                </a:tc>
                <a:tc>
                  <a:txBody>
                    <a:bodyPr/>
                    <a:lstStyle/>
                    <a:p>
                      <a:pPr marL="0" marR="0" hangingPunct="1">
                        <a:spcBef>
                          <a:spcPts val="0"/>
                        </a:spcBef>
                        <a:spcAft>
                          <a:spcPts val="0"/>
                        </a:spcAft>
                      </a:pPr>
                      <a:r>
                        <a:rPr lang="en-US" sz="2000" kern="1200" dirty="0">
                          <a:solidFill>
                            <a:srgbClr val="000000"/>
                          </a:solidFill>
                          <a:latin typeface="+mj-lt"/>
                          <a:ea typeface="Times New Roman"/>
                          <a:cs typeface="Times New Roman"/>
                        </a:rPr>
                        <a:t>D</a:t>
                      </a:r>
                      <a:r>
                        <a:rPr lang="en-US" sz="2000" kern="1200" dirty="0">
                          <a:latin typeface="+mj-lt"/>
                          <a:ea typeface="Times New Roman"/>
                          <a:cs typeface="Times New Roman"/>
                        </a:rPr>
                        <a:t>efines how FMEAs are performed but it doesn’t discuss software components</a:t>
                      </a:r>
                      <a:endParaRPr lang="en-US" sz="2400" dirty="0">
                        <a:latin typeface="+mj-lt"/>
                        <a:ea typeface="Times New Roman"/>
                        <a:cs typeface="Times New Roman"/>
                      </a:endParaRPr>
                    </a:p>
                  </a:txBody>
                  <a:tcPr marL="68580" marR="68580" marT="0" marB="0"/>
                </a:tc>
              </a:tr>
              <a:tr h="1420637">
                <a:tc>
                  <a:txBody>
                    <a:bodyPr/>
                    <a:lstStyle/>
                    <a:p>
                      <a:pPr marL="0" marR="0" fontAlgn="auto" hangingPunct="1">
                        <a:spcBef>
                          <a:spcPts val="0"/>
                        </a:spcBef>
                        <a:spcAft>
                          <a:spcPts val="0"/>
                        </a:spcAft>
                      </a:pPr>
                      <a:r>
                        <a:rPr lang="en-US" sz="2000" dirty="0">
                          <a:solidFill>
                            <a:srgbClr val="000000"/>
                          </a:solidFill>
                          <a:latin typeface="+mj-lt"/>
                          <a:ea typeface="Times New Roman"/>
                          <a:cs typeface="Times New Roman"/>
                        </a:rPr>
                        <a:t>MIL-HDBK-338B, Military Handbook: Electronic Reliability Design Handbook, October 1, 1998.</a:t>
                      </a:r>
                      <a:endParaRPr lang="en-US" sz="2400" dirty="0">
                        <a:latin typeface="+mj-lt"/>
                        <a:ea typeface="Times New Roman"/>
                        <a:cs typeface="Times New Roman"/>
                      </a:endParaRPr>
                    </a:p>
                  </a:txBody>
                  <a:tcPr marL="68580" marR="68580" marT="0" marB="0"/>
                </a:tc>
                <a:tc>
                  <a:txBody>
                    <a:bodyPr/>
                    <a:lstStyle/>
                    <a:p>
                      <a:pPr marL="0" marR="0" hangingPunct="1">
                        <a:spcBef>
                          <a:spcPts val="0"/>
                        </a:spcBef>
                        <a:spcAft>
                          <a:spcPts val="0"/>
                        </a:spcAft>
                      </a:pPr>
                      <a:r>
                        <a:rPr lang="en-US" sz="2000" dirty="0">
                          <a:latin typeface="+mj-lt"/>
                          <a:ea typeface="Times New Roman"/>
                          <a:cs typeface="Times New Roman"/>
                        </a:rPr>
                        <a:t>Adapted in 1988 to apply to software.  However, the guidance provides only a few failure modes and a limited example.  There is no discussion of the software related viewpoints.</a:t>
                      </a:r>
                      <a:endParaRPr lang="en-US" sz="2400" dirty="0">
                        <a:latin typeface="+mj-lt"/>
                        <a:ea typeface="Times New Roman"/>
                        <a:cs typeface="Times New Roman"/>
                      </a:endParaRPr>
                    </a:p>
                  </a:txBody>
                  <a:tcPr marL="68580" marR="68580" marT="0" marB="0"/>
                </a:tc>
              </a:tr>
              <a:tr h="1420637">
                <a:tc>
                  <a:txBody>
                    <a:bodyPr/>
                    <a:lstStyle/>
                    <a:p>
                      <a:pPr marL="0" marR="0" hangingPunct="1">
                        <a:spcBef>
                          <a:spcPts val="0"/>
                        </a:spcBef>
                        <a:spcAft>
                          <a:spcPts val="0"/>
                        </a:spcAft>
                      </a:pPr>
                      <a:r>
                        <a:rPr lang="en-US" sz="2000" dirty="0">
                          <a:latin typeface="+mj-lt"/>
                          <a:ea typeface="Times New Roman"/>
                          <a:cs typeface="Times New Roman"/>
                        </a:rPr>
                        <a:t>“SAE ARP 5580 Recommended Failure Modes and Effects Analysis (FMEA) Practices for Non-Automobile Applications”, July, 2001, Society of Automotive Engineers.</a:t>
                      </a:r>
                      <a:endParaRPr lang="en-US" sz="2400" dirty="0">
                        <a:latin typeface="+mj-lt"/>
                        <a:ea typeface="Times New Roman"/>
                        <a:cs typeface="Times New Roman"/>
                      </a:endParaRPr>
                    </a:p>
                  </a:txBody>
                  <a:tcPr marL="68580" marR="68580" marT="0" marB="0"/>
                </a:tc>
                <a:tc>
                  <a:txBody>
                    <a:bodyPr/>
                    <a:lstStyle/>
                    <a:p>
                      <a:pPr marL="0" marR="0" hangingPunct="1">
                        <a:spcBef>
                          <a:spcPts val="0"/>
                        </a:spcBef>
                        <a:spcAft>
                          <a:spcPts val="0"/>
                        </a:spcAft>
                      </a:pPr>
                      <a:r>
                        <a:rPr lang="en-US" sz="2000" kern="1200" dirty="0">
                          <a:latin typeface="+mj-lt"/>
                          <a:ea typeface="Times New Roman"/>
                          <a:cs typeface="Times New Roman"/>
                        </a:rPr>
                        <a:t>Introduced the concepts of the various software viewpoints.  Introduced a few failure modes but examples and guidance is limited.</a:t>
                      </a:r>
                      <a:endParaRPr lang="en-US" sz="2400" dirty="0">
                        <a:latin typeface="+mj-lt"/>
                        <a:ea typeface="Times New Roman"/>
                        <a:cs typeface="Times New Roman"/>
                      </a:endParaRPr>
                    </a:p>
                  </a:txBody>
                  <a:tcPr marL="68580" marR="68580" marT="0" marB="0"/>
                </a:tc>
              </a:tr>
              <a:tr h="1136509">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2000" dirty="0" smtClean="0"/>
                        <a:t>“Effective Application of Software Failure Modes Effects Analysis”,</a:t>
                      </a:r>
                      <a:r>
                        <a:rPr lang="en-US" sz="2000" baseline="0" dirty="0" smtClean="0"/>
                        <a:t> November, 2014, AM Neufelder, produced for Quanterion, Inc.</a:t>
                      </a:r>
                      <a:endParaRPr lang="en-US" sz="2000" dirty="0" smtClean="0"/>
                    </a:p>
                  </a:txBody>
                  <a:tcPr marL="68580" marR="68580" marT="0" marB="0"/>
                </a:tc>
                <a:tc>
                  <a:txBody>
                    <a:bodyPr/>
                    <a:lstStyle/>
                    <a:p>
                      <a:pPr marL="0" marR="0" hangingPunct="1">
                        <a:spcBef>
                          <a:spcPts val="0"/>
                        </a:spcBef>
                        <a:spcAft>
                          <a:spcPts val="0"/>
                        </a:spcAft>
                      </a:pPr>
                      <a:r>
                        <a:rPr lang="en-US" sz="2000" dirty="0" smtClean="0">
                          <a:latin typeface="+mj-lt"/>
                          <a:ea typeface="Times New Roman"/>
                          <a:cs typeface="Times New Roman"/>
                        </a:rPr>
                        <a:t>Identifies</a:t>
                      </a:r>
                      <a:r>
                        <a:rPr lang="en-US" sz="2000" baseline="0" dirty="0" smtClean="0">
                          <a:latin typeface="+mj-lt"/>
                          <a:ea typeface="Times New Roman"/>
                          <a:cs typeface="Times New Roman"/>
                        </a:rPr>
                        <a:t> hundreds of software specific failure modes and root causes, 8 possible viewpoints and dozens of real world examples.</a:t>
                      </a:r>
                      <a:endParaRPr lang="en-US" sz="1800" dirty="0">
                        <a:latin typeface="+mj-lt"/>
                        <a:ea typeface="Times New Roman"/>
                        <a:cs typeface="Times New Roman"/>
                      </a:endParaRPr>
                    </a:p>
                  </a:txBody>
                  <a:tcPr marL="68580" marR="68580" marT="0" marB="0"/>
                </a:tc>
              </a:tr>
            </a:tbl>
          </a:graphicData>
        </a:graphic>
      </p:graphicFrame>
      <p:sp>
        <p:nvSpPr>
          <p:cNvPr id="6" name="TextBox 5"/>
          <p:cNvSpPr txBox="1">
            <a:spLocks noChangeArrowheads="1"/>
          </p:cNvSpPr>
          <p:nvPr/>
        </p:nvSpPr>
        <p:spPr bwMode="auto">
          <a:xfrm>
            <a:off x="152400" y="194887"/>
            <a:ext cx="5562600" cy="369888"/>
          </a:xfrm>
          <a:prstGeom prst="rect">
            <a:avLst/>
          </a:prstGeom>
          <a:noFill/>
          <a:ln w="9525">
            <a:noFill/>
            <a:miter lim="800000"/>
            <a:headEnd/>
            <a:tailEnd/>
          </a:ln>
        </p:spPr>
        <p:txBody>
          <a:bodyPr>
            <a:spAutoFit/>
          </a:bodyPr>
          <a:lstStyle/>
          <a:p>
            <a:r>
              <a:rPr lang="en-US" dirty="0" smtClean="0">
                <a:solidFill>
                  <a:schemeClr val="tx2"/>
                </a:solidFill>
              </a:rPr>
              <a:t>1.5 Existing SFMEA Guidance</a:t>
            </a:r>
            <a:endParaRPr lang="en-US" dirty="0">
              <a:solidFill>
                <a:schemeClr val="tx2"/>
              </a:solidFill>
            </a:endParaRP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Software Failure Mode Taxonomies</a:t>
            </a:r>
            <a:endParaRPr lang="en-US" dirty="0"/>
          </a:p>
        </p:txBody>
      </p:sp>
      <p:sp>
        <p:nvSpPr>
          <p:cNvPr id="3" name="Content Placeholder 2"/>
          <p:cNvSpPr>
            <a:spLocks noGrp="1"/>
          </p:cNvSpPr>
          <p:nvPr>
            <p:ph idx="1"/>
          </p:nvPr>
        </p:nvSpPr>
        <p:spPr>
          <a:xfrm>
            <a:off x="152400" y="914400"/>
            <a:ext cx="8763000" cy="4953000"/>
          </a:xfrm>
        </p:spPr>
        <p:txBody>
          <a:bodyPr>
            <a:noAutofit/>
          </a:bodyPr>
          <a:lstStyle/>
          <a:p>
            <a:r>
              <a:rPr lang="en-US" sz="2000" dirty="0" smtClean="0"/>
              <a:t>One major gap in previous general FMEA guidance is the lack of software failure mode taxonomies. </a:t>
            </a:r>
          </a:p>
          <a:p>
            <a:r>
              <a:rPr lang="en-US" sz="2000" dirty="0"/>
              <a:t>This class focuses on the failure modes and root causes that apply to virtually all software systems.</a:t>
            </a:r>
          </a:p>
          <a:p>
            <a:r>
              <a:rPr lang="en-US" sz="2000" dirty="0"/>
              <a:t>The SFMEA analyst is encouraged to brainstorm additional software </a:t>
            </a:r>
            <a:r>
              <a:rPr lang="en-US" sz="2000" dirty="0" smtClean="0"/>
              <a:t>taxonomies</a:t>
            </a:r>
          </a:p>
          <a:p>
            <a:pPr lvl="1"/>
            <a:r>
              <a:rPr lang="en-US" sz="1800" dirty="0" smtClean="0"/>
              <a:t>In 1983, Dr. Boris Beizer first published the “Taxonomy of software bugs” based on the development activity that introduces the “bug” [ST1].  </a:t>
            </a:r>
          </a:p>
          <a:p>
            <a:pPr lvl="1"/>
            <a:r>
              <a:rPr lang="en-US" sz="1800" dirty="0" smtClean="0"/>
              <a:t>In 1989 Peter Neumann and Don Parker developed taxonomies for computer misuse [NEUMANN].  </a:t>
            </a:r>
          </a:p>
          <a:p>
            <a:pPr lvl="1"/>
            <a:r>
              <a:rPr lang="en-US" sz="1800" dirty="0" smtClean="0"/>
              <a:t>In 1999 Dr. Robert Binder published a taxonomy on software faults relevant to object oriented development [ST2].  </a:t>
            </a:r>
          </a:p>
          <a:p>
            <a:pPr lvl="1"/>
            <a:r>
              <a:rPr lang="en-US" sz="1800" dirty="0" smtClean="0"/>
              <a:t>In 2002 Giri Vijayaraghavan and Cem Kaner developed taxonomies for e-commerce related faults [ST3] [ST4].  </a:t>
            </a:r>
          </a:p>
          <a:p>
            <a:pPr lvl="1"/>
            <a:r>
              <a:rPr lang="en-US" sz="1800" dirty="0" smtClean="0"/>
              <a:t>Mitre has published hundreds of common weaknesses which lead to security vulnerability [ST5].  Several of these weaknesses are also related to unreliable software.  </a:t>
            </a:r>
          </a:p>
          <a:p>
            <a:pPr lvl="1"/>
            <a:r>
              <a:rPr lang="en-US" sz="1800" dirty="0" smtClean="0"/>
              <a:t>Other taxonomies have been developed for particular types of computers.  [ST6][ST7]</a:t>
            </a:r>
          </a:p>
          <a:p>
            <a:pPr lvl="1"/>
            <a:r>
              <a:rPr lang="en-US" sz="1800" dirty="0" smtClean="0"/>
              <a:t>This author has compiled a listing of process and product related defects based on decades of writing and testing software and benchmarking development practices versus actual fielded defect density.[ST8] [ST9]</a:t>
            </a:r>
          </a:p>
          <a:p>
            <a:pPr lvl="1"/>
            <a:endParaRPr lang="en-US" sz="2800" dirty="0"/>
          </a:p>
        </p:txBody>
      </p:sp>
      <p:sp>
        <p:nvSpPr>
          <p:cNvPr id="4" name="TextBox 3"/>
          <p:cNvSpPr txBox="1">
            <a:spLocks noChangeArrowheads="1"/>
          </p:cNvSpPr>
          <p:nvPr/>
        </p:nvSpPr>
        <p:spPr bwMode="auto">
          <a:xfrm>
            <a:off x="143435" y="105240"/>
            <a:ext cx="5562600" cy="369888"/>
          </a:xfrm>
          <a:prstGeom prst="rect">
            <a:avLst/>
          </a:prstGeom>
          <a:noFill/>
          <a:ln w="9525">
            <a:noFill/>
            <a:miter lim="800000"/>
            <a:headEnd/>
            <a:tailEnd/>
          </a:ln>
        </p:spPr>
        <p:txBody>
          <a:bodyPr>
            <a:spAutoFit/>
          </a:bodyPr>
          <a:lstStyle/>
          <a:p>
            <a:r>
              <a:rPr lang="en-US" dirty="0">
                <a:solidFill>
                  <a:schemeClr val="tx2"/>
                </a:solidFill>
              </a:rPr>
              <a:t>1.5 Existing SFMEA Guidance</a:t>
            </a: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9075" y="557272"/>
            <a:ext cx="8924926" cy="449938"/>
          </a:xfrm>
        </p:spPr>
        <p:txBody>
          <a:bodyPr>
            <a:normAutofit/>
          </a:bodyPr>
          <a:lstStyle/>
          <a:p>
            <a:pPr eaLnBrk="1" hangingPunct="1"/>
            <a:r>
              <a:rPr lang="en-US" sz="2400" dirty="0" smtClean="0"/>
              <a:t>The process for doing a Software Failure Modes Effects Analyses</a:t>
            </a:r>
          </a:p>
        </p:txBody>
      </p:sp>
      <p:sp>
        <p:nvSpPr>
          <p:cNvPr id="24579" name="TextBox 78"/>
          <p:cNvSpPr txBox="1">
            <a:spLocks noChangeArrowheads="1"/>
          </p:cNvSpPr>
          <p:nvPr/>
        </p:nvSpPr>
        <p:spPr bwMode="auto">
          <a:xfrm>
            <a:off x="219075" y="207168"/>
            <a:ext cx="5562600" cy="369888"/>
          </a:xfrm>
          <a:prstGeom prst="rect">
            <a:avLst/>
          </a:prstGeom>
          <a:noFill/>
          <a:ln w="9525">
            <a:noFill/>
            <a:miter lim="800000"/>
            <a:headEnd/>
            <a:tailEnd/>
          </a:ln>
        </p:spPr>
        <p:txBody>
          <a:bodyPr>
            <a:spAutoFit/>
          </a:bodyPr>
          <a:lstStyle/>
          <a:p>
            <a:r>
              <a:rPr lang="en-US" dirty="0" smtClean="0">
                <a:solidFill>
                  <a:schemeClr val="tx2"/>
                </a:solidFill>
              </a:rPr>
              <a:t>1.6 Software FMEA Steps</a:t>
            </a:r>
            <a:endParaRPr lang="en-US" dirty="0">
              <a:solidFill>
                <a:schemeClr val="tx2"/>
              </a:solidFill>
            </a:endParaRPr>
          </a:p>
        </p:txBody>
      </p:sp>
      <p:grpSp>
        <p:nvGrpSpPr>
          <p:cNvPr id="36" name="Group 35"/>
          <p:cNvGrpSpPr/>
          <p:nvPr/>
        </p:nvGrpSpPr>
        <p:grpSpPr>
          <a:xfrm>
            <a:off x="241242" y="1078792"/>
            <a:ext cx="8781623" cy="5410200"/>
            <a:chOff x="685800" y="1524000"/>
            <a:chExt cx="8314414" cy="4953000"/>
          </a:xfrm>
        </p:grpSpPr>
        <p:sp>
          <p:nvSpPr>
            <p:cNvPr id="39" name="Rectangle 27"/>
            <p:cNvSpPr>
              <a:spLocks noChangeArrowheads="1"/>
            </p:cNvSpPr>
            <p:nvPr/>
          </p:nvSpPr>
          <p:spPr bwMode="auto">
            <a:xfrm>
              <a:off x="7306586" y="3901430"/>
              <a:ext cx="1693628" cy="198120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200" dirty="0" smtClean="0"/>
            </a:p>
            <a:p>
              <a:pPr algn="ctr">
                <a:defRPr/>
              </a:pPr>
              <a:endParaRPr lang="en-US" sz="1200" dirty="0" smtClean="0"/>
            </a:p>
            <a:p>
              <a:pPr algn="ctr">
                <a:defRPr/>
              </a:pPr>
              <a:r>
                <a:rPr lang="en-US" sz="1600" dirty="0" smtClean="0"/>
                <a:t>Generate CIL</a:t>
              </a:r>
              <a:endParaRPr lang="en-US" sz="1600" dirty="0"/>
            </a:p>
          </p:txBody>
        </p:sp>
        <p:sp>
          <p:nvSpPr>
            <p:cNvPr id="100" name="Rectangle 27"/>
            <p:cNvSpPr>
              <a:spLocks noChangeArrowheads="1"/>
            </p:cNvSpPr>
            <p:nvPr/>
          </p:nvSpPr>
          <p:spPr bwMode="auto">
            <a:xfrm>
              <a:off x="5029200" y="3276600"/>
              <a:ext cx="2074628" cy="320040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smtClean="0"/>
            </a:p>
            <a:p>
              <a:pPr algn="ctr">
                <a:defRPr/>
              </a:pPr>
              <a:endParaRPr lang="en-US" sz="1400" dirty="0"/>
            </a:p>
            <a:p>
              <a:pPr algn="ctr">
                <a:defRPr/>
              </a:pPr>
              <a:endParaRPr lang="en-US" sz="1200" dirty="0" smtClean="0"/>
            </a:p>
            <a:p>
              <a:pPr algn="ctr">
                <a:defRPr/>
              </a:pPr>
              <a:endParaRPr lang="en-US" sz="1200" dirty="0" smtClean="0"/>
            </a:p>
            <a:p>
              <a:pPr algn="ctr">
                <a:defRPr/>
              </a:pPr>
              <a:r>
                <a:rPr lang="en-US" sz="1600" dirty="0" smtClean="0"/>
                <a:t>Mitigate</a:t>
              </a:r>
              <a:endParaRPr lang="en-US" sz="1600" dirty="0"/>
            </a:p>
          </p:txBody>
        </p:sp>
        <p:sp>
          <p:nvSpPr>
            <p:cNvPr id="101" name="Rectangle 100"/>
            <p:cNvSpPr/>
            <p:nvPr/>
          </p:nvSpPr>
          <p:spPr>
            <a:xfrm>
              <a:off x="746098" y="3276600"/>
              <a:ext cx="1940781"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r>
                <a:rPr lang="en-US" sz="1400" dirty="0" smtClean="0">
                  <a:solidFill>
                    <a:schemeClr val="tx1"/>
                  </a:solidFill>
                </a:rPr>
                <a:t>Analyze failure modes and root causes</a:t>
              </a:r>
              <a:endParaRPr lang="en-US" sz="1400" dirty="0">
                <a:solidFill>
                  <a:schemeClr val="tx1"/>
                </a:solidFill>
              </a:endParaRPr>
            </a:p>
          </p:txBody>
        </p:sp>
        <p:sp>
          <p:nvSpPr>
            <p:cNvPr id="102" name="Rectangle 101"/>
            <p:cNvSpPr/>
            <p:nvPr/>
          </p:nvSpPr>
          <p:spPr>
            <a:xfrm>
              <a:off x="685800" y="1524000"/>
              <a:ext cx="80010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1400" dirty="0">
                <a:solidFill>
                  <a:schemeClr val="tx1"/>
                </a:solidFill>
              </a:endParaRPr>
            </a:p>
            <a:p>
              <a:pPr algn="ctr"/>
              <a:endParaRPr lang="en-US" sz="1400" dirty="0" smtClean="0">
                <a:solidFill>
                  <a:schemeClr val="tx1"/>
                </a:solidFill>
              </a:endParaRPr>
            </a:p>
            <a:p>
              <a:pPr algn="ctr"/>
              <a:endParaRPr lang="en-US" sz="2000" dirty="0" smtClean="0">
                <a:solidFill>
                  <a:schemeClr val="tx1"/>
                </a:solidFill>
              </a:endParaRPr>
            </a:p>
            <a:p>
              <a:pPr algn="ctr"/>
              <a:r>
                <a:rPr lang="en-US" sz="2000" dirty="0" smtClean="0">
                  <a:solidFill>
                    <a:schemeClr val="tx1"/>
                  </a:solidFill>
                </a:rPr>
                <a:t>Prepare the Software FMEA</a:t>
              </a:r>
              <a:endParaRPr lang="en-US" sz="2000" dirty="0">
                <a:solidFill>
                  <a:schemeClr val="tx1"/>
                </a:solidFill>
              </a:endParaRPr>
            </a:p>
          </p:txBody>
        </p:sp>
        <p:sp>
          <p:nvSpPr>
            <p:cNvPr id="103" name="Rectangle 5"/>
            <p:cNvSpPr>
              <a:spLocks noChangeArrowheads="1"/>
            </p:cNvSpPr>
            <p:nvPr/>
          </p:nvSpPr>
          <p:spPr bwMode="auto">
            <a:xfrm>
              <a:off x="4452068" y="1700271"/>
              <a:ext cx="736158"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Identify </a:t>
              </a:r>
            </a:p>
            <a:p>
              <a:pPr algn="ctr">
                <a:defRPr/>
              </a:pPr>
              <a:r>
                <a:rPr lang="en-US" sz="1200" dirty="0" smtClean="0"/>
                <a:t>resources</a:t>
              </a:r>
              <a:endParaRPr lang="en-US" sz="1200" dirty="0"/>
            </a:p>
          </p:txBody>
        </p:sp>
        <p:sp>
          <p:nvSpPr>
            <p:cNvPr id="104" name="Rectangle 6"/>
            <p:cNvSpPr>
              <a:spLocks noChangeArrowheads="1"/>
            </p:cNvSpPr>
            <p:nvPr/>
          </p:nvSpPr>
          <p:spPr bwMode="auto">
            <a:xfrm>
              <a:off x="914400" y="3429000"/>
              <a:ext cx="1600199" cy="881349"/>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smtClean="0"/>
                <a:t>Brainstorm/</a:t>
              </a:r>
            </a:p>
            <a:p>
              <a:pPr algn="ctr">
                <a:defRPr/>
              </a:pPr>
              <a:r>
                <a:rPr lang="en-US" sz="1200" dirty="0" smtClean="0"/>
                <a:t>research</a:t>
              </a:r>
              <a:endParaRPr lang="en-US" sz="1200" dirty="0"/>
            </a:p>
            <a:p>
              <a:pPr algn="ctr">
                <a:defRPr/>
              </a:pPr>
              <a:r>
                <a:rPr lang="en-US" sz="1200" dirty="0" smtClean="0"/>
                <a:t>failure</a:t>
              </a:r>
              <a:endParaRPr lang="en-US" sz="1200" dirty="0"/>
            </a:p>
            <a:p>
              <a:pPr algn="ctr">
                <a:defRPr/>
              </a:pPr>
              <a:r>
                <a:rPr lang="en-US" sz="1200" dirty="0"/>
                <a:t>m</a:t>
              </a:r>
              <a:r>
                <a:rPr lang="en-US" sz="1200" dirty="0" smtClean="0"/>
                <a:t>odes</a:t>
              </a:r>
              <a:endParaRPr lang="en-US" sz="1200" dirty="0"/>
            </a:p>
          </p:txBody>
        </p:sp>
        <p:sp>
          <p:nvSpPr>
            <p:cNvPr id="105" name="Rectangle 28"/>
            <p:cNvSpPr>
              <a:spLocks noChangeArrowheads="1"/>
            </p:cNvSpPr>
            <p:nvPr/>
          </p:nvSpPr>
          <p:spPr bwMode="auto">
            <a:xfrm>
              <a:off x="7391400" y="4016566"/>
              <a:ext cx="1524000" cy="70508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a:t>
              </a:r>
            </a:p>
            <a:p>
              <a:pPr algn="ctr">
                <a:defRPr/>
              </a:pPr>
              <a:r>
                <a:rPr lang="en-US" sz="1200" dirty="0"/>
                <a:t>e</a:t>
              </a:r>
              <a:r>
                <a:rPr lang="en-US" sz="1200" dirty="0" smtClean="0"/>
                <a:t>quivalent </a:t>
              </a:r>
              <a:endParaRPr lang="en-US" sz="1200" dirty="0"/>
            </a:p>
            <a:p>
              <a:pPr algn="ctr">
                <a:defRPr/>
              </a:pPr>
              <a:r>
                <a:rPr lang="en-US" sz="1200" dirty="0"/>
                <a:t>f</a:t>
              </a:r>
              <a:r>
                <a:rPr lang="en-US" sz="1200" dirty="0" smtClean="0"/>
                <a:t>ailure modes</a:t>
              </a:r>
              <a:endParaRPr lang="en-US" sz="1200" dirty="0"/>
            </a:p>
          </p:txBody>
        </p:sp>
        <p:sp>
          <p:nvSpPr>
            <p:cNvPr id="106" name="Rectangle 27"/>
            <p:cNvSpPr>
              <a:spLocks noChangeArrowheads="1"/>
            </p:cNvSpPr>
            <p:nvPr/>
          </p:nvSpPr>
          <p:spPr bwMode="auto">
            <a:xfrm>
              <a:off x="2820726" y="3276600"/>
              <a:ext cx="2074628" cy="320040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a:p>
            <a:p>
              <a:pPr algn="ctr">
                <a:defRPr/>
              </a:pPr>
              <a:endParaRPr lang="en-US" sz="1400" dirty="0" smtClean="0"/>
            </a:p>
            <a:p>
              <a:pPr algn="ctr">
                <a:defRPr/>
              </a:pPr>
              <a:endParaRPr lang="en-US" sz="1400" dirty="0"/>
            </a:p>
            <a:p>
              <a:pPr algn="ctr">
                <a:defRPr/>
              </a:pPr>
              <a:endParaRPr lang="en-US" sz="1200" dirty="0" smtClean="0"/>
            </a:p>
            <a:p>
              <a:pPr algn="ctr">
                <a:defRPr/>
              </a:pPr>
              <a:endParaRPr lang="en-US" sz="1200" dirty="0" smtClean="0"/>
            </a:p>
            <a:p>
              <a:pPr algn="ctr">
                <a:defRPr/>
              </a:pPr>
              <a:r>
                <a:rPr lang="en-US" dirty="0" smtClean="0"/>
                <a:t>Identify </a:t>
              </a:r>
            </a:p>
            <a:p>
              <a:pPr algn="ctr">
                <a:defRPr/>
              </a:pPr>
              <a:r>
                <a:rPr lang="en-US" dirty="0" smtClean="0"/>
                <a:t>consequences</a:t>
              </a:r>
              <a:endParaRPr lang="en-US" dirty="0"/>
            </a:p>
          </p:txBody>
        </p:sp>
        <p:sp>
          <p:nvSpPr>
            <p:cNvPr id="107" name="Rectangle 37"/>
            <p:cNvSpPr>
              <a:spLocks noChangeArrowheads="1"/>
            </p:cNvSpPr>
            <p:nvPr/>
          </p:nvSpPr>
          <p:spPr bwMode="auto">
            <a:xfrm>
              <a:off x="3048000" y="3429000"/>
              <a:ext cx="1673087" cy="940106"/>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a:t>
              </a:r>
              <a:r>
                <a:rPr lang="en-US" sz="1200" dirty="0" smtClean="0"/>
                <a:t>local/</a:t>
              </a:r>
            </a:p>
            <a:p>
              <a:pPr algn="ctr">
                <a:defRPr/>
              </a:pPr>
              <a:r>
                <a:rPr lang="en-US" sz="1200" dirty="0" smtClean="0"/>
                <a:t>subsystem/</a:t>
              </a:r>
            </a:p>
            <a:p>
              <a:pPr algn="ctr">
                <a:defRPr/>
              </a:pPr>
              <a:r>
                <a:rPr lang="en-US" sz="1200" dirty="0" smtClean="0"/>
                <a:t>system </a:t>
              </a:r>
            </a:p>
            <a:p>
              <a:pPr algn="ctr">
                <a:defRPr/>
              </a:pPr>
              <a:r>
                <a:rPr lang="en-US" sz="1200" dirty="0" smtClean="0"/>
                <a:t>failure effects</a:t>
              </a:r>
              <a:endParaRPr lang="en-US" sz="1200" dirty="0"/>
            </a:p>
          </p:txBody>
        </p:sp>
        <p:sp>
          <p:nvSpPr>
            <p:cNvPr id="108" name="Rectangle 38"/>
            <p:cNvSpPr>
              <a:spLocks noChangeArrowheads="1"/>
            </p:cNvSpPr>
            <p:nvPr/>
          </p:nvSpPr>
          <p:spPr bwMode="auto">
            <a:xfrm>
              <a:off x="3048000" y="5029200"/>
              <a:ext cx="1673087" cy="405218"/>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a:t>
              </a:r>
              <a:r>
                <a:rPr lang="en-US" sz="1200" dirty="0" smtClean="0"/>
                <a:t>severity </a:t>
              </a:r>
            </a:p>
            <a:p>
              <a:pPr algn="ctr">
                <a:defRPr/>
              </a:pPr>
              <a:r>
                <a:rPr lang="en-US" sz="1200" dirty="0" smtClean="0"/>
                <a:t>and likelihood</a:t>
              </a:r>
              <a:endParaRPr lang="en-US" sz="1200" dirty="0"/>
            </a:p>
          </p:txBody>
        </p:sp>
        <p:sp>
          <p:nvSpPr>
            <p:cNvPr id="109" name="Rectangle 39"/>
            <p:cNvSpPr>
              <a:spLocks noChangeArrowheads="1"/>
            </p:cNvSpPr>
            <p:nvPr/>
          </p:nvSpPr>
          <p:spPr bwMode="auto">
            <a:xfrm>
              <a:off x="5181600" y="4191000"/>
              <a:ext cx="1749287" cy="65848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corrective</a:t>
              </a:r>
            </a:p>
            <a:p>
              <a:pPr algn="ctr">
                <a:defRPr/>
              </a:pPr>
              <a:r>
                <a:rPr lang="en-US" sz="1200" dirty="0"/>
                <a:t>actions</a:t>
              </a:r>
            </a:p>
          </p:txBody>
        </p:sp>
        <p:sp>
          <p:nvSpPr>
            <p:cNvPr id="110" name="Rectangle 40"/>
            <p:cNvSpPr>
              <a:spLocks noChangeArrowheads="1"/>
            </p:cNvSpPr>
            <p:nvPr/>
          </p:nvSpPr>
          <p:spPr bwMode="auto">
            <a:xfrm>
              <a:off x="3048000" y="4495800"/>
              <a:ext cx="1673087" cy="405218"/>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a:t>
              </a:r>
              <a:r>
                <a:rPr lang="en-US" sz="1200" dirty="0" smtClean="0"/>
                <a:t>preventive</a:t>
              </a:r>
            </a:p>
            <a:p>
              <a:pPr algn="ctr">
                <a:defRPr/>
              </a:pPr>
              <a:r>
                <a:rPr lang="en-US" sz="1200" dirty="0" smtClean="0"/>
                <a:t>measures</a:t>
              </a:r>
              <a:endParaRPr lang="en-US" sz="1200" dirty="0"/>
            </a:p>
          </p:txBody>
        </p:sp>
        <p:sp>
          <p:nvSpPr>
            <p:cNvPr id="111" name="Rectangle 41"/>
            <p:cNvSpPr>
              <a:spLocks noChangeArrowheads="1"/>
            </p:cNvSpPr>
            <p:nvPr/>
          </p:nvSpPr>
          <p:spPr bwMode="auto">
            <a:xfrm>
              <a:off x="5181600" y="3429000"/>
              <a:ext cx="1752600" cy="65848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a:t>Identify </a:t>
              </a:r>
            </a:p>
            <a:p>
              <a:pPr algn="ctr">
                <a:defRPr/>
              </a:pPr>
              <a:r>
                <a:rPr lang="en-US" sz="1200" dirty="0"/>
                <a:t>compensating </a:t>
              </a:r>
            </a:p>
            <a:p>
              <a:pPr algn="ctr">
                <a:defRPr/>
              </a:pPr>
              <a:r>
                <a:rPr lang="en-US" sz="1200" dirty="0"/>
                <a:t>provisions</a:t>
              </a:r>
            </a:p>
          </p:txBody>
        </p:sp>
        <p:sp>
          <p:nvSpPr>
            <p:cNvPr id="112" name="Rectangle 54"/>
            <p:cNvSpPr>
              <a:spLocks noChangeArrowheads="1"/>
            </p:cNvSpPr>
            <p:nvPr/>
          </p:nvSpPr>
          <p:spPr bwMode="auto">
            <a:xfrm>
              <a:off x="914400" y="4419600"/>
              <a:ext cx="1600200" cy="646323"/>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endParaRPr lang="en-US" sz="1200" dirty="0"/>
            </a:p>
            <a:p>
              <a:pPr algn="ctr">
                <a:defRPr/>
              </a:pPr>
              <a:r>
                <a:rPr lang="en-US" sz="1200" dirty="0"/>
                <a:t>Analyze </a:t>
              </a:r>
              <a:r>
                <a:rPr lang="en-US" sz="1200" dirty="0" smtClean="0"/>
                <a:t> </a:t>
              </a:r>
            </a:p>
            <a:p>
              <a:pPr algn="ctr">
                <a:defRPr/>
              </a:pPr>
              <a:r>
                <a:rPr lang="en-US" sz="1200" dirty="0" smtClean="0"/>
                <a:t>applicable</a:t>
              </a:r>
              <a:endParaRPr lang="en-US" sz="1200" dirty="0"/>
            </a:p>
            <a:p>
              <a:pPr algn="ctr">
                <a:defRPr/>
              </a:pPr>
              <a:r>
                <a:rPr lang="en-US" sz="1200" dirty="0" smtClean="0"/>
                <a:t>failure modes</a:t>
              </a:r>
              <a:endParaRPr lang="en-US" sz="1200" dirty="0"/>
            </a:p>
            <a:p>
              <a:pPr algn="ctr">
                <a:defRPr/>
              </a:pPr>
              <a:endParaRPr lang="en-US" sz="1200" dirty="0"/>
            </a:p>
          </p:txBody>
        </p:sp>
        <p:sp>
          <p:nvSpPr>
            <p:cNvPr id="113" name="Rectangle 29"/>
            <p:cNvSpPr>
              <a:spLocks noChangeArrowheads="1"/>
            </p:cNvSpPr>
            <p:nvPr/>
          </p:nvSpPr>
          <p:spPr bwMode="auto">
            <a:xfrm>
              <a:off x="914401" y="5181600"/>
              <a:ext cx="1549180" cy="822593"/>
            </a:xfrm>
            <a:prstGeom prst="rect">
              <a:avLst/>
            </a:prstGeom>
            <a:solidFill>
              <a:schemeClr val="accent1"/>
            </a:solidFill>
            <a:ln w="9525">
              <a:solidFill>
                <a:schemeClr val="accent1">
                  <a:lumMod val="50000"/>
                </a:schemeClr>
              </a:solidFill>
              <a:miter lim="800000"/>
              <a:headEnd/>
              <a:tailEnd/>
            </a:ln>
          </p:spPr>
          <p:txBody>
            <a:bodyPr wrap="none" anchor="ctr"/>
            <a:lstStyle/>
            <a:p>
              <a:pPr algn="ctr"/>
              <a:r>
                <a:rPr lang="en-US" sz="1200" dirty="0" smtClean="0"/>
                <a:t>Identify</a:t>
              </a:r>
            </a:p>
            <a:p>
              <a:pPr algn="ctr"/>
              <a:r>
                <a:rPr lang="en-US" sz="1200" dirty="0" smtClean="0"/>
                <a:t>  root causes(s) </a:t>
              </a:r>
            </a:p>
            <a:p>
              <a:pPr algn="ctr"/>
              <a:r>
                <a:rPr lang="en-US" sz="1200" dirty="0" smtClean="0"/>
                <a:t>for each </a:t>
              </a:r>
            </a:p>
            <a:p>
              <a:pPr algn="ctr"/>
              <a:r>
                <a:rPr lang="en-US" sz="1200" dirty="0" smtClean="0"/>
                <a:t>failure mode</a:t>
              </a:r>
            </a:p>
          </p:txBody>
        </p:sp>
        <p:sp>
          <p:nvSpPr>
            <p:cNvPr id="114" name="Rectangle 28"/>
            <p:cNvSpPr>
              <a:spLocks noChangeArrowheads="1"/>
            </p:cNvSpPr>
            <p:nvPr/>
          </p:nvSpPr>
          <p:spPr bwMode="auto">
            <a:xfrm>
              <a:off x="7391400" y="4911309"/>
              <a:ext cx="1524000" cy="533400"/>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smtClean="0"/>
                <a:t>Generate a Critical</a:t>
              </a:r>
            </a:p>
            <a:p>
              <a:pPr algn="ctr">
                <a:defRPr/>
              </a:pPr>
              <a:r>
                <a:rPr lang="en-US" sz="1200" dirty="0" smtClean="0"/>
                <a:t>Items List (CIL)</a:t>
              </a:r>
              <a:endParaRPr lang="en-US" sz="1200" dirty="0"/>
            </a:p>
          </p:txBody>
        </p:sp>
        <p:sp>
          <p:nvSpPr>
            <p:cNvPr id="115" name="Rectangle 5"/>
            <p:cNvSpPr>
              <a:spLocks noChangeArrowheads="1"/>
            </p:cNvSpPr>
            <p:nvPr/>
          </p:nvSpPr>
          <p:spPr bwMode="auto">
            <a:xfrm>
              <a:off x="838200" y="1676400"/>
              <a:ext cx="936929" cy="661929"/>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Identify </a:t>
              </a:r>
            </a:p>
            <a:p>
              <a:pPr algn="ctr">
                <a:defRPr/>
              </a:pPr>
              <a:r>
                <a:rPr lang="en-US" sz="1200" dirty="0" smtClean="0"/>
                <a:t>applicability</a:t>
              </a:r>
              <a:endParaRPr lang="en-US" sz="1200" dirty="0"/>
            </a:p>
          </p:txBody>
        </p:sp>
        <p:sp>
          <p:nvSpPr>
            <p:cNvPr id="116" name="Rectangle 5"/>
            <p:cNvSpPr>
              <a:spLocks noChangeArrowheads="1"/>
            </p:cNvSpPr>
            <p:nvPr/>
          </p:nvSpPr>
          <p:spPr bwMode="auto">
            <a:xfrm>
              <a:off x="6172200" y="1700271"/>
              <a:ext cx="762000"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Set </a:t>
              </a:r>
            </a:p>
            <a:p>
              <a:pPr algn="ctr">
                <a:defRPr/>
              </a:pPr>
              <a:r>
                <a:rPr lang="en-US" sz="1200" dirty="0" smtClean="0"/>
                <a:t>ground </a:t>
              </a:r>
            </a:p>
            <a:p>
              <a:pPr algn="ctr">
                <a:defRPr/>
              </a:pPr>
              <a:r>
                <a:rPr lang="en-US" sz="1200" dirty="0" smtClean="0"/>
                <a:t>rules</a:t>
              </a:r>
              <a:endParaRPr lang="en-US" sz="1200" dirty="0"/>
            </a:p>
          </p:txBody>
        </p:sp>
        <p:sp>
          <p:nvSpPr>
            <p:cNvPr id="117" name="Rectangle 5"/>
            <p:cNvSpPr>
              <a:spLocks noChangeArrowheads="1"/>
            </p:cNvSpPr>
            <p:nvPr/>
          </p:nvSpPr>
          <p:spPr bwMode="auto">
            <a:xfrm>
              <a:off x="2590800" y="1676400"/>
              <a:ext cx="870005" cy="661929"/>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Select </a:t>
              </a:r>
            </a:p>
            <a:p>
              <a:pPr algn="ctr">
                <a:defRPr/>
              </a:pPr>
              <a:r>
                <a:rPr lang="en-US" sz="1200" dirty="0" smtClean="0"/>
                <a:t>viewpoints</a:t>
              </a:r>
              <a:endParaRPr lang="en-US" sz="1200" dirty="0"/>
            </a:p>
          </p:txBody>
        </p:sp>
        <p:sp>
          <p:nvSpPr>
            <p:cNvPr id="118" name="Rectangle 5"/>
            <p:cNvSpPr>
              <a:spLocks noChangeArrowheads="1"/>
            </p:cNvSpPr>
            <p:nvPr/>
          </p:nvSpPr>
          <p:spPr bwMode="auto">
            <a:xfrm>
              <a:off x="1828800" y="1676400"/>
              <a:ext cx="736158" cy="661929"/>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Identify</a:t>
              </a:r>
            </a:p>
            <a:p>
              <a:pPr algn="ctr">
                <a:defRPr/>
              </a:pPr>
              <a:r>
                <a:rPr lang="en-US" sz="1200" dirty="0" smtClean="0"/>
                <a:t>riskiest </a:t>
              </a:r>
            </a:p>
            <a:p>
              <a:pPr algn="ctr">
                <a:defRPr/>
              </a:pPr>
              <a:r>
                <a:rPr lang="en-US" sz="1200" dirty="0" smtClean="0"/>
                <a:t>software</a:t>
              </a:r>
              <a:endParaRPr lang="en-US" sz="1200" dirty="0"/>
            </a:p>
          </p:txBody>
        </p:sp>
        <p:sp>
          <p:nvSpPr>
            <p:cNvPr id="119" name="Rectangle 5"/>
            <p:cNvSpPr>
              <a:spLocks noChangeArrowheads="1"/>
            </p:cNvSpPr>
            <p:nvPr/>
          </p:nvSpPr>
          <p:spPr bwMode="auto">
            <a:xfrm>
              <a:off x="3733800" y="1700271"/>
              <a:ext cx="651344"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Gather </a:t>
              </a:r>
            </a:p>
            <a:p>
              <a:pPr algn="ctr">
                <a:defRPr/>
              </a:pPr>
              <a:r>
                <a:rPr lang="en-US" sz="1200" dirty="0" smtClean="0"/>
                <a:t>artifacts</a:t>
              </a:r>
              <a:endParaRPr lang="en-US" sz="1200" dirty="0"/>
            </a:p>
          </p:txBody>
        </p:sp>
        <p:sp>
          <p:nvSpPr>
            <p:cNvPr id="120" name="Rectangle 5"/>
            <p:cNvSpPr>
              <a:spLocks noChangeArrowheads="1"/>
            </p:cNvSpPr>
            <p:nvPr/>
          </p:nvSpPr>
          <p:spPr bwMode="auto">
            <a:xfrm>
              <a:off x="7010400" y="1700271"/>
              <a:ext cx="762000"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Define </a:t>
              </a:r>
            </a:p>
            <a:p>
              <a:pPr algn="ctr">
                <a:defRPr/>
              </a:pPr>
              <a:r>
                <a:rPr lang="en-US" sz="1200" dirty="0" smtClean="0"/>
                <a:t>likelihood </a:t>
              </a:r>
            </a:p>
            <a:p>
              <a:pPr algn="ctr">
                <a:defRPr/>
              </a:pPr>
              <a:r>
                <a:rPr lang="en-US" sz="1200" dirty="0" smtClean="0"/>
                <a:t>and </a:t>
              </a:r>
            </a:p>
            <a:p>
              <a:pPr algn="ctr">
                <a:defRPr/>
              </a:pPr>
              <a:r>
                <a:rPr lang="en-US" sz="1200" dirty="0" smtClean="0"/>
                <a:t>severity</a:t>
              </a:r>
              <a:endParaRPr lang="en-US" sz="1200" dirty="0"/>
            </a:p>
          </p:txBody>
        </p:sp>
        <p:sp>
          <p:nvSpPr>
            <p:cNvPr id="121" name="Rectangle 5"/>
            <p:cNvSpPr>
              <a:spLocks noChangeArrowheads="1"/>
            </p:cNvSpPr>
            <p:nvPr/>
          </p:nvSpPr>
          <p:spPr bwMode="auto">
            <a:xfrm>
              <a:off x="7848600" y="1700271"/>
              <a:ext cx="685800"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Select </a:t>
              </a:r>
            </a:p>
            <a:p>
              <a:pPr algn="ctr">
                <a:defRPr/>
              </a:pPr>
              <a:r>
                <a:rPr lang="en-US" sz="1200" dirty="0" smtClean="0"/>
                <a:t>template </a:t>
              </a:r>
            </a:p>
            <a:p>
              <a:pPr algn="ctr">
                <a:defRPr/>
              </a:pPr>
              <a:r>
                <a:rPr lang="en-US" sz="1200" dirty="0" smtClean="0"/>
                <a:t>and </a:t>
              </a:r>
            </a:p>
            <a:p>
              <a:pPr algn="ctr">
                <a:defRPr/>
              </a:pPr>
              <a:r>
                <a:rPr lang="en-US" sz="1200" dirty="0" smtClean="0"/>
                <a:t>tools</a:t>
              </a:r>
              <a:endParaRPr lang="en-US" sz="1200" dirty="0"/>
            </a:p>
          </p:txBody>
        </p:sp>
        <p:sp>
          <p:nvSpPr>
            <p:cNvPr id="122" name="Rectangle 28"/>
            <p:cNvSpPr>
              <a:spLocks noChangeArrowheads="1"/>
            </p:cNvSpPr>
            <p:nvPr/>
          </p:nvSpPr>
          <p:spPr bwMode="auto">
            <a:xfrm>
              <a:off x="5181600" y="4953000"/>
              <a:ext cx="1749287" cy="470053"/>
            </a:xfrm>
            <a:prstGeom prst="rect">
              <a:avLst/>
            </a:prstGeom>
            <a:solidFill>
              <a:schemeClr val="accent1"/>
            </a:solidFill>
            <a:ln w="9525">
              <a:solidFill>
                <a:schemeClr val="accent1">
                  <a:lumMod val="50000"/>
                </a:schemeClr>
              </a:solidFill>
              <a:miter lim="800000"/>
              <a:headEnd/>
              <a:tailEnd/>
            </a:ln>
          </p:spPr>
          <p:txBody>
            <a:bodyPr wrap="none" anchor="ctr"/>
            <a:lstStyle/>
            <a:p>
              <a:pPr algn="ctr">
                <a:defRPr/>
              </a:pPr>
              <a:r>
                <a:rPr lang="en-US" sz="1200" dirty="0" smtClean="0"/>
                <a:t>Revise RPN</a:t>
              </a:r>
              <a:endParaRPr lang="en-US" sz="1200" dirty="0"/>
            </a:p>
          </p:txBody>
        </p:sp>
        <p:cxnSp>
          <p:nvCxnSpPr>
            <p:cNvPr id="123" name="Straight Arrow Connector 122"/>
            <p:cNvCxnSpPr>
              <a:stCxn id="102" idx="2"/>
              <a:endCxn id="101" idx="0"/>
            </p:cNvCxnSpPr>
            <p:nvPr/>
          </p:nvCxnSpPr>
          <p:spPr>
            <a:xfrm flipH="1">
              <a:off x="1716489" y="2971800"/>
              <a:ext cx="2969811" cy="304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a:stCxn id="101" idx="3"/>
              <a:endCxn id="106" idx="1"/>
            </p:cNvCxnSpPr>
            <p:nvPr/>
          </p:nvCxnSpPr>
          <p:spPr>
            <a:xfrm>
              <a:off x="2686879" y="4876800"/>
              <a:ext cx="133847"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a:stCxn id="106" idx="3"/>
              <a:endCxn id="100" idx="1"/>
            </p:cNvCxnSpPr>
            <p:nvPr/>
          </p:nvCxnSpPr>
          <p:spPr>
            <a:xfrm>
              <a:off x="4895354" y="4876800"/>
              <a:ext cx="133846"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6" name="Rectangle 5"/>
            <p:cNvSpPr>
              <a:spLocks noChangeArrowheads="1"/>
            </p:cNvSpPr>
            <p:nvPr/>
          </p:nvSpPr>
          <p:spPr bwMode="auto">
            <a:xfrm>
              <a:off x="5255150" y="1700271"/>
              <a:ext cx="736158" cy="661930"/>
            </a:xfrm>
            <a:prstGeom prst="rect">
              <a:avLst/>
            </a:prstGeom>
            <a:solidFill>
              <a:schemeClr val="accent1"/>
            </a:solidFill>
            <a:ln w="12700">
              <a:solidFill>
                <a:schemeClr val="accent1">
                  <a:lumMod val="50000"/>
                </a:schemeClr>
              </a:solidFill>
              <a:miter lim="800000"/>
              <a:headEnd/>
              <a:tailEnd/>
            </a:ln>
          </p:spPr>
          <p:txBody>
            <a:bodyPr wrap="none" anchor="ctr"/>
            <a:lstStyle/>
            <a:p>
              <a:pPr algn="ctr">
                <a:defRPr/>
              </a:pPr>
              <a:r>
                <a:rPr lang="en-US" sz="1200" dirty="0" smtClean="0"/>
                <a:t>Decide </a:t>
              </a:r>
            </a:p>
            <a:p>
              <a:pPr algn="ctr">
                <a:defRPr/>
              </a:pPr>
              <a:r>
                <a:rPr lang="en-US" sz="1200" dirty="0" smtClean="0"/>
                <a:t>selection </a:t>
              </a:r>
            </a:p>
            <a:p>
              <a:pPr algn="ctr">
                <a:defRPr/>
              </a:pPr>
              <a:r>
                <a:rPr lang="en-US" sz="1200" dirty="0" smtClean="0"/>
                <a:t>scheme</a:t>
              </a:r>
              <a:endParaRPr lang="en-US" sz="1200" dirty="0"/>
            </a:p>
          </p:txBody>
        </p:sp>
        <p:sp>
          <p:nvSpPr>
            <p:cNvPr id="127" name="Rectangle 126"/>
            <p:cNvSpPr/>
            <p:nvPr/>
          </p:nvSpPr>
          <p:spPr>
            <a:xfrm>
              <a:off x="762000" y="1600200"/>
              <a:ext cx="2819400" cy="1066800"/>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r>
                <a:rPr lang="en-US" sz="1400" dirty="0" smtClean="0">
                  <a:solidFill>
                    <a:schemeClr val="tx1"/>
                  </a:solidFill>
                </a:rPr>
                <a:t>Define scope</a:t>
              </a:r>
              <a:endParaRPr lang="en-US" sz="1400" dirty="0">
                <a:solidFill>
                  <a:schemeClr val="tx1"/>
                </a:solidFill>
              </a:endParaRPr>
            </a:p>
          </p:txBody>
        </p:sp>
        <p:sp>
          <p:nvSpPr>
            <p:cNvPr id="128" name="Rectangle 127"/>
            <p:cNvSpPr/>
            <p:nvPr/>
          </p:nvSpPr>
          <p:spPr>
            <a:xfrm>
              <a:off x="3657600" y="1600200"/>
              <a:ext cx="2362200" cy="1066800"/>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r>
                <a:rPr lang="en-US" sz="1400" dirty="0" smtClean="0">
                  <a:solidFill>
                    <a:schemeClr val="tx1"/>
                  </a:solidFill>
                </a:rPr>
                <a:t>Identify resources</a:t>
              </a:r>
              <a:endParaRPr lang="en-US" sz="1400" dirty="0">
                <a:solidFill>
                  <a:schemeClr val="tx1"/>
                </a:solidFill>
              </a:endParaRPr>
            </a:p>
          </p:txBody>
        </p:sp>
        <p:sp>
          <p:nvSpPr>
            <p:cNvPr id="135" name="Rectangle 134"/>
            <p:cNvSpPr/>
            <p:nvPr/>
          </p:nvSpPr>
          <p:spPr>
            <a:xfrm>
              <a:off x="6096000" y="1600200"/>
              <a:ext cx="2514600" cy="1066800"/>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endParaRPr lang="en-US" sz="1400" dirty="0" smtClean="0">
                <a:solidFill>
                  <a:schemeClr val="tx1"/>
                </a:solidFill>
              </a:endParaRPr>
            </a:p>
            <a:p>
              <a:pPr algn="ctr"/>
              <a:r>
                <a:rPr lang="en-US" sz="1400" dirty="0" smtClean="0">
                  <a:solidFill>
                    <a:schemeClr val="tx1"/>
                  </a:solidFill>
                </a:rPr>
                <a:t>Tailor the SFMEA</a:t>
              </a:r>
              <a:endParaRPr lang="en-US" sz="1400" dirty="0">
                <a:solidFill>
                  <a:schemeClr val="tx1"/>
                </a:solidFill>
              </a:endParaRPr>
            </a:p>
          </p:txBody>
        </p:sp>
        <p:cxnSp>
          <p:nvCxnSpPr>
            <p:cNvPr id="43" name="Straight Arrow Connector 42"/>
            <p:cNvCxnSpPr>
              <a:stCxn id="100" idx="3"/>
              <a:endCxn id="39" idx="1"/>
            </p:cNvCxnSpPr>
            <p:nvPr/>
          </p:nvCxnSpPr>
          <p:spPr>
            <a:xfrm>
              <a:off x="7103828" y="4876800"/>
              <a:ext cx="202758" cy="1523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7" name="Rectangle 3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79921"/>
            <a:ext cx="7886700" cy="767880"/>
          </a:xfrm>
        </p:spPr>
        <p:txBody>
          <a:bodyPr>
            <a:normAutofit/>
          </a:bodyPr>
          <a:lstStyle/>
          <a:p>
            <a:r>
              <a:rPr lang="en-US" sz="2800" dirty="0" smtClean="0"/>
              <a:t>Differences between hardware and software FMEA</a:t>
            </a:r>
            <a:endParaRPr lang="en-US" sz="2800" dirty="0"/>
          </a:p>
        </p:txBody>
      </p:sp>
      <p:sp>
        <p:nvSpPr>
          <p:cNvPr id="3" name="Content Placeholder 2"/>
          <p:cNvSpPr>
            <a:spLocks noGrp="1"/>
          </p:cNvSpPr>
          <p:nvPr>
            <p:ph idx="1"/>
          </p:nvPr>
        </p:nvSpPr>
        <p:spPr>
          <a:xfrm>
            <a:off x="685800" y="1447801"/>
            <a:ext cx="7675350" cy="4351338"/>
          </a:xfrm>
        </p:spPr>
        <p:txBody>
          <a:bodyPr>
            <a:normAutofit/>
          </a:bodyPr>
          <a:lstStyle/>
          <a:p>
            <a:r>
              <a:rPr lang="en-US" dirty="0" smtClean="0"/>
              <a:t>Software failure modes are analyzed via different “viewpoints” than the hardware</a:t>
            </a:r>
          </a:p>
          <a:p>
            <a:r>
              <a:rPr lang="en-US" dirty="0" smtClean="0"/>
              <a:t>Software has its own unique set of failure modes</a:t>
            </a:r>
          </a:p>
          <a:p>
            <a:r>
              <a:rPr lang="en-US" dirty="0" smtClean="0"/>
              <a:t>A SFMEA can and will analyze how software reacts to a hardware failure</a:t>
            </a:r>
          </a:p>
          <a:p>
            <a:r>
              <a:rPr lang="en-US" dirty="0" smtClean="0"/>
              <a:t>The same FMEA template can be used for software with some minor alterations</a:t>
            </a:r>
          </a:p>
          <a:p>
            <a:pPr lvl="1"/>
            <a:r>
              <a:rPr lang="en-US" sz="2400" dirty="0" smtClean="0"/>
              <a:t>There is a different template for each of the 8 software failure mode viewpoints</a:t>
            </a:r>
            <a:endParaRPr lang="en-US" sz="2400" dirty="0"/>
          </a:p>
        </p:txBody>
      </p:sp>
      <p:sp>
        <p:nvSpPr>
          <p:cNvPr id="5" name="TextBox 78"/>
          <p:cNvSpPr txBox="1">
            <a:spLocks noChangeArrowheads="1"/>
          </p:cNvSpPr>
          <p:nvPr/>
        </p:nvSpPr>
        <p:spPr bwMode="auto">
          <a:xfrm>
            <a:off x="152400" y="228600"/>
            <a:ext cx="6934200" cy="369332"/>
          </a:xfrm>
          <a:prstGeom prst="rect">
            <a:avLst/>
          </a:prstGeom>
          <a:noFill/>
          <a:ln w="9525">
            <a:noFill/>
            <a:miter lim="800000"/>
            <a:headEnd/>
            <a:tailEnd/>
          </a:ln>
        </p:spPr>
        <p:txBody>
          <a:bodyPr wrap="square">
            <a:spAutoFit/>
          </a:bodyPr>
          <a:lstStyle/>
          <a:p>
            <a:r>
              <a:rPr lang="en-US" dirty="0" smtClean="0">
                <a:solidFill>
                  <a:schemeClr val="tx2"/>
                </a:solidFill>
              </a:rPr>
              <a:t>1.7 Differences between SFMEA and hardware FMEA</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65847" y="642143"/>
            <a:ext cx="8763000" cy="457201"/>
          </a:xfrm>
        </p:spPr>
        <p:txBody>
          <a:bodyPr>
            <a:noAutofit/>
          </a:bodyPr>
          <a:lstStyle/>
          <a:p>
            <a:pPr eaLnBrk="1" hangingPunct="1"/>
            <a:r>
              <a:rPr lang="en-US" dirty="0" smtClean="0"/>
              <a:t>Outline for this section</a:t>
            </a:r>
          </a:p>
        </p:txBody>
      </p:sp>
      <p:sp>
        <p:nvSpPr>
          <p:cNvPr id="25603" name="Rectangle 3"/>
          <p:cNvSpPr>
            <a:spLocks noGrp="1" noChangeArrowheads="1"/>
          </p:cNvSpPr>
          <p:nvPr>
            <p:ph idx="1"/>
          </p:nvPr>
        </p:nvSpPr>
        <p:spPr>
          <a:xfrm>
            <a:off x="156882" y="1099344"/>
            <a:ext cx="8301318" cy="4114800"/>
          </a:xfrm>
        </p:spPr>
        <p:txBody>
          <a:bodyPr>
            <a:noAutofit/>
          </a:bodyPr>
          <a:lstStyle/>
          <a:p>
            <a:pPr marL="320675" lvl="1" indent="0">
              <a:buNone/>
            </a:pPr>
            <a:r>
              <a:rPr lang="en-US" sz="2800" dirty="0" smtClean="0"/>
              <a:t>2.1 Identify </a:t>
            </a:r>
            <a:r>
              <a:rPr lang="en-US" sz="2800" dirty="0" smtClean="0"/>
              <a:t>where the SFMEA applies </a:t>
            </a:r>
          </a:p>
          <a:p>
            <a:pPr marL="320675" lvl="1" indent="0">
              <a:buNone/>
            </a:pPr>
            <a:r>
              <a:rPr lang="en-US" sz="2800" dirty="0" smtClean="0"/>
              <a:t>2.2 Identify </a:t>
            </a:r>
            <a:r>
              <a:rPr lang="en-US" sz="2800" dirty="0" smtClean="0"/>
              <a:t>the riskiest parts of the software</a:t>
            </a:r>
          </a:p>
          <a:p>
            <a:pPr marL="320675" lvl="1" indent="0">
              <a:buNone/>
            </a:pPr>
            <a:r>
              <a:rPr lang="en-US" sz="2800" dirty="0" smtClean="0"/>
              <a:t>2.3 Identify </a:t>
            </a:r>
            <a:r>
              <a:rPr lang="en-US" sz="2800" dirty="0" smtClean="0"/>
              <a:t>applicable viewpoints</a:t>
            </a:r>
          </a:p>
          <a:p>
            <a:pPr marL="320675" lvl="1" indent="0">
              <a:buNone/>
            </a:pPr>
            <a:r>
              <a:rPr lang="en-US" sz="2800" dirty="0" smtClean="0"/>
              <a:t>2.4 Gather </a:t>
            </a:r>
            <a:r>
              <a:rPr lang="en-US" sz="2800" dirty="0" smtClean="0"/>
              <a:t>documentation and artifacts</a:t>
            </a:r>
          </a:p>
          <a:p>
            <a:pPr marL="320675" lvl="1" indent="0">
              <a:buNone/>
            </a:pPr>
            <a:r>
              <a:rPr lang="en-US" sz="2800" dirty="0" smtClean="0"/>
              <a:t>2.5 Identify </a:t>
            </a:r>
            <a:r>
              <a:rPr lang="en-US" sz="2800" dirty="0"/>
              <a:t>p</a:t>
            </a:r>
            <a:r>
              <a:rPr lang="en-US" sz="2800" dirty="0" smtClean="0"/>
              <a:t>ersonnel required</a:t>
            </a:r>
          </a:p>
          <a:p>
            <a:pPr marL="320675" lvl="1" indent="0">
              <a:buNone/>
            </a:pPr>
            <a:r>
              <a:rPr lang="en-US" sz="2800" dirty="0" smtClean="0"/>
              <a:t>2.6 Decide selection scheme</a:t>
            </a:r>
            <a:endParaRPr lang="en-US" sz="2800" dirty="0" smtClean="0"/>
          </a:p>
          <a:p>
            <a:pPr marL="320675" lvl="1" indent="0">
              <a:buNone/>
            </a:pPr>
            <a:r>
              <a:rPr lang="en-US" sz="2800" dirty="0" smtClean="0"/>
              <a:t>2.7 Set </a:t>
            </a:r>
            <a:r>
              <a:rPr lang="en-US" sz="2800" dirty="0" smtClean="0"/>
              <a:t>ground rules</a:t>
            </a:r>
          </a:p>
          <a:p>
            <a:pPr marL="320675" lvl="1" indent="0">
              <a:buNone/>
            </a:pPr>
            <a:r>
              <a:rPr lang="en-US" sz="2800" dirty="0" smtClean="0"/>
              <a:t>2.8 Review </a:t>
            </a:r>
            <a:r>
              <a:rPr lang="en-US" sz="2800" dirty="0" smtClean="0"/>
              <a:t>failure severity and likelihood </a:t>
            </a:r>
            <a:r>
              <a:rPr lang="en-US" sz="2800" dirty="0" smtClean="0"/>
              <a:t>rankings</a:t>
            </a:r>
          </a:p>
          <a:p>
            <a:pPr marL="320675" lvl="1" indent="0">
              <a:buNone/>
            </a:pPr>
            <a:r>
              <a:rPr lang="en-US" sz="2800" dirty="0" smtClean="0"/>
              <a:t>2.9 Select template and tools</a:t>
            </a:r>
            <a:endParaRPr lang="en-US" sz="2800" dirty="0" smtClean="0"/>
          </a:p>
          <a:p>
            <a:pPr eaLnBrk="1" hangingPunct="1">
              <a:lnSpc>
                <a:spcPct val="90000"/>
              </a:lnSpc>
            </a:pPr>
            <a:endParaRPr lang="en-US" sz="5400" dirty="0" smtClean="0"/>
          </a:p>
          <a:p>
            <a:pPr eaLnBrk="1" hangingPunct="1">
              <a:lnSpc>
                <a:spcPct val="90000"/>
              </a:lnSpc>
            </a:pPr>
            <a:endParaRPr lang="en-US" sz="5400" dirty="0" smtClean="0"/>
          </a:p>
        </p:txBody>
      </p:sp>
      <p:sp>
        <p:nvSpPr>
          <p:cNvPr id="25604" name="TextBox 5"/>
          <p:cNvSpPr txBox="1">
            <a:spLocks noChangeArrowheads="1"/>
          </p:cNvSpPr>
          <p:nvPr/>
        </p:nvSpPr>
        <p:spPr bwMode="auto">
          <a:xfrm>
            <a:off x="165847" y="272255"/>
            <a:ext cx="5562600" cy="369888"/>
          </a:xfrm>
          <a:prstGeom prst="rect">
            <a:avLst/>
          </a:prstGeom>
          <a:noFill/>
          <a:ln w="9525">
            <a:noFill/>
            <a:miter lim="800000"/>
            <a:headEnd/>
            <a:tailEnd/>
          </a:ln>
        </p:spPr>
        <p:txBody>
          <a:bodyPr>
            <a:spAutoFit/>
          </a:bodyPr>
          <a:lstStyle/>
          <a:p>
            <a:r>
              <a:rPr lang="en-US" dirty="0">
                <a:solidFill>
                  <a:schemeClr val="tx2"/>
                </a:solidFill>
              </a:rPr>
              <a:t>2.0 </a:t>
            </a:r>
            <a:r>
              <a:rPr lang="en-US" dirty="0" smtClean="0">
                <a:solidFill>
                  <a:schemeClr val="tx2"/>
                </a:solidFill>
              </a:rPr>
              <a:t>Prepare the SFMEA</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Identify where the SFMEA applies</a:t>
            </a:r>
            <a:endParaRPr lang="en-US" dirty="0"/>
          </a:p>
        </p:txBody>
      </p:sp>
      <p:sp>
        <p:nvSpPr>
          <p:cNvPr id="3" name="Content Placeholder 2"/>
          <p:cNvSpPr>
            <a:spLocks noGrp="1"/>
          </p:cNvSpPr>
          <p:nvPr>
            <p:ph idx="1"/>
          </p:nvPr>
        </p:nvSpPr>
        <p:spPr/>
        <p:txBody>
          <a:bodyPr>
            <a:normAutofit/>
          </a:bodyPr>
          <a:lstStyle/>
          <a:p>
            <a:r>
              <a:rPr lang="en-US" sz="2800" dirty="0" smtClean="0"/>
              <a:t>The SFMEA can be applied to</a:t>
            </a:r>
          </a:p>
          <a:p>
            <a:pPr lvl="1"/>
            <a:r>
              <a:rPr lang="en-US" sz="2400" dirty="0" smtClean="0"/>
              <a:t>Software components</a:t>
            </a:r>
          </a:p>
          <a:p>
            <a:pPr lvl="1"/>
            <a:r>
              <a:rPr lang="en-US" sz="2400" dirty="0" smtClean="0"/>
              <a:t>Firmware components</a:t>
            </a:r>
          </a:p>
          <a:p>
            <a:pPr lvl="1"/>
            <a:r>
              <a:rPr lang="en-US" sz="2400" dirty="0" smtClean="0"/>
              <a:t>The interfaces to COTS (Commercial Off The Shelf)</a:t>
            </a:r>
          </a:p>
          <a:p>
            <a:pPr lvl="1"/>
            <a:r>
              <a:rPr lang="en-US" sz="2400" dirty="0" smtClean="0"/>
              <a:t>The </a:t>
            </a:r>
            <a:r>
              <a:rPr lang="en-US" sz="2400" dirty="0"/>
              <a:t>interfaces to </a:t>
            </a:r>
            <a:r>
              <a:rPr lang="en-US" sz="2400" dirty="0" smtClean="0"/>
              <a:t>FOSS </a:t>
            </a:r>
            <a:r>
              <a:rPr lang="en-US" sz="2400" dirty="0"/>
              <a:t>(Free Open Source Software) </a:t>
            </a:r>
            <a:endParaRPr lang="en-US" sz="2400" dirty="0" smtClean="0"/>
          </a:p>
          <a:p>
            <a:pPr lvl="1"/>
            <a:r>
              <a:rPr lang="en-US" sz="2400" dirty="0" smtClean="0"/>
              <a:t>GFS </a:t>
            </a:r>
            <a:r>
              <a:rPr lang="en-US" sz="2400" dirty="0"/>
              <a:t>(Government Furnished Software)  </a:t>
            </a:r>
          </a:p>
          <a:p>
            <a:pPr lvl="1"/>
            <a:r>
              <a:rPr lang="en-US" sz="2400" dirty="0" smtClean="0"/>
              <a:t> New and existing code</a:t>
            </a:r>
          </a:p>
          <a:p>
            <a:r>
              <a:rPr lang="en-US" sz="2800" dirty="0" smtClean="0"/>
              <a:t>Identify all software and firmware LRUs in the system</a:t>
            </a:r>
            <a:endParaRPr lang="en-US" sz="2800" dirty="0"/>
          </a:p>
        </p:txBody>
      </p:sp>
      <p:sp>
        <p:nvSpPr>
          <p:cNvPr id="6" name="TextBox 5"/>
          <p:cNvSpPr txBox="1">
            <a:spLocks noChangeArrowheads="1"/>
          </p:cNvSpPr>
          <p:nvPr/>
        </p:nvSpPr>
        <p:spPr bwMode="auto">
          <a:xfrm>
            <a:off x="141316" y="92074"/>
            <a:ext cx="5562600" cy="369888"/>
          </a:xfrm>
          <a:prstGeom prst="rect">
            <a:avLst/>
          </a:prstGeom>
          <a:noFill/>
          <a:ln w="9525">
            <a:noFill/>
            <a:miter lim="800000"/>
            <a:headEnd/>
            <a:tailEnd/>
          </a:ln>
        </p:spPr>
        <p:txBody>
          <a:bodyPr>
            <a:spAutoFit/>
          </a:bodyPr>
          <a:lstStyle/>
          <a:p>
            <a:r>
              <a:rPr lang="en-US" dirty="0" smtClean="0">
                <a:solidFill>
                  <a:schemeClr val="tx2"/>
                </a:solidFill>
              </a:rPr>
              <a:t>2.1 Identify where the SFMEA applies</a:t>
            </a:r>
            <a:endParaRPr lang="en-US" dirty="0">
              <a:solidFill>
                <a:schemeClr val="tx2"/>
              </a:solidFill>
            </a:endParaRP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529497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To maximize efficiency and minimize cost</a:t>
            </a:r>
            <a:endParaRPr lang="en-US" dirty="0"/>
          </a:p>
        </p:txBody>
      </p:sp>
      <p:sp>
        <p:nvSpPr>
          <p:cNvPr id="3" name="Content Placeholder 2"/>
          <p:cNvSpPr>
            <a:spLocks noGrp="1"/>
          </p:cNvSpPr>
          <p:nvPr>
            <p:ph idx="1"/>
          </p:nvPr>
        </p:nvSpPr>
        <p:spPr/>
        <p:txBody>
          <a:bodyPr>
            <a:normAutofit/>
          </a:bodyPr>
          <a:lstStyle/>
          <a:p>
            <a:r>
              <a:rPr lang="en-US" dirty="0" smtClean="0"/>
              <a:t>Rank each software LRU based on whether it’s safety critical, safety related or not safety related</a:t>
            </a:r>
          </a:p>
          <a:p>
            <a:r>
              <a:rPr lang="en-US" dirty="0" smtClean="0"/>
              <a:t>Rank each software LRU based on whether it’s mission critical or not</a:t>
            </a:r>
          </a:p>
          <a:p>
            <a:r>
              <a:rPr lang="en-US" dirty="0" smtClean="0"/>
              <a:t>Rank each software LRU based on it’s past or expected failure potential.  In other words, identify which software LRUs are likely or known to be more problematic than others.</a:t>
            </a:r>
          </a:p>
          <a:p>
            <a:r>
              <a:rPr lang="en-US" dirty="0" smtClean="0"/>
              <a:t>Sort the software LRUs so that the most safety critical, mission critical and problematic LRUs are at the top of the list</a:t>
            </a:r>
          </a:p>
          <a:p>
            <a:pPr lvl="1"/>
            <a:endParaRPr lang="en-US" sz="2400" dirty="0"/>
          </a:p>
        </p:txBody>
      </p:sp>
      <p:sp>
        <p:nvSpPr>
          <p:cNvPr id="6" name="TextBox 5"/>
          <p:cNvSpPr txBox="1">
            <a:spLocks noChangeArrowheads="1"/>
          </p:cNvSpPr>
          <p:nvPr/>
        </p:nvSpPr>
        <p:spPr bwMode="auto">
          <a:xfrm>
            <a:off x="141316" y="92074"/>
            <a:ext cx="5562600" cy="369888"/>
          </a:xfrm>
          <a:prstGeom prst="rect">
            <a:avLst/>
          </a:prstGeom>
          <a:noFill/>
          <a:ln w="9525">
            <a:noFill/>
            <a:miter lim="800000"/>
            <a:headEnd/>
            <a:tailEnd/>
          </a:ln>
        </p:spPr>
        <p:txBody>
          <a:bodyPr>
            <a:spAutoFit/>
          </a:bodyPr>
          <a:lstStyle/>
          <a:p>
            <a:r>
              <a:rPr lang="en-US" dirty="0" smtClean="0">
                <a:solidFill>
                  <a:schemeClr val="tx2"/>
                </a:solidFill>
              </a:rPr>
              <a:t>2.2 Identify the riskiest parts of the software</a:t>
            </a:r>
            <a:endParaRPr lang="en-US" dirty="0">
              <a:solidFill>
                <a:schemeClr val="tx2"/>
              </a:solidFill>
            </a:endParaRP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1422605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533344"/>
            <a:ext cx="8581465" cy="457256"/>
          </a:xfrm>
        </p:spPr>
        <p:txBody>
          <a:bodyPr>
            <a:noAutofit/>
          </a:bodyPr>
          <a:lstStyle/>
          <a:p>
            <a:r>
              <a:rPr lang="en-US" sz="2400" dirty="0" smtClean="0"/>
              <a:t>Identify most relevant viewpoint for a particular software version</a:t>
            </a:r>
            <a:endParaRPr lang="en-US" sz="2400" dirty="0"/>
          </a:p>
        </p:txBody>
      </p:sp>
      <p:sp>
        <p:nvSpPr>
          <p:cNvPr id="5" name="TextBox 4"/>
          <p:cNvSpPr txBox="1">
            <a:spLocks noChangeArrowheads="1"/>
          </p:cNvSpPr>
          <p:nvPr/>
        </p:nvSpPr>
        <p:spPr bwMode="auto">
          <a:xfrm>
            <a:off x="228600" y="138277"/>
            <a:ext cx="5562600" cy="369888"/>
          </a:xfrm>
          <a:prstGeom prst="rect">
            <a:avLst/>
          </a:prstGeom>
          <a:noFill/>
          <a:ln w="9525">
            <a:noFill/>
            <a:miter lim="800000"/>
            <a:headEnd/>
            <a:tailEnd/>
          </a:ln>
        </p:spPr>
        <p:txBody>
          <a:bodyPr>
            <a:spAutoFit/>
          </a:bodyPr>
          <a:lstStyle/>
          <a:p>
            <a:r>
              <a:rPr lang="en-US" dirty="0" smtClean="0">
                <a:solidFill>
                  <a:schemeClr val="tx2"/>
                </a:solidFill>
              </a:rPr>
              <a:t>2.3 Identify </a:t>
            </a:r>
            <a:r>
              <a:rPr lang="en-US" dirty="0" smtClean="0">
                <a:solidFill>
                  <a:schemeClr val="tx2"/>
                </a:solidFill>
              </a:rPr>
              <a:t>applicable viewpoints</a:t>
            </a:r>
            <a:endParaRPr lang="en-US" dirty="0">
              <a:solidFill>
                <a:schemeClr val="tx2"/>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589430089"/>
              </p:ext>
            </p:extLst>
          </p:nvPr>
        </p:nvGraphicFramePr>
        <p:xfrm>
          <a:off x="228599" y="1015779"/>
          <a:ext cx="8572500" cy="5252720"/>
        </p:xfrm>
        <a:graphic>
          <a:graphicData uri="http://schemas.openxmlformats.org/drawingml/2006/table">
            <a:tbl>
              <a:tblPr firstRow="1" bandRow="1">
                <a:tableStyleId>{5C22544A-7EE6-4342-B048-85BDC9FD1C3A}</a:tableStyleId>
              </a:tblPr>
              <a:tblGrid>
                <a:gridCol w="1680882"/>
                <a:gridCol w="6891618"/>
              </a:tblGrid>
              <a:tr h="142240">
                <a:tc>
                  <a:txBody>
                    <a:bodyPr/>
                    <a:lstStyle/>
                    <a:p>
                      <a:r>
                        <a:rPr lang="en-US" sz="2000" dirty="0" smtClean="0"/>
                        <a:t>FMEA</a:t>
                      </a:r>
                      <a:endParaRPr lang="en-US" sz="2000" dirty="0"/>
                    </a:p>
                  </a:txBody>
                  <a:tcPr/>
                </a:tc>
                <a:tc>
                  <a:txBody>
                    <a:bodyPr/>
                    <a:lstStyle/>
                    <a:p>
                      <a:r>
                        <a:rPr lang="en-US" sz="2000" dirty="0" smtClean="0"/>
                        <a:t>When this viewpoint is relevant</a:t>
                      </a:r>
                      <a:endParaRPr lang="en-US" sz="2000" dirty="0"/>
                    </a:p>
                  </a:txBody>
                  <a:tcPr/>
                </a:tc>
              </a:tr>
              <a:tr h="370840">
                <a:tc>
                  <a:txBody>
                    <a:bodyPr/>
                    <a:lstStyle/>
                    <a:p>
                      <a:r>
                        <a:rPr lang="en-US" sz="1800" dirty="0" smtClean="0"/>
                        <a:t>Functional</a:t>
                      </a:r>
                      <a:endParaRPr lang="en-US" sz="1800" dirty="0"/>
                    </a:p>
                  </a:txBody>
                  <a:tcPr/>
                </a:tc>
                <a:tc>
                  <a:txBody>
                    <a:bodyPr/>
                    <a:lstStyle/>
                    <a:p>
                      <a:pPr marL="0" marR="0" hangingPunct="0">
                        <a:spcBef>
                          <a:spcPts val="0"/>
                        </a:spcBef>
                        <a:spcAft>
                          <a:spcPts val="0"/>
                        </a:spcAft>
                      </a:pPr>
                      <a:r>
                        <a:rPr lang="en-US" sz="1800" dirty="0">
                          <a:latin typeface="+mn-lt"/>
                          <a:ea typeface="Times New Roman"/>
                        </a:rPr>
                        <a:t>Any new system or any time there is a new or updated set of requirements.</a:t>
                      </a:r>
                      <a:endParaRPr lang="en-US" sz="2000" dirty="0">
                        <a:latin typeface="+mn-lt"/>
                        <a:ea typeface="Times New Roman"/>
                      </a:endParaRPr>
                    </a:p>
                  </a:txBody>
                  <a:tcPr marL="60158" marR="60158" marT="0" marB="0"/>
                </a:tc>
              </a:tr>
              <a:tr h="370840">
                <a:tc>
                  <a:txBody>
                    <a:bodyPr/>
                    <a:lstStyle/>
                    <a:p>
                      <a:r>
                        <a:rPr lang="en-US" sz="1800" dirty="0" smtClean="0"/>
                        <a:t>Interface</a:t>
                      </a:r>
                      <a:endParaRPr lang="en-US" sz="1800" dirty="0"/>
                    </a:p>
                  </a:txBody>
                  <a:tcPr/>
                </a:tc>
                <a:tc>
                  <a:txBody>
                    <a:bodyPr/>
                    <a:lstStyle/>
                    <a:p>
                      <a:pPr marL="0" marR="0" hangingPunct="0">
                        <a:spcBef>
                          <a:spcPts val="0"/>
                        </a:spcBef>
                        <a:spcAft>
                          <a:spcPts val="0"/>
                        </a:spcAft>
                      </a:pPr>
                      <a:r>
                        <a:rPr lang="en-US" sz="1800" dirty="0">
                          <a:latin typeface="+mn-lt"/>
                          <a:ea typeface="Times New Roman"/>
                        </a:rPr>
                        <a:t>Anytime there is complex hardware and software interfaces or software to software interfaces.</a:t>
                      </a:r>
                      <a:endParaRPr lang="en-US" sz="2000" dirty="0">
                        <a:latin typeface="+mn-lt"/>
                        <a:ea typeface="Times New Roman"/>
                      </a:endParaRPr>
                    </a:p>
                  </a:txBody>
                  <a:tcPr marL="60158" marR="60158" marT="0" marB="0"/>
                </a:tc>
              </a:tr>
              <a:tr h="370840">
                <a:tc>
                  <a:txBody>
                    <a:bodyPr/>
                    <a:lstStyle/>
                    <a:p>
                      <a:r>
                        <a:rPr lang="en-US" sz="1800" dirty="0" smtClean="0"/>
                        <a:t>Detailed</a:t>
                      </a:r>
                      <a:endParaRPr lang="en-US" sz="1800" dirty="0"/>
                    </a:p>
                  </a:txBody>
                  <a:tcPr/>
                </a:tc>
                <a:tc>
                  <a:txBody>
                    <a:bodyPr/>
                    <a:lstStyle/>
                    <a:p>
                      <a:pPr marL="0" marR="0" hangingPunct="0">
                        <a:spcBef>
                          <a:spcPts val="0"/>
                        </a:spcBef>
                        <a:spcAft>
                          <a:spcPts val="0"/>
                        </a:spcAft>
                      </a:pPr>
                      <a:r>
                        <a:rPr lang="en-US" sz="1800" dirty="0">
                          <a:latin typeface="+mn-lt"/>
                          <a:ea typeface="Times New Roman"/>
                        </a:rPr>
                        <a:t>Almost any type of system is applicable.  Most useful for mathematically intensive functions.  </a:t>
                      </a:r>
                      <a:endParaRPr lang="en-US" sz="2000" dirty="0">
                        <a:latin typeface="+mn-lt"/>
                        <a:ea typeface="Times New Roman"/>
                      </a:endParaRPr>
                    </a:p>
                  </a:txBody>
                  <a:tcPr marL="60158" marR="60158" marT="0" marB="0"/>
                </a:tc>
              </a:tr>
              <a:tr h="370840">
                <a:tc>
                  <a:txBody>
                    <a:bodyPr/>
                    <a:lstStyle/>
                    <a:p>
                      <a:r>
                        <a:rPr lang="en-US" sz="1800" dirty="0" smtClean="0"/>
                        <a:t>Maintenance</a:t>
                      </a:r>
                      <a:endParaRPr lang="en-US" sz="1800" dirty="0"/>
                    </a:p>
                  </a:txBody>
                  <a:tcPr/>
                </a:tc>
                <a:tc>
                  <a:txBody>
                    <a:bodyPr/>
                    <a:lstStyle/>
                    <a:p>
                      <a:pPr marL="0" marR="0" hangingPunct="0">
                        <a:spcBef>
                          <a:spcPts val="0"/>
                        </a:spcBef>
                        <a:spcAft>
                          <a:spcPts val="0"/>
                        </a:spcAft>
                      </a:pPr>
                      <a:r>
                        <a:rPr lang="en-US" sz="1800" dirty="0">
                          <a:latin typeface="+mn-lt"/>
                          <a:ea typeface="Times New Roman"/>
                        </a:rPr>
                        <a:t>An older legacy system which is prone to errors whenever changes are made.</a:t>
                      </a:r>
                      <a:endParaRPr lang="en-US" sz="2000" dirty="0">
                        <a:latin typeface="+mn-lt"/>
                        <a:ea typeface="Times New Roman"/>
                      </a:endParaRPr>
                    </a:p>
                  </a:txBody>
                  <a:tcPr marL="60158" marR="60158" marT="0" marB="0"/>
                </a:tc>
              </a:tr>
              <a:tr h="370840">
                <a:tc>
                  <a:txBody>
                    <a:bodyPr/>
                    <a:lstStyle/>
                    <a:p>
                      <a:r>
                        <a:rPr lang="en-US" sz="1800" dirty="0" smtClean="0"/>
                        <a:t>Usability</a:t>
                      </a:r>
                      <a:endParaRPr lang="en-US" sz="1800" dirty="0"/>
                    </a:p>
                  </a:txBody>
                  <a:tcPr/>
                </a:tc>
                <a:tc>
                  <a:txBody>
                    <a:bodyPr/>
                    <a:lstStyle/>
                    <a:p>
                      <a:pPr marL="0" marR="0" hangingPunct="0">
                        <a:spcBef>
                          <a:spcPts val="0"/>
                        </a:spcBef>
                        <a:spcAft>
                          <a:spcPts val="0"/>
                        </a:spcAft>
                      </a:pPr>
                      <a:r>
                        <a:rPr lang="en-US" sz="1800" dirty="0">
                          <a:latin typeface="+mn-lt"/>
                          <a:ea typeface="Times New Roman"/>
                        </a:rPr>
                        <a:t>Anytime user misuse can impact the overall system reliability.  </a:t>
                      </a:r>
                      <a:endParaRPr lang="en-US" sz="2000" dirty="0">
                        <a:latin typeface="+mn-lt"/>
                        <a:ea typeface="Times New Roman"/>
                      </a:endParaRPr>
                    </a:p>
                  </a:txBody>
                  <a:tcPr marL="60158" marR="60158" marT="0" marB="0"/>
                </a:tc>
              </a:tr>
              <a:tr h="370840">
                <a:tc>
                  <a:txBody>
                    <a:bodyPr/>
                    <a:lstStyle/>
                    <a:p>
                      <a:r>
                        <a:rPr lang="en-US" sz="1800" dirty="0" smtClean="0"/>
                        <a:t>Serviceability</a:t>
                      </a:r>
                      <a:endParaRPr lang="en-US" sz="1800" dirty="0"/>
                    </a:p>
                  </a:txBody>
                  <a:tcPr/>
                </a:tc>
                <a:tc>
                  <a:txBody>
                    <a:bodyPr/>
                    <a:lstStyle/>
                    <a:p>
                      <a:pPr marL="0" marR="0" hangingPunct="0">
                        <a:spcBef>
                          <a:spcPts val="0"/>
                        </a:spcBef>
                        <a:spcAft>
                          <a:spcPts val="0"/>
                        </a:spcAft>
                      </a:pPr>
                      <a:r>
                        <a:rPr lang="en-US" sz="1800" dirty="0">
                          <a:latin typeface="+mn-lt"/>
                          <a:ea typeface="Times New Roman"/>
                        </a:rPr>
                        <a:t>Any software that is mass distributed or installed in difficult to service locations.</a:t>
                      </a:r>
                      <a:endParaRPr lang="en-US" sz="2000" dirty="0">
                        <a:latin typeface="+mn-lt"/>
                        <a:ea typeface="Times New Roman"/>
                      </a:endParaRPr>
                    </a:p>
                  </a:txBody>
                  <a:tcPr marL="60158" marR="60158" marT="0" marB="0"/>
                </a:tc>
              </a:tr>
              <a:tr h="370840">
                <a:tc>
                  <a:txBody>
                    <a:bodyPr/>
                    <a:lstStyle/>
                    <a:p>
                      <a:r>
                        <a:rPr lang="en-US" sz="1800" dirty="0" smtClean="0"/>
                        <a:t>Vulnerability</a:t>
                      </a:r>
                      <a:endParaRPr lang="en-US" sz="1800" dirty="0"/>
                    </a:p>
                  </a:txBody>
                  <a:tcPr/>
                </a:tc>
                <a:tc>
                  <a:txBody>
                    <a:bodyPr/>
                    <a:lstStyle/>
                    <a:p>
                      <a:pPr marL="0" marR="0" hangingPunct="0">
                        <a:spcBef>
                          <a:spcPts val="0"/>
                        </a:spcBef>
                        <a:spcAft>
                          <a:spcPts val="0"/>
                        </a:spcAft>
                      </a:pPr>
                      <a:r>
                        <a:rPr lang="en-US" sz="1800" dirty="0">
                          <a:latin typeface="+mn-lt"/>
                          <a:ea typeface="Times New Roman"/>
                        </a:rPr>
                        <a:t>The software is at risk from hacking or intentional abuse.</a:t>
                      </a:r>
                      <a:endParaRPr lang="en-US" sz="2000" dirty="0">
                        <a:latin typeface="+mn-lt"/>
                        <a:ea typeface="Times New Roman"/>
                      </a:endParaRPr>
                    </a:p>
                  </a:txBody>
                  <a:tcPr marL="60158" marR="60158" marT="0" marB="0"/>
                </a:tc>
              </a:tr>
              <a:tr h="370840">
                <a:tc>
                  <a:txBody>
                    <a:bodyPr/>
                    <a:lstStyle/>
                    <a:p>
                      <a:r>
                        <a:rPr lang="en-US" sz="1800" dirty="0" smtClean="0"/>
                        <a:t>Production</a:t>
                      </a:r>
                      <a:endParaRPr lang="en-US" sz="1800" dirty="0"/>
                    </a:p>
                  </a:txBody>
                  <a:tcPr/>
                </a:tc>
                <a:tc>
                  <a:txBody>
                    <a:bodyPr/>
                    <a:lstStyle/>
                    <a:p>
                      <a:pPr marL="342900" marR="0" lvl="0" indent="-342900" hangingPunct="0">
                        <a:spcBef>
                          <a:spcPts val="0"/>
                        </a:spcBef>
                        <a:spcAft>
                          <a:spcPts val="0"/>
                        </a:spcAft>
                        <a:buFont typeface="Symbol"/>
                        <a:buChar char=""/>
                      </a:pPr>
                      <a:r>
                        <a:rPr lang="en-US" sz="1800" dirty="0">
                          <a:latin typeface="+mn-lt"/>
                          <a:ea typeface="Times New Roman"/>
                        </a:rPr>
                        <a:t>One very serious or costly failure has occurred because of the software. </a:t>
                      </a:r>
                      <a:endParaRPr lang="en-US" sz="2000" dirty="0">
                        <a:latin typeface="+mn-lt"/>
                        <a:ea typeface="Times New Roman"/>
                      </a:endParaRPr>
                    </a:p>
                    <a:p>
                      <a:pPr marL="342900" marR="0" lvl="0" indent="-342900" hangingPunct="0">
                        <a:spcBef>
                          <a:spcPts val="0"/>
                        </a:spcBef>
                        <a:spcAft>
                          <a:spcPts val="0"/>
                        </a:spcAft>
                        <a:buFont typeface="Symbol"/>
                        <a:buChar char=""/>
                      </a:pPr>
                      <a:r>
                        <a:rPr lang="en-US" sz="1800" dirty="0">
                          <a:latin typeface="+mn-lt"/>
                          <a:ea typeface="Times New Roman"/>
                        </a:rPr>
                        <a:t>Software is causing the system schedule to slip.  </a:t>
                      </a:r>
                      <a:endParaRPr lang="en-US" sz="2000" dirty="0">
                        <a:latin typeface="+mn-lt"/>
                        <a:ea typeface="Times New Roman"/>
                      </a:endParaRPr>
                    </a:p>
                    <a:p>
                      <a:pPr marL="342900" marR="0" lvl="0" indent="-342900" hangingPunct="0">
                        <a:spcBef>
                          <a:spcPts val="0"/>
                        </a:spcBef>
                        <a:spcAft>
                          <a:spcPts val="0"/>
                        </a:spcAft>
                        <a:buFont typeface="Symbol"/>
                        <a:buChar char=""/>
                      </a:pPr>
                      <a:r>
                        <a:rPr lang="en-US" sz="1800" dirty="0">
                          <a:latin typeface="+mn-lt"/>
                          <a:ea typeface="Times New Roman"/>
                        </a:rPr>
                        <a:t>Many software failures are being observed at a point in time in which the software should be stable.</a:t>
                      </a:r>
                      <a:endParaRPr lang="en-US" sz="2000" dirty="0">
                        <a:latin typeface="+mn-lt"/>
                        <a:ea typeface="Times New Roman"/>
                      </a:endParaRPr>
                    </a:p>
                  </a:txBody>
                  <a:tcPr marL="60158" marR="60158" marT="0" marB="0"/>
                </a:tc>
              </a:tr>
            </a:tbl>
          </a:graphicData>
        </a:graphic>
      </p:graphicFrame>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7" y="517316"/>
            <a:ext cx="7886700" cy="500856"/>
          </a:xfrm>
        </p:spPr>
        <p:txBody>
          <a:bodyPr>
            <a:noAutofit/>
          </a:bodyPr>
          <a:lstStyle/>
          <a:p>
            <a:r>
              <a:rPr lang="en-US" sz="2400" dirty="0"/>
              <a:t>F</a:t>
            </a:r>
            <a:r>
              <a:rPr lang="en-US" sz="2400" dirty="0" smtClean="0"/>
              <a:t>ailure modes most associated with each viewpoint</a:t>
            </a:r>
            <a:endParaRPr lang="en-US" sz="24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629280966"/>
              </p:ext>
            </p:extLst>
          </p:nvPr>
        </p:nvGraphicFramePr>
        <p:xfrm>
          <a:off x="228597" y="887204"/>
          <a:ext cx="8579224" cy="5726956"/>
        </p:xfrm>
        <a:graphic>
          <a:graphicData uri="http://schemas.openxmlformats.org/drawingml/2006/table">
            <a:tbl>
              <a:tblPr/>
              <a:tblGrid>
                <a:gridCol w="1763952"/>
                <a:gridCol w="4487576"/>
                <a:gridCol w="332528"/>
                <a:gridCol w="332528"/>
                <a:gridCol w="332528"/>
                <a:gridCol w="332528"/>
                <a:gridCol w="332528"/>
                <a:gridCol w="332528"/>
                <a:gridCol w="332528"/>
              </a:tblGrid>
              <a:tr h="1093996">
                <a:tc>
                  <a:txBody>
                    <a:bodyPr/>
                    <a:lstStyle/>
                    <a:p>
                      <a:pPr marL="0" marR="0" algn="ctr">
                        <a:spcBef>
                          <a:spcPts val="0"/>
                        </a:spcBef>
                        <a:spcAft>
                          <a:spcPts val="0"/>
                        </a:spcAft>
                      </a:pPr>
                      <a:r>
                        <a:rPr lang="en-US" sz="1400" b="1" dirty="0">
                          <a:solidFill>
                            <a:schemeClr val="bg1"/>
                          </a:solidFill>
                          <a:latin typeface="+mn-lt"/>
                          <a:ea typeface="Times New Roman"/>
                          <a:cs typeface="Times New Roman"/>
                        </a:rPr>
                        <a:t>Failure mode categories</a:t>
                      </a:r>
                      <a:endParaRPr lang="en-US" sz="1600" dirty="0">
                        <a:solidFill>
                          <a:schemeClr val="bg1"/>
                        </a:solidFill>
                        <a:latin typeface="+mn-lt"/>
                        <a:ea typeface="Times New Roman"/>
                        <a:cs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1400" b="1" dirty="0">
                          <a:solidFill>
                            <a:schemeClr val="bg1"/>
                          </a:solidFill>
                          <a:latin typeface="+mn-lt"/>
                          <a:ea typeface="Times New Roman"/>
                        </a:rPr>
                        <a:t>Description </a:t>
                      </a:r>
                      <a:endParaRPr lang="en-US" sz="1600" dirty="0">
                        <a:solidFill>
                          <a:schemeClr val="bg1"/>
                        </a:solidFill>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Functional</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Interface</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Detailed</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Maintenance</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Usability  </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Vulnerability</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200" b="1" dirty="0">
                          <a:solidFill>
                            <a:schemeClr val="bg1"/>
                          </a:solidFill>
                          <a:latin typeface="+mn-lt"/>
                          <a:ea typeface="Times New Roman"/>
                        </a:rPr>
                        <a:t>Serviceability</a:t>
                      </a:r>
                      <a:endParaRPr lang="en-US" sz="14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r>
              <a:tr h="331712">
                <a:tc>
                  <a:txBody>
                    <a:bodyPr/>
                    <a:lstStyle/>
                    <a:p>
                      <a:pPr marL="0" marR="0" hangingPunct="0">
                        <a:spcBef>
                          <a:spcPts val="0"/>
                        </a:spcBef>
                        <a:spcAft>
                          <a:spcPts val="0"/>
                        </a:spcAft>
                      </a:pPr>
                      <a:r>
                        <a:rPr lang="en-US" sz="1600" dirty="0">
                          <a:latin typeface="+mn-lt"/>
                          <a:ea typeface="Times New Roman"/>
                        </a:rPr>
                        <a:t>Faulty functionality</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The software provides the incorrect functionality or fails to provide required functionality</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600" dirty="0">
                          <a:latin typeface="+mn-lt"/>
                          <a:ea typeface="Times New Roman"/>
                        </a:rPr>
                        <a:t>Faulty timing</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The software or parts of it execute too early or too late or the software responds too quickly or too sluggishly</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600" dirty="0">
                          <a:latin typeface="+mn-lt"/>
                          <a:ea typeface="Times New Roman"/>
                        </a:rPr>
                        <a:t>Faulty sequence/ order</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A particular event is initiated in the incorrect order or not at all.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600" dirty="0">
                          <a:latin typeface="+mn-lt"/>
                          <a:ea typeface="Times New Roman"/>
                        </a:rPr>
                        <a:t>Faulty data</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Data is corrupted, incorrect, in the incorrect units, etc.</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600" dirty="0">
                          <a:latin typeface="+mn-lt"/>
                          <a:ea typeface="Times New Roman"/>
                        </a:rPr>
                        <a:t>Faulty error detection and/or recovery</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Software fails to detect or recover from a failure in the system</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600" dirty="0">
                          <a:latin typeface="+mn-lt"/>
                          <a:ea typeface="Times New Roman"/>
                        </a:rPr>
                        <a:t>False alarm</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Software detects a failure when there is none</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600" dirty="0">
                          <a:latin typeface="+mn-lt"/>
                          <a:ea typeface="Times New Roman"/>
                        </a:rPr>
                        <a:t>Faulty synchronization </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The parts of the system aren’t synchronized or communicating.</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 </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600" dirty="0">
                          <a:latin typeface="+mn-lt"/>
                          <a:ea typeface="Times New Roman"/>
                        </a:rPr>
                        <a:t>Faulty Logic</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There is complex logic and the software executes the incorrect response for a certain set of conditions</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600" dirty="0">
                          <a:latin typeface="+mn-lt"/>
                          <a:ea typeface="Times New Roman"/>
                        </a:rPr>
                        <a:t>Faulty Algorithms/</a:t>
                      </a:r>
                      <a:endParaRPr lang="en-US" sz="1800" dirty="0">
                        <a:latin typeface="+mn-lt"/>
                        <a:ea typeface="Times New Roman"/>
                      </a:endParaRPr>
                    </a:p>
                    <a:p>
                      <a:pPr marL="0" marR="0" hangingPunct="0">
                        <a:spcBef>
                          <a:spcPts val="0"/>
                        </a:spcBef>
                        <a:spcAft>
                          <a:spcPts val="0"/>
                        </a:spcAft>
                      </a:pPr>
                      <a:r>
                        <a:rPr lang="en-US" sz="1600" dirty="0">
                          <a:latin typeface="+mn-lt"/>
                          <a:ea typeface="Times New Roman"/>
                        </a:rPr>
                        <a:t>Computations</a:t>
                      </a:r>
                      <a:endParaRPr lang="en-US" sz="18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A formula or set of formulas does not work for all possible inputs</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600" dirty="0">
                          <a:latin typeface="+mn-lt"/>
                          <a:ea typeface="Times New Roman"/>
                        </a:rPr>
                        <a:t>X</a:t>
                      </a: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6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 name="TextBox 3"/>
          <p:cNvSpPr txBox="1">
            <a:spLocks noChangeArrowheads="1"/>
          </p:cNvSpPr>
          <p:nvPr/>
        </p:nvSpPr>
        <p:spPr bwMode="auto">
          <a:xfrm>
            <a:off x="228597" y="147428"/>
            <a:ext cx="5562600" cy="369888"/>
          </a:xfrm>
          <a:prstGeom prst="rect">
            <a:avLst/>
          </a:prstGeom>
          <a:noFill/>
          <a:ln w="9525">
            <a:noFill/>
            <a:miter lim="800000"/>
            <a:headEnd/>
            <a:tailEnd/>
          </a:ln>
        </p:spPr>
        <p:txBody>
          <a:bodyPr>
            <a:spAutoFit/>
          </a:bodyPr>
          <a:lstStyle/>
          <a:p>
            <a:r>
              <a:rPr lang="en-US" dirty="0" smtClean="0">
                <a:solidFill>
                  <a:schemeClr val="tx2"/>
                </a:solidFill>
              </a:rPr>
              <a:t>2.3 Identify </a:t>
            </a:r>
            <a:r>
              <a:rPr lang="en-US" dirty="0" smtClean="0">
                <a:solidFill>
                  <a:schemeClr val="tx2"/>
                </a:solidFill>
              </a:rPr>
              <a:t>applicable viewpoints</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258" y="555812"/>
            <a:ext cx="7886700" cy="546803"/>
          </a:xfrm>
        </p:spPr>
        <p:txBody>
          <a:bodyPr>
            <a:noAutofit/>
          </a:bodyPr>
          <a:lstStyle/>
          <a:p>
            <a:r>
              <a:rPr lang="en-US" sz="2800" dirty="0"/>
              <a:t>F</a:t>
            </a:r>
            <a:r>
              <a:rPr lang="en-US" sz="2800" dirty="0" smtClean="0"/>
              <a:t>ailure modes most associated with each viewpoint</a:t>
            </a:r>
            <a:endParaRPr lang="en-US" sz="28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171693948"/>
              </p:ext>
            </p:extLst>
          </p:nvPr>
        </p:nvGraphicFramePr>
        <p:xfrm>
          <a:off x="374073" y="1136886"/>
          <a:ext cx="8153399" cy="5334000"/>
        </p:xfrm>
        <a:graphic>
          <a:graphicData uri="http://schemas.openxmlformats.org/drawingml/2006/table">
            <a:tbl>
              <a:tblPr/>
              <a:tblGrid>
                <a:gridCol w="1676400"/>
                <a:gridCol w="4264838"/>
                <a:gridCol w="316023"/>
                <a:gridCol w="316023"/>
                <a:gridCol w="316023"/>
                <a:gridCol w="316023"/>
                <a:gridCol w="316023"/>
                <a:gridCol w="316023"/>
                <a:gridCol w="316023"/>
              </a:tblGrid>
              <a:tr h="1219200">
                <a:tc>
                  <a:txBody>
                    <a:bodyPr/>
                    <a:lstStyle/>
                    <a:p>
                      <a:pPr marL="0" marR="0" algn="ctr">
                        <a:spcBef>
                          <a:spcPts val="0"/>
                        </a:spcBef>
                        <a:spcAft>
                          <a:spcPts val="0"/>
                        </a:spcAft>
                      </a:pPr>
                      <a:r>
                        <a:rPr lang="en-US" sz="1400" b="1" dirty="0">
                          <a:solidFill>
                            <a:schemeClr val="bg1"/>
                          </a:solidFill>
                          <a:latin typeface="+mn-lt"/>
                          <a:ea typeface="Times New Roman"/>
                          <a:cs typeface="Times New Roman"/>
                        </a:rPr>
                        <a:t>Failure mode categories</a:t>
                      </a:r>
                      <a:endParaRPr lang="en-US" sz="1600" dirty="0">
                        <a:solidFill>
                          <a:schemeClr val="bg1"/>
                        </a:solidFill>
                        <a:latin typeface="+mn-lt"/>
                        <a:ea typeface="Times New Roman"/>
                        <a:cs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1400" b="1" dirty="0">
                          <a:solidFill>
                            <a:schemeClr val="bg1"/>
                          </a:solidFill>
                          <a:latin typeface="+mn-lt"/>
                          <a:ea typeface="Times New Roman"/>
                        </a:rPr>
                        <a:t>Description </a:t>
                      </a:r>
                      <a:endParaRPr lang="en-US" sz="1600" dirty="0">
                        <a:solidFill>
                          <a:schemeClr val="bg1"/>
                        </a:solidFill>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Functional</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Interface</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Detailed</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Maintenance</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Usability  </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Vulnerability</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71755" marR="71755" hangingPunct="0">
                        <a:spcBef>
                          <a:spcPts val="0"/>
                        </a:spcBef>
                        <a:spcAft>
                          <a:spcPts val="0"/>
                        </a:spcAft>
                      </a:pPr>
                      <a:r>
                        <a:rPr lang="en-US" sz="1400" b="1" dirty="0">
                          <a:solidFill>
                            <a:schemeClr val="bg1"/>
                          </a:solidFill>
                          <a:latin typeface="+mn-lt"/>
                          <a:ea typeface="Times New Roman"/>
                        </a:rPr>
                        <a:t>Serviceability</a:t>
                      </a:r>
                      <a:endParaRPr lang="en-US" sz="1600" dirty="0">
                        <a:solidFill>
                          <a:schemeClr val="bg1"/>
                        </a:solidFill>
                        <a:latin typeface="+mn-lt"/>
                        <a:ea typeface="Times New Roman"/>
                      </a:endParaRPr>
                    </a:p>
                  </a:txBody>
                  <a:tcPr marL="68580" marR="68580" marT="0" marB="0" vert="vert27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r>
              <a:tr h="165856">
                <a:tc>
                  <a:txBody>
                    <a:bodyPr/>
                    <a:lstStyle/>
                    <a:p>
                      <a:pPr marL="0" marR="0" hangingPunct="0">
                        <a:spcBef>
                          <a:spcPts val="0"/>
                        </a:spcBef>
                        <a:spcAft>
                          <a:spcPts val="0"/>
                        </a:spcAft>
                      </a:pPr>
                      <a:r>
                        <a:rPr lang="en-US" sz="1800" dirty="0">
                          <a:latin typeface="+mn-lt"/>
                          <a:ea typeface="Times New Roman"/>
                        </a:rPr>
                        <a:t>Memory management</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The software runs out of memory or runs too slowly </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800" dirty="0">
                          <a:latin typeface="+mn-lt"/>
                          <a:ea typeface="Times New Roman"/>
                        </a:rPr>
                        <a:t>User makes mistake </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The software fails to prohibit incorrect actions or inputs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800" dirty="0">
                          <a:latin typeface="+mn-lt"/>
                          <a:ea typeface="Times New Roman"/>
                        </a:rPr>
                        <a:t>User can’t recover from mistake</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The software fails to recover from incorrect inputs or actions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800" dirty="0">
                          <a:latin typeface="+mn-lt"/>
                          <a:ea typeface="Times New Roman"/>
                        </a:rPr>
                        <a:t>Faulty user instructions</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The user manual has the incorrect instructions or is missing instructions needed to operate the software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165856">
                <a:tc>
                  <a:txBody>
                    <a:bodyPr/>
                    <a:lstStyle/>
                    <a:p>
                      <a:pPr marL="0" marR="0" hangingPunct="0">
                        <a:spcBef>
                          <a:spcPts val="0"/>
                        </a:spcBef>
                        <a:spcAft>
                          <a:spcPts val="0"/>
                        </a:spcAft>
                      </a:pPr>
                      <a:r>
                        <a:rPr lang="en-US" sz="1800" dirty="0" smtClean="0">
                          <a:latin typeface="+mn-lt"/>
                          <a:ea typeface="Times New Roman"/>
                        </a:rPr>
                        <a:t>User misuses or abuses</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smtClean="0">
                          <a:latin typeface="+mn-lt"/>
                          <a:ea typeface="Times New Roman"/>
                        </a:rPr>
                        <a:t>An illegal user is abusing system or a legal user is misusing 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712">
                <a:tc>
                  <a:txBody>
                    <a:bodyPr/>
                    <a:lstStyle/>
                    <a:p>
                      <a:pPr marL="0" marR="0" hangingPunct="0">
                        <a:spcBef>
                          <a:spcPts val="0"/>
                        </a:spcBef>
                        <a:spcAft>
                          <a:spcPts val="0"/>
                        </a:spcAft>
                      </a:pPr>
                      <a:r>
                        <a:rPr lang="en-US" sz="1800" dirty="0">
                          <a:latin typeface="+mn-lt"/>
                          <a:ea typeface="Times New Roman"/>
                        </a:rPr>
                        <a:t>Faulty Installation </a:t>
                      </a:r>
                      <a:endParaRPr lang="en-US" sz="2000" dirty="0">
                        <a:latin typeface="+mn-lt"/>
                        <a:ea typeface="Times New Roman"/>
                      </a:endParaRPr>
                    </a:p>
                  </a:txBody>
                  <a:tcPr marL="68580" marR="6858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The software installation package installs or reinstalls the software improperly requiring either a reinstall or a downgrade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endParaRPr lang="en-US" sz="18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800" dirty="0">
                          <a:latin typeface="+mn-lt"/>
                          <a:ea typeface="Times New Roman"/>
                        </a:rPr>
                        <a:t>X</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Box 3"/>
          <p:cNvSpPr txBox="1">
            <a:spLocks noChangeArrowheads="1"/>
          </p:cNvSpPr>
          <p:nvPr/>
        </p:nvSpPr>
        <p:spPr bwMode="auto">
          <a:xfrm>
            <a:off x="188258" y="185924"/>
            <a:ext cx="5562600" cy="369888"/>
          </a:xfrm>
          <a:prstGeom prst="rect">
            <a:avLst/>
          </a:prstGeom>
          <a:noFill/>
          <a:ln w="9525">
            <a:noFill/>
            <a:miter lim="800000"/>
            <a:headEnd/>
            <a:tailEnd/>
          </a:ln>
        </p:spPr>
        <p:txBody>
          <a:bodyPr>
            <a:spAutoFit/>
          </a:bodyPr>
          <a:lstStyle/>
          <a:p>
            <a:r>
              <a:rPr lang="en-US" dirty="0" smtClean="0">
                <a:solidFill>
                  <a:schemeClr val="tx2"/>
                </a:solidFill>
              </a:rPr>
              <a:t>2.3 Identify </a:t>
            </a:r>
            <a:r>
              <a:rPr lang="en-US" dirty="0" smtClean="0">
                <a:solidFill>
                  <a:schemeClr val="tx2"/>
                </a:solidFill>
              </a:rPr>
              <a:t>applicable viewpoints</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3318658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2142"/>
            <a:ext cx="8763000" cy="534658"/>
          </a:xfrm>
        </p:spPr>
        <p:txBody>
          <a:bodyPr>
            <a:noAutofit/>
          </a:bodyPr>
          <a:lstStyle/>
          <a:p>
            <a:r>
              <a:rPr lang="en-US" sz="2400" dirty="0" smtClean="0"/>
              <a:t>Once the viewpoints are selected, these are the artifacts you need to gather</a:t>
            </a:r>
            <a:endParaRPr lang="en-US" sz="2400" dirty="0"/>
          </a:p>
        </p:txBody>
      </p:sp>
      <p:sp>
        <p:nvSpPr>
          <p:cNvPr id="5" name="TextBox 4"/>
          <p:cNvSpPr txBox="1">
            <a:spLocks noChangeArrowheads="1"/>
          </p:cNvSpPr>
          <p:nvPr/>
        </p:nvSpPr>
        <p:spPr bwMode="auto">
          <a:xfrm>
            <a:off x="381000" y="180183"/>
            <a:ext cx="5562600" cy="369888"/>
          </a:xfrm>
          <a:prstGeom prst="rect">
            <a:avLst/>
          </a:prstGeom>
          <a:noFill/>
          <a:ln w="9525">
            <a:noFill/>
            <a:miter lim="800000"/>
            <a:headEnd/>
            <a:tailEnd/>
          </a:ln>
        </p:spPr>
        <p:txBody>
          <a:bodyPr>
            <a:spAutoFit/>
          </a:bodyPr>
          <a:lstStyle/>
          <a:p>
            <a:r>
              <a:rPr lang="en-US" dirty="0" smtClean="0">
                <a:solidFill>
                  <a:schemeClr val="tx2"/>
                </a:solidFill>
              </a:rPr>
              <a:t>2.4 Gather documentation and artifacts</a:t>
            </a:r>
            <a:endParaRPr lang="en-US" dirty="0">
              <a:solidFill>
                <a:schemeClr val="tx2"/>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643308721"/>
              </p:ext>
            </p:extLst>
          </p:nvPr>
        </p:nvGraphicFramePr>
        <p:xfrm>
          <a:off x="374073" y="1253367"/>
          <a:ext cx="8458200" cy="5059680"/>
        </p:xfrm>
        <a:graphic>
          <a:graphicData uri="http://schemas.openxmlformats.org/drawingml/2006/table">
            <a:tbl>
              <a:tblPr firstRow="1" bandRow="1">
                <a:tableStyleId>{5C22544A-7EE6-4342-B048-85BDC9FD1C3A}</a:tableStyleId>
              </a:tblPr>
              <a:tblGrid>
                <a:gridCol w="1905000"/>
                <a:gridCol w="6553200"/>
              </a:tblGrid>
              <a:tr h="137160">
                <a:tc>
                  <a:txBody>
                    <a:bodyPr/>
                    <a:lstStyle/>
                    <a:p>
                      <a:r>
                        <a:rPr lang="en-US" sz="2800" dirty="0" smtClean="0"/>
                        <a:t>FMEA</a:t>
                      </a:r>
                      <a:endParaRPr lang="en-US" sz="2800" dirty="0"/>
                    </a:p>
                  </a:txBody>
                  <a:tcPr/>
                </a:tc>
                <a:tc>
                  <a:txBody>
                    <a:bodyPr/>
                    <a:lstStyle/>
                    <a:p>
                      <a:r>
                        <a:rPr lang="en-US" sz="2800" dirty="0" smtClean="0"/>
                        <a:t>Artifacts that you will analyze</a:t>
                      </a:r>
                      <a:endParaRPr lang="en-US" sz="2800" dirty="0"/>
                    </a:p>
                  </a:txBody>
                  <a:tcPr/>
                </a:tc>
              </a:tr>
              <a:tr h="370840">
                <a:tc>
                  <a:txBody>
                    <a:bodyPr/>
                    <a:lstStyle/>
                    <a:p>
                      <a:r>
                        <a:rPr lang="en-US" sz="2000" dirty="0" smtClean="0"/>
                        <a:t>Functional</a:t>
                      </a:r>
                      <a:endParaRPr lang="en-US" sz="2000" dirty="0"/>
                    </a:p>
                  </a:txBody>
                  <a:tcPr/>
                </a:tc>
                <a:tc>
                  <a:txBody>
                    <a:bodyPr/>
                    <a:lstStyle/>
                    <a:p>
                      <a:pPr marL="0" marR="0" hangingPunct="0">
                        <a:spcBef>
                          <a:spcPts val="0"/>
                        </a:spcBef>
                        <a:spcAft>
                          <a:spcPts val="0"/>
                        </a:spcAft>
                      </a:pPr>
                      <a:r>
                        <a:rPr lang="en-US" sz="2000" dirty="0">
                          <a:latin typeface="+mn-lt"/>
                          <a:ea typeface="Times New Roman"/>
                        </a:rPr>
                        <a:t>Software Requirements </a:t>
                      </a:r>
                      <a:r>
                        <a:rPr lang="en-US" sz="2000" dirty="0" smtClean="0">
                          <a:latin typeface="+mn-lt"/>
                          <a:ea typeface="Times New Roman"/>
                        </a:rPr>
                        <a:t>Specification </a:t>
                      </a:r>
                      <a:r>
                        <a:rPr lang="en-US" sz="2000" dirty="0">
                          <a:latin typeface="+mn-lt"/>
                          <a:ea typeface="Times New Roman"/>
                        </a:rPr>
                        <a:t>(SRS) or Systems Requirements Specification (SyRS)</a:t>
                      </a:r>
                      <a:endParaRPr lang="en-US" sz="2400" dirty="0">
                        <a:latin typeface="+mn-lt"/>
                        <a:ea typeface="Times New Roman"/>
                      </a:endParaRPr>
                    </a:p>
                  </a:txBody>
                  <a:tcPr marL="60158" marR="60158" marT="0" marB="0"/>
                </a:tc>
              </a:tr>
              <a:tr h="370840">
                <a:tc>
                  <a:txBody>
                    <a:bodyPr/>
                    <a:lstStyle/>
                    <a:p>
                      <a:r>
                        <a:rPr lang="en-US" sz="2000" dirty="0" smtClean="0"/>
                        <a:t>Interface</a:t>
                      </a:r>
                      <a:endParaRPr lang="en-US" sz="2000" dirty="0"/>
                    </a:p>
                  </a:txBody>
                  <a:tcPr/>
                </a:tc>
                <a:tc>
                  <a:txBody>
                    <a:bodyPr/>
                    <a:lstStyle/>
                    <a:p>
                      <a:pPr marL="0" marR="0" hangingPunct="0">
                        <a:spcBef>
                          <a:spcPts val="0"/>
                        </a:spcBef>
                        <a:spcAft>
                          <a:spcPts val="0"/>
                        </a:spcAft>
                      </a:pPr>
                      <a:r>
                        <a:rPr lang="en-US" sz="2000" dirty="0">
                          <a:latin typeface="+mn-lt"/>
                          <a:ea typeface="Times New Roman"/>
                        </a:rPr>
                        <a:t>Interface Design </a:t>
                      </a:r>
                      <a:r>
                        <a:rPr lang="en-US" sz="2000" dirty="0" smtClean="0">
                          <a:latin typeface="+mn-lt"/>
                          <a:ea typeface="Times New Roman"/>
                        </a:rPr>
                        <a:t>documentation (IDD,</a:t>
                      </a:r>
                      <a:r>
                        <a:rPr lang="en-US" sz="2000" baseline="0" dirty="0" smtClean="0">
                          <a:latin typeface="+mn-lt"/>
                          <a:ea typeface="Times New Roman"/>
                        </a:rPr>
                        <a:t> IDS)</a:t>
                      </a:r>
                      <a:endParaRPr lang="en-US" sz="2400" dirty="0">
                        <a:latin typeface="+mn-lt"/>
                        <a:ea typeface="Times New Roman"/>
                      </a:endParaRPr>
                    </a:p>
                  </a:txBody>
                  <a:tcPr marL="60158" marR="60158" marT="0" marB="0"/>
                </a:tc>
              </a:tr>
              <a:tr h="370840">
                <a:tc>
                  <a:txBody>
                    <a:bodyPr/>
                    <a:lstStyle/>
                    <a:p>
                      <a:r>
                        <a:rPr lang="en-US" sz="2000" dirty="0" smtClean="0"/>
                        <a:t>Detailed</a:t>
                      </a:r>
                      <a:endParaRPr lang="en-US" sz="2000" dirty="0"/>
                    </a:p>
                  </a:txBody>
                  <a:tcPr/>
                </a:tc>
                <a:tc>
                  <a:txBody>
                    <a:bodyPr/>
                    <a:lstStyle/>
                    <a:p>
                      <a:pPr marL="0" marR="0" hangingPunct="0">
                        <a:spcBef>
                          <a:spcPts val="0"/>
                        </a:spcBef>
                        <a:spcAft>
                          <a:spcPts val="0"/>
                        </a:spcAft>
                      </a:pPr>
                      <a:r>
                        <a:rPr lang="en-US" sz="2000" dirty="0">
                          <a:latin typeface="+mn-lt"/>
                          <a:ea typeface="Times New Roman"/>
                        </a:rPr>
                        <a:t>Detailed design </a:t>
                      </a:r>
                      <a:r>
                        <a:rPr lang="en-US" sz="2000" dirty="0" smtClean="0">
                          <a:latin typeface="+mn-lt"/>
                          <a:ea typeface="Times New Roman"/>
                        </a:rPr>
                        <a:t>(DDD) or </a:t>
                      </a:r>
                      <a:r>
                        <a:rPr lang="en-US" sz="2000" dirty="0">
                          <a:latin typeface="+mn-lt"/>
                          <a:ea typeface="Times New Roman"/>
                        </a:rPr>
                        <a:t>code</a:t>
                      </a:r>
                      <a:endParaRPr lang="en-US" sz="2400" dirty="0">
                        <a:latin typeface="+mn-lt"/>
                        <a:ea typeface="Times New Roman"/>
                      </a:endParaRPr>
                    </a:p>
                  </a:txBody>
                  <a:tcPr marL="60158" marR="60158" marT="0" marB="0"/>
                </a:tc>
              </a:tr>
              <a:tr h="370840">
                <a:tc>
                  <a:txBody>
                    <a:bodyPr/>
                    <a:lstStyle/>
                    <a:p>
                      <a:r>
                        <a:rPr lang="en-US" sz="2000" dirty="0" smtClean="0"/>
                        <a:t>Maintenance</a:t>
                      </a:r>
                      <a:endParaRPr lang="en-US" sz="2000" dirty="0"/>
                    </a:p>
                  </a:txBody>
                  <a:tcPr/>
                </a:tc>
                <a:tc>
                  <a:txBody>
                    <a:bodyPr/>
                    <a:lstStyle/>
                    <a:p>
                      <a:pPr marL="0" marR="0" hangingPunct="0">
                        <a:spcBef>
                          <a:spcPts val="0"/>
                        </a:spcBef>
                        <a:spcAft>
                          <a:spcPts val="0"/>
                        </a:spcAft>
                      </a:pPr>
                      <a:r>
                        <a:rPr lang="en-US" sz="2000" dirty="0">
                          <a:latin typeface="+mn-lt"/>
                          <a:ea typeface="Times New Roman"/>
                        </a:rPr>
                        <a:t>The code or design that has changed as a result of a corrective action</a:t>
                      </a:r>
                      <a:endParaRPr lang="en-US" sz="2400" dirty="0">
                        <a:latin typeface="+mn-lt"/>
                        <a:ea typeface="Times New Roman"/>
                      </a:endParaRPr>
                    </a:p>
                  </a:txBody>
                  <a:tcPr marL="60158" marR="60158" marT="0" marB="0"/>
                </a:tc>
              </a:tr>
              <a:tr h="370840">
                <a:tc>
                  <a:txBody>
                    <a:bodyPr/>
                    <a:lstStyle/>
                    <a:p>
                      <a:r>
                        <a:rPr lang="en-US" sz="2000" dirty="0" smtClean="0"/>
                        <a:t>Usability</a:t>
                      </a:r>
                      <a:endParaRPr lang="en-US" sz="2000" dirty="0"/>
                    </a:p>
                  </a:txBody>
                  <a:tcPr/>
                </a:tc>
                <a:tc>
                  <a:txBody>
                    <a:bodyPr/>
                    <a:lstStyle/>
                    <a:p>
                      <a:pPr marL="0" marR="0" hangingPunct="0">
                        <a:spcBef>
                          <a:spcPts val="0"/>
                        </a:spcBef>
                        <a:spcAft>
                          <a:spcPts val="0"/>
                        </a:spcAft>
                      </a:pPr>
                      <a:r>
                        <a:rPr lang="en-US" sz="2000" dirty="0">
                          <a:latin typeface="+mn-lt"/>
                          <a:ea typeface="Times New Roman"/>
                        </a:rPr>
                        <a:t>Use cases, User’s manuals, User Interface Design documentation</a:t>
                      </a:r>
                      <a:endParaRPr lang="en-US" sz="2400" dirty="0">
                        <a:latin typeface="+mn-lt"/>
                        <a:ea typeface="Times New Roman"/>
                      </a:endParaRPr>
                    </a:p>
                  </a:txBody>
                  <a:tcPr marL="60158" marR="60158" marT="0" marB="0"/>
                </a:tc>
              </a:tr>
              <a:tr h="370840">
                <a:tc>
                  <a:txBody>
                    <a:bodyPr/>
                    <a:lstStyle/>
                    <a:p>
                      <a:r>
                        <a:rPr lang="en-US" sz="2000" dirty="0" smtClean="0"/>
                        <a:t>Serviceability</a:t>
                      </a:r>
                      <a:endParaRPr lang="en-US" sz="2000" dirty="0"/>
                    </a:p>
                  </a:txBody>
                  <a:tcPr/>
                </a:tc>
                <a:tc>
                  <a:txBody>
                    <a:bodyPr/>
                    <a:lstStyle/>
                    <a:p>
                      <a:pPr marL="0" marR="0" hangingPunct="0">
                        <a:spcBef>
                          <a:spcPts val="0"/>
                        </a:spcBef>
                        <a:spcAft>
                          <a:spcPts val="0"/>
                        </a:spcAft>
                      </a:pPr>
                      <a:r>
                        <a:rPr lang="en-US" sz="2000" dirty="0">
                          <a:latin typeface="+mn-lt"/>
                          <a:ea typeface="Times New Roman"/>
                        </a:rPr>
                        <a:t>Installation scripts, ReadMe files, Release notes, Service </a:t>
                      </a:r>
                      <a:r>
                        <a:rPr lang="en-US" sz="2000" dirty="0" smtClean="0">
                          <a:latin typeface="+mn-lt"/>
                          <a:ea typeface="Times New Roman"/>
                        </a:rPr>
                        <a:t>manuals</a:t>
                      </a:r>
                      <a:endParaRPr lang="en-US" sz="2400" dirty="0">
                        <a:latin typeface="+mn-lt"/>
                        <a:ea typeface="Times New Roman"/>
                      </a:endParaRPr>
                    </a:p>
                  </a:txBody>
                  <a:tcPr marL="60158" marR="60158" marT="0" marB="0"/>
                </a:tc>
              </a:tr>
              <a:tr h="370840">
                <a:tc>
                  <a:txBody>
                    <a:bodyPr/>
                    <a:lstStyle/>
                    <a:p>
                      <a:r>
                        <a:rPr lang="en-US" sz="2000" dirty="0" smtClean="0"/>
                        <a:t>Vulnerability</a:t>
                      </a:r>
                      <a:endParaRPr lang="en-US" sz="2000" dirty="0"/>
                    </a:p>
                  </a:txBody>
                  <a:tcPr/>
                </a:tc>
                <a:tc>
                  <a:txBody>
                    <a:bodyPr/>
                    <a:lstStyle/>
                    <a:p>
                      <a:pPr marL="0" marR="0" hangingPunct="0">
                        <a:spcBef>
                          <a:spcPts val="0"/>
                        </a:spcBef>
                        <a:spcAft>
                          <a:spcPts val="0"/>
                        </a:spcAft>
                      </a:pPr>
                      <a:r>
                        <a:rPr lang="en-US" sz="2000" dirty="0">
                          <a:latin typeface="+mn-lt"/>
                          <a:ea typeface="Times New Roman"/>
                        </a:rPr>
                        <a:t>See Detailed and Usability</a:t>
                      </a:r>
                      <a:endParaRPr lang="en-US" sz="2400" dirty="0">
                        <a:latin typeface="+mn-lt"/>
                        <a:ea typeface="Times New Roman"/>
                      </a:endParaRPr>
                    </a:p>
                  </a:txBody>
                  <a:tcPr marL="60158" marR="60158" marT="0" marB="0"/>
                </a:tc>
              </a:tr>
              <a:tr h="370840">
                <a:tc>
                  <a:txBody>
                    <a:bodyPr/>
                    <a:lstStyle/>
                    <a:p>
                      <a:r>
                        <a:rPr lang="en-US" sz="2000" dirty="0" smtClean="0"/>
                        <a:t>Production</a:t>
                      </a:r>
                      <a:endParaRPr lang="en-US" sz="2000" dirty="0"/>
                    </a:p>
                  </a:txBody>
                  <a:tcPr/>
                </a:tc>
                <a:tc>
                  <a:txBody>
                    <a:bodyPr/>
                    <a:lstStyle/>
                    <a:p>
                      <a:pPr marL="0" marR="0" hangingPunct="0">
                        <a:spcBef>
                          <a:spcPts val="0"/>
                        </a:spcBef>
                        <a:spcAft>
                          <a:spcPts val="0"/>
                        </a:spcAft>
                      </a:pPr>
                      <a:r>
                        <a:rPr lang="en-US" sz="2000" dirty="0">
                          <a:latin typeface="+mn-lt"/>
                          <a:ea typeface="Times New Roman"/>
                        </a:rPr>
                        <a:t>Software schedule, Software process documentation, Software Development Plan (SDP</a:t>
                      </a:r>
                      <a:r>
                        <a:rPr lang="en-US" sz="2000" dirty="0" smtClean="0">
                          <a:latin typeface="+mn-lt"/>
                          <a:ea typeface="Times New Roman"/>
                        </a:rPr>
                        <a:t>), all development artifacts such as SRS, IDD, IDS, DDD.</a:t>
                      </a:r>
                      <a:endParaRPr lang="en-US" sz="2400" dirty="0">
                        <a:latin typeface="+mn-lt"/>
                        <a:ea typeface="Times New Roman"/>
                      </a:endParaRPr>
                    </a:p>
                  </a:txBody>
                  <a:tcPr marL="60158" marR="60158" marT="0" marB="0"/>
                </a:tc>
              </a:tr>
            </a:tbl>
          </a:graphicData>
        </a:graphic>
      </p:graphicFrame>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415942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2142"/>
            <a:ext cx="8763000" cy="534658"/>
          </a:xfrm>
        </p:spPr>
        <p:txBody>
          <a:bodyPr>
            <a:noAutofit/>
          </a:bodyPr>
          <a:lstStyle/>
          <a:p>
            <a:r>
              <a:rPr lang="en-US" sz="2400" dirty="0" smtClean="0"/>
              <a:t>Depending on the viewpoint these are the people that you will need for the analysis</a:t>
            </a:r>
            <a:endParaRPr lang="en-US" sz="2400" dirty="0"/>
          </a:p>
        </p:txBody>
      </p:sp>
      <p:sp>
        <p:nvSpPr>
          <p:cNvPr id="5" name="TextBox 4"/>
          <p:cNvSpPr txBox="1">
            <a:spLocks noChangeArrowheads="1"/>
          </p:cNvSpPr>
          <p:nvPr/>
        </p:nvSpPr>
        <p:spPr bwMode="auto">
          <a:xfrm>
            <a:off x="381000" y="180183"/>
            <a:ext cx="5562600" cy="369888"/>
          </a:xfrm>
          <a:prstGeom prst="rect">
            <a:avLst/>
          </a:prstGeom>
          <a:noFill/>
          <a:ln w="9525">
            <a:noFill/>
            <a:miter lim="800000"/>
            <a:headEnd/>
            <a:tailEnd/>
          </a:ln>
        </p:spPr>
        <p:txBody>
          <a:bodyPr>
            <a:spAutoFit/>
          </a:bodyPr>
          <a:lstStyle/>
          <a:p>
            <a:r>
              <a:rPr lang="en-US" dirty="0" smtClean="0">
                <a:solidFill>
                  <a:schemeClr val="tx2"/>
                </a:solidFill>
              </a:rPr>
              <a:t>2.5 Identify personnel required</a:t>
            </a:r>
            <a:endParaRPr lang="en-US" dirty="0">
              <a:solidFill>
                <a:schemeClr val="tx2"/>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564128913"/>
              </p:ext>
            </p:extLst>
          </p:nvPr>
        </p:nvGraphicFramePr>
        <p:xfrm>
          <a:off x="381000" y="1234911"/>
          <a:ext cx="8458200" cy="4818625"/>
        </p:xfrm>
        <a:graphic>
          <a:graphicData uri="http://schemas.openxmlformats.org/drawingml/2006/table">
            <a:tbl>
              <a:tblPr firstRow="1" bandRow="1">
                <a:tableStyleId>{5C22544A-7EE6-4342-B048-85BDC9FD1C3A}</a:tableStyleId>
              </a:tblPr>
              <a:tblGrid>
                <a:gridCol w="1607127"/>
                <a:gridCol w="4876800"/>
                <a:gridCol w="1974273"/>
              </a:tblGrid>
              <a:tr h="137160">
                <a:tc>
                  <a:txBody>
                    <a:bodyPr/>
                    <a:lstStyle/>
                    <a:p>
                      <a:r>
                        <a:rPr lang="en-US" sz="1800" dirty="0" smtClean="0"/>
                        <a:t>FMEA</a:t>
                      </a:r>
                      <a:endParaRPr lang="en-US" sz="1800" dirty="0"/>
                    </a:p>
                  </a:txBody>
                  <a:tcPr/>
                </a:tc>
                <a:tc>
                  <a:txBody>
                    <a:bodyPr/>
                    <a:lstStyle/>
                    <a:p>
                      <a:r>
                        <a:rPr lang="en-US" sz="1800" dirty="0" smtClean="0"/>
                        <a:t>Personnel required for failure mode analysis</a:t>
                      </a:r>
                      <a:endParaRPr lang="en-US" sz="1800" dirty="0"/>
                    </a:p>
                  </a:txBody>
                  <a:tcPr/>
                </a:tc>
                <a:tc>
                  <a:txBody>
                    <a:bodyPr/>
                    <a:lstStyle/>
                    <a:p>
                      <a:r>
                        <a:rPr lang="en-US" sz="1800" dirty="0" smtClean="0"/>
                        <a:t>Personnel required for Consequences</a:t>
                      </a:r>
                      <a:r>
                        <a:rPr lang="en-US" sz="1800" baseline="0" dirty="0" smtClean="0"/>
                        <a:t> analysis</a:t>
                      </a:r>
                      <a:endParaRPr lang="en-US" sz="1800" dirty="0"/>
                    </a:p>
                  </a:txBody>
                  <a:tcPr/>
                </a:tc>
              </a:tr>
              <a:tr h="678425">
                <a:tc>
                  <a:txBody>
                    <a:bodyPr/>
                    <a:lstStyle/>
                    <a:p>
                      <a:r>
                        <a:rPr lang="en-US" sz="1800" dirty="0" smtClean="0"/>
                        <a:t>Functional</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Any</a:t>
                      </a:r>
                      <a:r>
                        <a:rPr lang="en-US" sz="1800" baseline="0" dirty="0" smtClean="0">
                          <a:latin typeface="+mn-lt"/>
                          <a:ea typeface="Times New Roman"/>
                        </a:rPr>
                        <a:t> engineer who understands the requirements for the software</a:t>
                      </a:r>
                    </a:p>
                  </a:txBody>
                  <a:tcPr marL="60158" marR="60158" marT="0" marB="0"/>
                </a:tc>
                <a:tc rowSpan="8">
                  <a:txBody>
                    <a:bodyPr/>
                    <a:lstStyle/>
                    <a:p>
                      <a:pPr marL="0" marR="0" indent="0" algn="l" defTabSz="685800" rtl="0" eaLnBrk="1" fontAlgn="auto" latinLnBrk="0" hangingPunct="0">
                        <a:lnSpc>
                          <a:spcPct val="100000"/>
                        </a:lnSpc>
                        <a:spcBef>
                          <a:spcPts val="0"/>
                        </a:spcBef>
                        <a:spcAft>
                          <a:spcPts val="0"/>
                        </a:spcAft>
                        <a:buClrTx/>
                        <a:buSzTx/>
                        <a:buFontTx/>
                        <a:buNone/>
                        <a:tabLst/>
                        <a:defRPr/>
                      </a:pPr>
                      <a:r>
                        <a:rPr lang="en-US" sz="1800" dirty="0" smtClean="0">
                          <a:latin typeface="+mn-lt"/>
                          <a:ea typeface="Times New Roman"/>
                        </a:rPr>
                        <a:t>A</a:t>
                      </a:r>
                      <a:r>
                        <a:rPr lang="en-US" sz="1800" baseline="0" dirty="0" smtClean="0">
                          <a:latin typeface="+mn-lt"/>
                          <a:ea typeface="Times New Roman"/>
                        </a:rPr>
                        <a:t> domain or systems expert who understands the effects of the failure modes</a:t>
                      </a:r>
                      <a:endParaRPr lang="en-US" sz="1800" dirty="0" smtClean="0">
                        <a:latin typeface="+mn-lt"/>
                        <a:ea typeface="Times New Roman"/>
                      </a:endParaRPr>
                    </a:p>
                  </a:txBody>
                  <a:tcPr marL="60158" marR="60158" marT="0" marB="0"/>
                </a:tc>
              </a:tr>
              <a:tr h="370840">
                <a:tc>
                  <a:txBody>
                    <a:bodyPr/>
                    <a:lstStyle/>
                    <a:p>
                      <a:r>
                        <a:rPr lang="en-US" sz="1800" dirty="0" smtClean="0"/>
                        <a:t>Interface</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An engineer who understands the software interfaces </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Detailed</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 software engineer</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Maintenance</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 software engineer</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Usability</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An applications engineer</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Serviceability</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 software engineer</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Vulnerability</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A software engineer</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r h="370840">
                <a:tc>
                  <a:txBody>
                    <a:bodyPr/>
                    <a:lstStyle/>
                    <a:p>
                      <a:r>
                        <a:rPr lang="en-US" sz="1800" dirty="0" smtClean="0"/>
                        <a:t>Production</a:t>
                      </a:r>
                      <a:endParaRPr lang="en-US" sz="1800" dirty="0"/>
                    </a:p>
                  </a:txBody>
                  <a:tcPr/>
                </a:tc>
                <a:tc>
                  <a:txBody>
                    <a:bodyPr/>
                    <a:lstStyle/>
                    <a:p>
                      <a:pPr marL="0" marR="0" hangingPunct="0">
                        <a:spcBef>
                          <a:spcPts val="0"/>
                        </a:spcBef>
                        <a:spcAft>
                          <a:spcPts val="0"/>
                        </a:spcAft>
                      </a:pPr>
                      <a:r>
                        <a:rPr lang="en-US" sz="1800" dirty="0" smtClean="0">
                          <a:latin typeface="+mn-lt"/>
                          <a:ea typeface="Times New Roman"/>
                        </a:rPr>
                        <a:t>Software</a:t>
                      </a:r>
                      <a:r>
                        <a:rPr lang="en-US" sz="1800" baseline="0" dirty="0" smtClean="0">
                          <a:latin typeface="+mn-lt"/>
                          <a:ea typeface="Times New Roman"/>
                        </a:rPr>
                        <a:t> Management and Software QA and Software Process Group</a:t>
                      </a:r>
                      <a:endParaRPr lang="en-US" sz="1800" dirty="0">
                        <a:latin typeface="+mn-lt"/>
                        <a:ea typeface="Times New Roman"/>
                      </a:endParaRPr>
                    </a:p>
                  </a:txBody>
                  <a:tcPr marL="60158" marR="60158" marT="0" marB="0"/>
                </a:tc>
                <a:tc vMerge="1">
                  <a:txBody>
                    <a:bodyPr/>
                    <a:lstStyle/>
                    <a:p>
                      <a:pPr marL="0" marR="0" hangingPunct="0">
                        <a:spcBef>
                          <a:spcPts val="0"/>
                        </a:spcBef>
                        <a:spcAft>
                          <a:spcPts val="0"/>
                        </a:spcAft>
                      </a:pPr>
                      <a:endParaRPr lang="en-US" sz="1800" dirty="0">
                        <a:latin typeface="+mn-lt"/>
                        <a:ea typeface="Times New Roman"/>
                      </a:endParaRPr>
                    </a:p>
                  </a:txBody>
                  <a:tcPr marL="60158" marR="60158" marT="0" marB="0"/>
                </a:tc>
              </a:tr>
            </a:tbl>
          </a:graphicData>
        </a:graphic>
      </p:graphicFrame>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021585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9" y="642143"/>
            <a:ext cx="8655424" cy="500857"/>
          </a:xfrm>
        </p:spPr>
        <p:txBody>
          <a:bodyPr>
            <a:noAutofit/>
          </a:bodyPr>
          <a:lstStyle/>
          <a:p>
            <a:r>
              <a:rPr lang="en-US" sz="2400" dirty="0" smtClean="0"/>
              <a:t>The scope of the SFMEA may need to be pruned as follows</a:t>
            </a:r>
            <a:endParaRPr lang="en-US" sz="2400" dirty="0"/>
          </a:p>
        </p:txBody>
      </p:sp>
      <p:graphicFrame>
        <p:nvGraphicFramePr>
          <p:cNvPr id="4" name="Content Placeholder 3"/>
          <p:cNvGraphicFramePr>
            <a:graphicFrameLocks noGrp="1"/>
          </p:cNvGraphicFramePr>
          <p:nvPr>
            <p:ph idx="1"/>
            <p:extLst/>
          </p:nvPr>
        </p:nvGraphicFramePr>
        <p:xfrm>
          <a:off x="152399" y="1143000"/>
          <a:ext cx="8655424" cy="5029200"/>
        </p:xfrm>
        <a:graphic>
          <a:graphicData uri="http://schemas.openxmlformats.org/drawingml/2006/table">
            <a:tbl>
              <a:tblPr/>
              <a:tblGrid>
                <a:gridCol w="1258971"/>
                <a:gridCol w="2675313"/>
                <a:gridCol w="4721140"/>
              </a:tblGrid>
              <a:tr h="448733">
                <a:tc>
                  <a:txBody>
                    <a:bodyPr/>
                    <a:lstStyle/>
                    <a:p>
                      <a:pPr marL="0" marR="0" hangingPunct="0">
                        <a:spcBef>
                          <a:spcPts val="0"/>
                        </a:spcBef>
                        <a:spcAft>
                          <a:spcPts val="0"/>
                        </a:spcAft>
                      </a:pPr>
                      <a:r>
                        <a:rPr lang="en-US" sz="1500" b="1" dirty="0">
                          <a:latin typeface="Tw Cen MT (Body)"/>
                          <a:ea typeface="Times New Roman"/>
                        </a:rPr>
                        <a:t>FMEA viewpoint</a:t>
                      </a:r>
                      <a:endParaRPr lang="en-US" sz="1500" dirty="0">
                        <a:latin typeface="Tw Cen MT (Body)"/>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1500" b="1" dirty="0">
                          <a:latin typeface="Tw Cen MT (Body)"/>
                          <a:ea typeface="Times New Roman"/>
                        </a:rPr>
                        <a:t>Guidelines for </a:t>
                      </a:r>
                      <a:r>
                        <a:rPr lang="en-US" sz="1500" b="1" dirty="0" smtClean="0">
                          <a:latin typeface="Tw Cen MT (Body)"/>
                          <a:ea typeface="Times New Roman"/>
                        </a:rPr>
                        <a:t>pruning</a:t>
                      </a:r>
                      <a:endParaRPr lang="en-US" sz="1500" dirty="0">
                        <a:latin typeface="Tw Cen MT (Body)"/>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1500" b="1" dirty="0">
                          <a:latin typeface="Tw Cen MT (Body)"/>
                          <a:ea typeface="Times New Roman"/>
                        </a:rPr>
                        <a:t>Pruning steps that were taken in </a:t>
                      </a:r>
                      <a:r>
                        <a:rPr lang="en-US" sz="1500" b="1" dirty="0" smtClean="0">
                          <a:latin typeface="Tw Cen MT (Body)"/>
                          <a:ea typeface="Times New Roman"/>
                        </a:rPr>
                        <a:t>section 2.1</a:t>
                      </a:r>
                      <a:endParaRPr lang="en-US" sz="1500" dirty="0">
                        <a:latin typeface="Tw Cen MT (Body)"/>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chemeClr val="accent1"/>
                    </a:solidFill>
                  </a:tcPr>
                </a:tc>
              </a:tr>
              <a:tr h="673100">
                <a:tc>
                  <a:txBody>
                    <a:bodyPr/>
                    <a:lstStyle/>
                    <a:p>
                      <a:pPr marL="0" marR="0" hangingPunct="0">
                        <a:spcBef>
                          <a:spcPts val="0"/>
                        </a:spcBef>
                        <a:spcAft>
                          <a:spcPts val="0"/>
                        </a:spcAft>
                      </a:pPr>
                      <a:r>
                        <a:rPr lang="en-US" sz="1500" dirty="0">
                          <a:latin typeface="Tw Cen MT (Body)"/>
                          <a:ea typeface="Times New Roman"/>
                        </a:rPr>
                        <a:t>Functional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The SRS or SyRS statements that are most critical from either mission or safety standpoint.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342900" marR="0" lvl="0" indent="-342900" hangingPunct="0">
                        <a:spcBef>
                          <a:spcPts val="0"/>
                        </a:spcBef>
                        <a:spcAft>
                          <a:spcPts val="0"/>
                        </a:spcAft>
                        <a:buFont typeface="Symbol"/>
                        <a:buChar char=""/>
                      </a:pPr>
                      <a:r>
                        <a:rPr lang="en-US" sz="1500" dirty="0">
                          <a:latin typeface="Tw Cen MT (Body)"/>
                          <a:ea typeface="Times New Roman"/>
                        </a:rPr>
                        <a:t>The components that perform the most critical functions.  </a:t>
                      </a:r>
                    </a:p>
                    <a:p>
                      <a:pPr marL="342900" marR="0" lvl="0" indent="-342900" hangingPunct="0">
                        <a:spcBef>
                          <a:spcPts val="0"/>
                        </a:spcBef>
                        <a:spcAft>
                          <a:spcPts val="0"/>
                        </a:spcAft>
                        <a:buFont typeface="Symbol"/>
                        <a:buChar char=""/>
                      </a:pPr>
                      <a:r>
                        <a:rPr lang="en-US" sz="1500" dirty="0">
                          <a:latin typeface="Tw Cen MT (Body)"/>
                          <a:ea typeface="Times New Roman"/>
                        </a:rPr>
                        <a:t>The components that have had the most failures in the past.</a:t>
                      </a:r>
                    </a:p>
                    <a:p>
                      <a:pPr marL="342900" marR="0" lvl="0" indent="-342900" hangingPunct="0">
                        <a:spcBef>
                          <a:spcPts val="0"/>
                        </a:spcBef>
                        <a:spcAft>
                          <a:spcPts val="0"/>
                        </a:spcAft>
                        <a:buFont typeface="Symbol"/>
                        <a:buChar char=""/>
                      </a:pPr>
                      <a:r>
                        <a:rPr lang="en-US" sz="1500" dirty="0">
                          <a:latin typeface="Tw Cen MT (Body)"/>
                          <a:ea typeface="Times New Roman"/>
                        </a:rPr>
                        <a:t>The components that are likely to be the most risky.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48733">
                <a:tc>
                  <a:txBody>
                    <a:bodyPr/>
                    <a:lstStyle/>
                    <a:p>
                      <a:pPr marL="0" marR="0" hangingPunct="0">
                        <a:spcBef>
                          <a:spcPts val="0"/>
                        </a:spcBef>
                        <a:spcAft>
                          <a:spcPts val="0"/>
                        </a:spcAft>
                      </a:pPr>
                      <a:r>
                        <a:rPr lang="en-US" sz="1500" dirty="0">
                          <a:latin typeface="Tw Cen MT (Body)"/>
                          <a:ea typeface="Times New Roman"/>
                        </a:rPr>
                        <a:t>Interface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Interfaces relating to critical data or communications.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All interfaces associated with the most critical functions, critical CSCIs or critical hardware.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897467">
                <a:tc>
                  <a:txBody>
                    <a:bodyPr/>
                    <a:lstStyle/>
                    <a:p>
                      <a:pPr marL="0" marR="0" hangingPunct="0">
                        <a:spcBef>
                          <a:spcPts val="0"/>
                        </a:spcBef>
                        <a:spcAft>
                          <a:spcPts val="0"/>
                        </a:spcAft>
                      </a:pPr>
                      <a:r>
                        <a:rPr lang="en-US" sz="1500" dirty="0">
                          <a:latin typeface="Tw Cen MT (Body)"/>
                          <a:ea typeface="Times New Roman"/>
                        </a:rPr>
                        <a:t>Detailed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The code that is related to the most critical requirements.</a:t>
                      </a:r>
                    </a:p>
                    <a:p>
                      <a:pPr marL="0" marR="0" hangingPunct="0">
                        <a:spcBef>
                          <a:spcPts val="0"/>
                        </a:spcBef>
                        <a:spcAft>
                          <a:spcPts val="0"/>
                        </a:spcAft>
                      </a:pPr>
                      <a:r>
                        <a:rPr lang="en-US" sz="1500" dirty="0">
                          <a:latin typeface="Tw Cen MT (Body)"/>
                          <a:ea typeface="Times New Roman"/>
                        </a:rPr>
                        <a:t>Make use of the “80/20” and “50/10” rules of thumb.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The code that has had the most defects in the past.</a:t>
                      </a:r>
                    </a:p>
                    <a:p>
                      <a:pPr marL="0" marR="0" hangingPunct="0">
                        <a:spcBef>
                          <a:spcPts val="0"/>
                        </a:spcBef>
                        <a:spcAft>
                          <a:spcPts val="0"/>
                        </a:spcAft>
                      </a:pPr>
                      <a:r>
                        <a:rPr lang="en-US" sz="1500" dirty="0">
                          <a:latin typeface="Tw Cen MT (Body)"/>
                          <a:ea typeface="Times New Roman"/>
                        </a:rPr>
                        <a:t>The code that is related to the most critical requirements and CSCIs.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673100">
                <a:tc>
                  <a:txBody>
                    <a:bodyPr/>
                    <a:lstStyle/>
                    <a:p>
                      <a:pPr marL="0" marR="0" hangingPunct="0">
                        <a:spcBef>
                          <a:spcPts val="0"/>
                        </a:spcBef>
                        <a:spcAft>
                          <a:spcPts val="0"/>
                        </a:spcAft>
                      </a:pPr>
                      <a:r>
                        <a:rPr lang="en-US" sz="1500" dirty="0">
                          <a:latin typeface="Tw Cen MT (Body)"/>
                          <a:ea typeface="Times New Roman"/>
                        </a:rPr>
                        <a:t>Vulnerability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Identify the weaknesses which are most severe and most likely and look for them in every function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Mitre’s Common Weakness Entry list has ranking.  Note that the CWE entries should be sampled and not the code itself.  If even one function has a serious weakness then the software can be vulnerable.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48733">
                <a:tc>
                  <a:txBody>
                    <a:bodyPr/>
                    <a:lstStyle/>
                    <a:p>
                      <a:pPr marL="0" marR="0" hangingPunct="0">
                        <a:spcBef>
                          <a:spcPts val="0"/>
                        </a:spcBef>
                        <a:spcAft>
                          <a:spcPts val="0"/>
                        </a:spcAft>
                      </a:pPr>
                      <a:r>
                        <a:rPr lang="en-US" sz="1500" dirty="0">
                          <a:latin typeface="Tw Cen MT (Body)"/>
                          <a:ea typeface="Times New Roman"/>
                        </a:rPr>
                        <a:t>Maintenance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All corrective actions in all critical CSCIs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None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r h="448733">
                <a:tc>
                  <a:txBody>
                    <a:bodyPr/>
                    <a:lstStyle/>
                    <a:p>
                      <a:pPr marL="0" marR="0" hangingPunct="0">
                        <a:spcBef>
                          <a:spcPts val="0"/>
                        </a:spcBef>
                        <a:spcAft>
                          <a:spcPts val="0"/>
                        </a:spcAft>
                      </a:pPr>
                      <a:r>
                        <a:rPr lang="en-US" sz="1500" dirty="0" smtClean="0">
                          <a:latin typeface="Tw Cen MT (Body)"/>
                          <a:ea typeface="Times New Roman"/>
                        </a:rPr>
                        <a:t>Usability</a:t>
                      </a:r>
                      <a:endParaRPr lang="en-US" sz="1500" dirty="0">
                        <a:latin typeface="Tw Cen MT (Body)"/>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User actions related to critical functions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1500" dirty="0">
                          <a:latin typeface="Tw Cen MT (Body)"/>
                          <a:ea typeface="Times New Roman"/>
                        </a:rPr>
                        <a:t>Safety or mission critical components with a user interface to a human making critical decisions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5" name="TextBox 4"/>
          <p:cNvSpPr txBox="1">
            <a:spLocks noChangeArrowheads="1"/>
          </p:cNvSpPr>
          <p:nvPr/>
        </p:nvSpPr>
        <p:spPr bwMode="auto">
          <a:xfrm>
            <a:off x="152400" y="272255"/>
            <a:ext cx="5562600" cy="369888"/>
          </a:xfrm>
          <a:prstGeom prst="rect">
            <a:avLst/>
          </a:prstGeom>
          <a:noFill/>
          <a:ln w="9525">
            <a:noFill/>
            <a:miter lim="800000"/>
            <a:headEnd/>
            <a:tailEnd/>
          </a:ln>
        </p:spPr>
        <p:txBody>
          <a:bodyPr>
            <a:spAutoFit/>
          </a:bodyPr>
          <a:lstStyle/>
          <a:p>
            <a:r>
              <a:rPr lang="en-US" dirty="0" smtClean="0">
                <a:solidFill>
                  <a:schemeClr val="tx2"/>
                </a:solidFill>
              </a:rPr>
              <a:t>2.6 Decide </a:t>
            </a:r>
            <a:r>
              <a:rPr lang="en-US" dirty="0" smtClean="0">
                <a:solidFill>
                  <a:schemeClr val="tx2"/>
                </a:solidFill>
              </a:rPr>
              <a:t>selection scheme</a:t>
            </a:r>
            <a:endParaRPr lang="en-US" dirty="0">
              <a:solidFill>
                <a:schemeClr val="tx2"/>
              </a:solidFill>
            </a:endParaRPr>
          </a:p>
        </p:txBody>
      </p:sp>
    </p:spTree>
    <p:extLst>
      <p:ext uri="{BB962C8B-B14F-4D97-AF65-F5344CB8AC3E}">
        <p14:creationId xmlns:p14="http://schemas.microsoft.com/office/powerpoint/2010/main" val="987550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86156"/>
            <a:ext cx="7886700" cy="762001"/>
          </a:xfrm>
        </p:spPr>
        <p:txBody>
          <a:bodyPr/>
          <a:lstStyle/>
          <a:p>
            <a:r>
              <a:rPr lang="en-US" sz="3200" dirty="0" smtClean="0"/>
              <a:t>Ground rules to consider</a:t>
            </a:r>
            <a:endParaRPr lang="en-US" sz="32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86513690"/>
              </p:ext>
            </p:extLst>
          </p:nvPr>
        </p:nvGraphicFramePr>
        <p:xfrm>
          <a:off x="327212" y="1277114"/>
          <a:ext cx="8359588" cy="3489960"/>
        </p:xfrm>
        <a:graphic>
          <a:graphicData uri="http://schemas.openxmlformats.org/drawingml/2006/table">
            <a:tbl>
              <a:tblPr/>
              <a:tblGrid>
                <a:gridCol w="1653988"/>
                <a:gridCol w="6705600"/>
              </a:tblGrid>
              <a:tr h="355169">
                <a:tc>
                  <a:txBody>
                    <a:bodyPr/>
                    <a:lstStyle/>
                    <a:p>
                      <a:pPr marL="0" marR="0" hangingPunct="0">
                        <a:spcBef>
                          <a:spcPts val="0"/>
                        </a:spcBef>
                        <a:spcAft>
                          <a:spcPts val="0"/>
                        </a:spcAft>
                      </a:pPr>
                      <a:r>
                        <a:rPr lang="en-US" sz="2400" b="1" dirty="0">
                          <a:latin typeface="+mn-lt"/>
                          <a:ea typeface="Times New Roman"/>
                        </a:rPr>
                        <a:t>Issue</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2400" b="1" dirty="0">
                          <a:latin typeface="+mn-lt"/>
                          <a:ea typeface="Times New Roman"/>
                        </a:rPr>
                        <a:t>Extent the failure mode is propagated</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483031">
                <a:tc>
                  <a:txBody>
                    <a:bodyPr/>
                    <a:lstStyle/>
                    <a:p>
                      <a:pPr marL="0" marR="0" hangingPunct="0">
                        <a:spcBef>
                          <a:spcPts val="0"/>
                        </a:spcBef>
                        <a:spcAft>
                          <a:spcPts val="0"/>
                        </a:spcAft>
                      </a:pPr>
                      <a:r>
                        <a:rPr lang="en-US" sz="2000" dirty="0">
                          <a:latin typeface="+mn-lt"/>
                          <a:ea typeface="Times New Roman"/>
                        </a:rPr>
                        <a:t>Human error</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000" dirty="0">
                          <a:latin typeface="+mn-lt"/>
                          <a:ea typeface="Times New Roman"/>
                        </a:rPr>
                        <a:t>Decide whether or not to include human errors in the Functional SFMEAs. The Usability SFMEA focuses on the human error.  However, it’s possible to include the human aspect in the Functional SFMEA also.  </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5800">
                <a:tc>
                  <a:txBody>
                    <a:bodyPr/>
                    <a:lstStyle/>
                    <a:p>
                      <a:pPr marL="0" marR="0" hangingPunct="0">
                        <a:spcBef>
                          <a:spcPts val="0"/>
                        </a:spcBef>
                        <a:spcAft>
                          <a:spcPts val="0"/>
                        </a:spcAft>
                      </a:pPr>
                      <a:r>
                        <a:rPr lang="en-US" sz="2000" dirty="0">
                          <a:latin typeface="+mn-lt"/>
                          <a:ea typeface="Times New Roman"/>
                        </a:rPr>
                        <a:t>Chain of interfaces</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000" dirty="0" smtClean="0">
                          <a:latin typeface="+mn-lt"/>
                          <a:ea typeface="Times New Roman"/>
                        </a:rPr>
                        <a:t>How many interface</a:t>
                      </a:r>
                      <a:r>
                        <a:rPr lang="en-US" sz="2000" baseline="0" dirty="0" smtClean="0">
                          <a:latin typeface="+mn-lt"/>
                          <a:ea typeface="Times New Roman"/>
                        </a:rPr>
                        <a:t> chains will we consider in one SFMEA row?</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280">
                <a:tc>
                  <a:txBody>
                    <a:bodyPr/>
                    <a:lstStyle/>
                    <a:p>
                      <a:pPr marL="0" marR="0" hangingPunct="0">
                        <a:spcBef>
                          <a:spcPts val="0"/>
                        </a:spcBef>
                        <a:spcAft>
                          <a:spcPts val="0"/>
                        </a:spcAft>
                      </a:pPr>
                      <a:r>
                        <a:rPr lang="en-US" sz="2000" dirty="0">
                          <a:latin typeface="+mn-lt"/>
                          <a:ea typeface="Times New Roman"/>
                        </a:rPr>
                        <a:t>Network availability</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000" dirty="0">
                          <a:latin typeface="+mn-lt"/>
                          <a:ea typeface="Times New Roman"/>
                        </a:rPr>
                        <a:t>Decide whether to assume that any network required for the system is available.  </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0520">
                <a:tc>
                  <a:txBody>
                    <a:bodyPr/>
                    <a:lstStyle/>
                    <a:p>
                      <a:pPr marL="0" marR="0" hangingPunct="0">
                        <a:spcBef>
                          <a:spcPts val="0"/>
                        </a:spcBef>
                        <a:spcAft>
                          <a:spcPts val="0"/>
                        </a:spcAft>
                      </a:pPr>
                      <a:r>
                        <a:rPr lang="en-US" sz="2000" dirty="0">
                          <a:latin typeface="+mn-lt"/>
                          <a:ea typeface="Times New Roman"/>
                        </a:rPr>
                        <a:t>Speed and throughput</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000" dirty="0">
                          <a:latin typeface="+mn-lt"/>
                          <a:ea typeface="Times New Roman"/>
                        </a:rPr>
                        <a:t>Decide whether to assume that the system is performing at maximum, typical or minimum speed and throughput.    </a:t>
                      </a:r>
                      <a:endParaRPr lang="en-US" sz="24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TextBox 4"/>
          <p:cNvSpPr txBox="1">
            <a:spLocks noChangeArrowheads="1"/>
          </p:cNvSpPr>
          <p:nvPr/>
        </p:nvSpPr>
        <p:spPr bwMode="auto">
          <a:xfrm>
            <a:off x="304800" y="116268"/>
            <a:ext cx="5562600" cy="369888"/>
          </a:xfrm>
          <a:prstGeom prst="rect">
            <a:avLst/>
          </a:prstGeom>
          <a:noFill/>
          <a:ln w="9525">
            <a:noFill/>
            <a:miter lim="800000"/>
            <a:headEnd/>
            <a:tailEnd/>
          </a:ln>
        </p:spPr>
        <p:txBody>
          <a:bodyPr>
            <a:spAutoFit/>
          </a:bodyPr>
          <a:lstStyle/>
          <a:p>
            <a:r>
              <a:rPr lang="en-US" dirty="0" smtClean="0">
                <a:solidFill>
                  <a:schemeClr val="tx2"/>
                </a:solidFill>
              </a:rPr>
              <a:t>2.7 Set </a:t>
            </a:r>
            <a:r>
              <a:rPr lang="en-US" dirty="0" smtClean="0">
                <a:solidFill>
                  <a:schemeClr val="tx2"/>
                </a:solidFill>
              </a:rPr>
              <a:t>the Ground Rules</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52400" y="595928"/>
            <a:ext cx="8763000" cy="457201"/>
          </a:xfrm>
        </p:spPr>
        <p:txBody>
          <a:bodyPr>
            <a:noAutofit/>
          </a:bodyPr>
          <a:lstStyle/>
          <a:p>
            <a:pPr eaLnBrk="1" hangingPunct="1"/>
            <a:r>
              <a:rPr lang="en-US" sz="2400" dirty="0" smtClean="0"/>
              <a:t>Be familiar with these in advance of doing the SFMEA</a:t>
            </a:r>
          </a:p>
        </p:txBody>
      </p:sp>
      <p:sp>
        <p:nvSpPr>
          <p:cNvPr id="32772" name="TextBox 4"/>
          <p:cNvSpPr txBox="1">
            <a:spLocks noChangeArrowheads="1"/>
          </p:cNvSpPr>
          <p:nvPr/>
        </p:nvSpPr>
        <p:spPr bwMode="auto">
          <a:xfrm>
            <a:off x="152400" y="190181"/>
            <a:ext cx="5562600" cy="369888"/>
          </a:xfrm>
          <a:prstGeom prst="rect">
            <a:avLst/>
          </a:prstGeom>
          <a:noFill/>
          <a:ln w="9525">
            <a:noFill/>
            <a:miter lim="800000"/>
            <a:headEnd/>
            <a:tailEnd/>
          </a:ln>
        </p:spPr>
        <p:txBody>
          <a:bodyPr>
            <a:spAutoFit/>
          </a:bodyPr>
          <a:lstStyle/>
          <a:p>
            <a:r>
              <a:rPr lang="en-US" dirty="0" smtClean="0">
                <a:solidFill>
                  <a:schemeClr val="tx2"/>
                </a:solidFill>
              </a:rPr>
              <a:t>2.8 Define </a:t>
            </a:r>
            <a:r>
              <a:rPr lang="en-US" dirty="0" smtClean="0">
                <a:solidFill>
                  <a:schemeClr val="tx2"/>
                </a:solidFill>
              </a:rPr>
              <a:t>failure severity and likelihood ratings</a:t>
            </a:r>
            <a:endParaRPr lang="en-US" dirty="0">
              <a:solidFill>
                <a:schemeClr val="tx2"/>
              </a:solidFill>
            </a:endParaRPr>
          </a:p>
        </p:txBody>
      </p:sp>
      <p:sp>
        <p:nvSpPr>
          <p:cNvPr id="6" name="Content Placeholder 2"/>
          <p:cNvSpPr>
            <a:spLocks noGrp="1"/>
          </p:cNvSpPr>
          <p:nvPr>
            <p:ph idx="1"/>
          </p:nvPr>
        </p:nvSpPr>
        <p:spPr>
          <a:xfrm>
            <a:off x="152400" y="1295400"/>
            <a:ext cx="8458200" cy="5060951"/>
          </a:xfrm>
        </p:spPr>
        <p:txBody>
          <a:bodyPr>
            <a:noAutofit/>
          </a:bodyPr>
          <a:lstStyle/>
          <a:p>
            <a:pPr eaLnBrk="1" hangingPunct="1"/>
            <a:r>
              <a:rPr lang="en-US" dirty="0" smtClean="0"/>
              <a:t>Your organization/project probably has a defined table for assessing likelihood and severity. If not, agree on one.</a:t>
            </a:r>
          </a:p>
          <a:p>
            <a:pPr eaLnBrk="1" hangingPunct="1"/>
            <a:r>
              <a:rPr lang="en-US" dirty="0" smtClean="0"/>
              <a:t>The below is an example</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Agree on </a:t>
            </a:r>
            <a:r>
              <a:rPr lang="en-US" i="1" dirty="0" smtClean="0"/>
              <a:t>concrete</a:t>
            </a:r>
            <a:r>
              <a:rPr lang="en-US" dirty="0" smtClean="0"/>
              <a:t> definitions for each</a:t>
            </a:r>
          </a:p>
          <a:p>
            <a:pPr lvl="1" eaLnBrk="1" hangingPunct="1"/>
            <a:r>
              <a:rPr lang="en-US" sz="2400" dirty="0" smtClean="0"/>
              <a:t>i.e. what has to happen for the failure to be catastrophic?</a:t>
            </a:r>
          </a:p>
          <a:p>
            <a:pPr lvl="1" eaLnBrk="1" hangingPunct="1"/>
            <a:r>
              <a:rPr lang="en-US" sz="2400" dirty="0" smtClean="0"/>
              <a:t>This is called a Failure Definition and Scoring Criteria (FDSC)</a:t>
            </a:r>
          </a:p>
        </p:txBody>
      </p:sp>
      <p:graphicFrame>
        <p:nvGraphicFramePr>
          <p:cNvPr id="7" name="Table 6"/>
          <p:cNvGraphicFramePr>
            <a:graphicFrameLocks noGrp="1"/>
          </p:cNvGraphicFramePr>
          <p:nvPr>
            <p:extLst>
              <p:ext uri="{D42A27DB-BD31-4B8C-83A1-F6EECF244321}">
                <p14:modId xmlns:p14="http://schemas.microsoft.com/office/powerpoint/2010/main" val="2882365058"/>
              </p:ext>
            </p:extLst>
          </p:nvPr>
        </p:nvGraphicFramePr>
        <p:xfrm>
          <a:off x="914400" y="2623820"/>
          <a:ext cx="2743200" cy="1854200"/>
        </p:xfrm>
        <a:graphic>
          <a:graphicData uri="http://schemas.openxmlformats.org/drawingml/2006/table">
            <a:tbl>
              <a:tblPr firstRow="1" bandRow="1">
                <a:tableStyleId>{5C22544A-7EE6-4342-B048-85BDC9FD1C3A}</a:tableStyleId>
              </a:tblPr>
              <a:tblGrid>
                <a:gridCol w="603504"/>
                <a:gridCol w="2139696"/>
              </a:tblGrid>
              <a:tr h="370840">
                <a:tc>
                  <a:txBody>
                    <a:bodyPr/>
                    <a:lstStyle/>
                    <a:p>
                      <a:endParaRPr lang="en-US" sz="1800" dirty="0"/>
                    </a:p>
                  </a:txBody>
                  <a:tcPr/>
                </a:tc>
                <a:tc>
                  <a:txBody>
                    <a:bodyPr/>
                    <a:lstStyle/>
                    <a:p>
                      <a:r>
                        <a:rPr lang="en-US" sz="1800" dirty="0" smtClean="0"/>
                        <a:t>Severity</a:t>
                      </a:r>
                      <a:endParaRPr lang="en-US" sz="1800" dirty="0"/>
                    </a:p>
                  </a:txBody>
                  <a:tcPr/>
                </a:tc>
              </a:tr>
              <a:tr h="370840">
                <a:tc>
                  <a:txBody>
                    <a:bodyPr/>
                    <a:lstStyle/>
                    <a:p>
                      <a:r>
                        <a:rPr lang="en-US" sz="1800" dirty="0" smtClean="0"/>
                        <a:t>1</a:t>
                      </a:r>
                      <a:endParaRPr lang="en-US" sz="1800" dirty="0"/>
                    </a:p>
                  </a:txBody>
                  <a:tcPr/>
                </a:tc>
                <a:tc>
                  <a:txBody>
                    <a:bodyPr/>
                    <a:lstStyle/>
                    <a:p>
                      <a:r>
                        <a:rPr lang="en-US" sz="1800" dirty="0" smtClean="0"/>
                        <a:t>Catastrophic</a:t>
                      </a:r>
                      <a:endParaRPr lang="en-US" sz="1800" dirty="0"/>
                    </a:p>
                  </a:txBody>
                  <a:tcPr/>
                </a:tc>
              </a:tr>
              <a:tr h="370840">
                <a:tc>
                  <a:txBody>
                    <a:bodyPr/>
                    <a:lstStyle/>
                    <a:p>
                      <a:r>
                        <a:rPr lang="en-US" sz="1800" dirty="0" smtClean="0"/>
                        <a:t>2</a:t>
                      </a:r>
                      <a:endParaRPr lang="en-US" sz="1800" dirty="0"/>
                    </a:p>
                  </a:txBody>
                  <a:tcPr/>
                </a:tc>
                <a:tc>
                  <a:txBody>
                    <a:bodyPr/>
                    <a:lstStyle/>
                    <a:p>
                      <a:r>
                        <a:rPr lang="en-US" sz="1800" dirty="0" smtClean="0"/>
                        <a:t>Critical</a:t>
                      </a:r>
                      <a:endParaRPr lang="en-US" sz="1800" dirty="0"/>
                    </a:p>
                  </a:txBody>
                  <a:tcPr/>
                </a:tc>
              </a:tr>
              <a:tr h="370840">
                <a:tc>
                  <a:txBody>
                    <a:bodyPr/>
                    <a:lstStyle/>
                    <a:p>
                      <a:r>
                        <a:rPr lang="en-US" sz="1800" dirty="0" smtClean="0"/>
                        <a:t>3</a:t>
                      </a:r>
                      <a:endParaRPr lang="en-US" sz="1800" dirty="0"/>
                    </a:p>
                  </a:txBody>
                  <a:tcPr/>
                </a:tc>
                <a:tc>
                  <a:txBody>
                    <a:bodyPr/>
                    <a:lstStyle/>
                    <a:p>
                      <a:r>
                        <a:rPr lang="en-US" sz="1800" dirty="0" smtClean="0"/>
                        <a:t>Marginal</a:t>
                      </a:r>
                      <a:endParaRPr lang="en-US" sz="1800" dirty="0"/>
                    </a:p>
                  </a:txBody>
                  <a:tcPr/>
                </a:tc>
              </a:tr>
              <a:tr h="370840">
                <a:tc>
                  <a:txBody>
                    <a:bodyPr/>
                    <a:lstStyle/>
                    <a:p>
                      <a:r>
                        <a:rPr lang="en-US" sz="1800" dirty="0" smtClean="0"/>
                        <a:t>4</a:t>
                      </a:r>
                      <a:endParaRPr lang="en-US" sz="1800" dirty="0"/>
                    </a:p>
                  </a:txBody>
                  <a:tcPr/>
                </a:tc>
                <a:tc>
                  <a:txBody>
                    <a:bodyPr/>
                    <a:lstStyle/>
                    <a:p>
                      <a:r>
                        <a:rPr lang="en-US" sz="1800" dirty="0" smtClean="0"/>
                        <a:t>Minor</a:t>
                      </a:r>
                      <a:endParaRPr lang="en-US" sz="1800"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605215416"/>
              </p:ext>
            </p:extLst>
          </p:nvPr>
        </p:nvGraphicFramePr>
        <p:xfrm>
          <a:off x="4343400" y="2438400"/>
          <a:ext cx="3657600" cy="2225040"/>
        </p:xfrm>
        <a:graphic>
          <a:graphicData uri="http://schemas.openxmlformats.org/drawingml/2006/table">
            <a:tbl>
              <a:tblPr firstRow="1" bandRow="1">
                <a:tableStyleId>{5C22544A-7EE6-4342-B048-85BDC9FD1C3A}</a:tableStyleId>
              </a:tblPr>
              <a:tblGrid>
                <a:gridCol w="804672"/>
                <a:gridCol w="2852928"/>
              </a:tblGrid>
              <a:tr h="370840">
                <a:tc>
                  <a:txBody>
                    <a:bodyPr/>
                    <a:lstStyle/>
                    <a:p>
                      <a:endParaRPr lang="en-US" sz="1800" dirty="0"/>
                    </a:p>
                  </a:txBody>
                  <a:tcPr/>
                </a:tc>
                <a:tc>
                  <a:txBody>
                    <a:bodyPr/>
                    <a:lstStyle/>
                    <a:p>
                      <a:r>
                        <a:rPr lang="en-US" sz="1800" dirty="0" smtClean="0"/>
                        <a:t>Likelihood</a:t>
                      </a:r>
                      <a:endParaRPr lang="en-US" sz="1800" dirty="0"/>
                    </a:p>
                  </a:txBody>
                  <a:tcPr/>
                </a:tc>
              </a:tr>
              <a:tr h="370840">
                <a:tc>
                  <a:txBody>
                    <a:bodyPr/>
                    <a:lstStyle/>
                    <a:p>
                      <a:r>
                        <a:rPr lang="en-US" sz="1800" dirty="0" smtClean="0"/>
                        <a:t>1</a:t>
                      </a:r>
                      <a:endParaRPr lang="en-US" sz="1800" dirty="0"/>
                    </a:p>
                  </a:txBody>
                  <a:tcPr/>
                </a:tc>
                <a:tc>
                  <a:txBody>
                    <a:bodyPr/>
                    <a:lstStyle/>
                    <a:p>
                      <a:r>
                        <a:rPr lang="en-US" sz="1800" dirty="0" smtClean="0"/>
                        <a:t>Likely</a:t>
                      </a:r>
                      <a:endParaRPr lang="en-US" sz="1800" dirty="0"/>
                    </a:p>
                  </a:txBody>
                  <a:tcPr/>
                </a:tc>
              </a:tr>
              <a:tr h="370840">
                <a:tc>
                  <a:txBody>
                    <a:bodyPr/>
                    <a:lstStyle/>
                    <a:p>
                      <a:r>
                        <a:rPr lang="en-US" sz="1800" dirty="0" smtClean="0"/>
                        <a:t>2</a:t>
                      </a:r>
                      <a:endParaRPr lang="en-US" sz="1800" dirty="0"/>
                    </a:p>
                  </a:txBody>
                  <a:tcPr/>
                </a:tc>
                <a:tc>
                  <a:txBody>
                    <a:bodyPr/>
                    <a:lstStyle/>
                    <a:p>
                      <a:r>
                        <a:rPr lang="en-US" sz="1800" dirty="0" smtClean="0"/>
                        <a:t>Reasonably</a:t>
                      </a:r>
                      <a:r>
                        <a:rPr lang="en-US" sz="1800" baseline="0" dirty="0" smtClean="0"/>
                        <a:t> </a:t>
                      </a:r>
                      <a:r>
                        <a:rPr lang="en-US" sz="1800" dirty="0" smtClean="0"/>
                        <a:t>Probable</a:t>
                      </a:r>
                      <a:endParaRPr lang="en-US" sz="1800" dirty="0"/>
                    </a:p>
                  </a:txBody>
                  <a:tcPr/>
                </a:tc>
              </a:tr>
              <a:tr h="370840">
                <a:tc>
                  <a:txBody>
                    <a:bodyPr/>
                    <a:lstStyle/>
                    <a:p>
                      <a:r>
                        <a:rPr lang="en-US" sz="1800" dirty="0" smtClean="0"/>
                        <a:t>3</a:t>
                      </a:r>
                      <a:endParaRPr lang="en-US" sz="1800" dirty="0"/>
                    </a:p>
                  </a:txBody>
                  <a:tcPr/>
                </a:tc>
                <a:tc>
                  <a:txBody>
                    <a:bodyPr/>
                    <a:lstStyle/>
                    <a:p>
                      <a:r>
                        <a:rPr lang="en-US" sz="1800" dirty="0" smtClean="0"/>
                        <a:t>Possible</a:t>
                      </a:r>
                      <a:endParaRPr lang="en-US" sz="1800" dirty="0"/>
                    </a:p>
                  </a:txBody>
                  <a:tcPr/>
                </a:tc>
              </a:tr>
              <a:tr h="370840">
                <a:tc>
                  <a:txBody>
                    <a:bodyPr/>
                    <a:lstStyle/>
                    <a:p>
                      <a:r>
                        <a:rPr lang="en-US" sz="1800" dirty="0" smtClean="0"/>
                        <a:t>4</a:t>
                      </a:r>
                      <a:endParaRPr lang="en-US" sz="1800" dirty="0"/>
                    </a:p>
                  </a:txBody>
                  <a:tcPr/>
                </a:tc>
                <a:tc>
                  <a:txBody>
                    <a:bodyPr/>
                    <a:lstStyle/>
                    <a:p>
                      <a:r>
                        <a:rPr lang="en-US" sz="1800" dirty="0" smtClean="0"/>
                        <a:t>Remote</a:t>
                      </a:r>
                      <a:endParaRPr lang="en-US" sz="1800" dirty="0"/>
                    </a:p>
                  </a:txBody>
                  <a:tcPr/>
                </a:tc>
              </a:tr>
              <a:tr h="370840">
                <a:tc>
                  <a:txBody>
                    <a:bodyPr/>
                    <a:lstStyle/>
                    <a:p>
                      <a:r>
                        <a:rPr lang="en-US" sz="1800" dirty="0" smtClean="0"/>
                        <a:t>5</a:t>
                      </a:r>
                      <a:endParaRPr lang="en-US" sz="1800" dirty="0"/>
                    </a:p>
                  </a:txBody>
                  <a:tcPr/>
                </a:tc>
                <a:tc>
                  <a:txBody>
                    <a:bodyPr/>
                    <a:lstStyle/>
                    <a:p>
                      <a:pPr algn="l"/>
                      <a:r>
                        <a:rPr lang="en-US" sz="1800" dirty="0" smtClean="0"/>
                        <a:t>Extremely unlikely</a:t>
                      </a:r>
                      <a:endParaRPr lang="en-US" sz="1800" dirty="0"/>
                    </a:p>
                  </a:txBody>
                  <a:tcPr/>
                </a:tc>
              </a:tr>
            </a:tbl>
          </a:graphicData>
        </a:graphic>
      </p:graphicFrame>
      <p:sp>
        <p:nvSpPr>
          <p:cNvPr id="9" name="Rectangle 8"/>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94065"/>
            <a:ext cx="7886700" cy="544512"/>
          </a:xfrm>
        </p:spPr>
        <p:txBody>
          <a:bodyPr>
            <a:noAutofit/>
          </a:bodyPr>
          <a:lstStyle/>
          <a:p>
            <a:r>
              <a:rPr lang="en-US" sz="3600" dirty="0" smtClean="0"/>
              <a:t>Example of an FDSC for a thermostat</a:t>
            </a:r>
            <a:endParaRPr lang="en-US" sz="3600" dirty="0"/>
          </a:p>
        </p:txBody>
      </p:sp>
      <p:graphicFrame>
        <p:nvGraphicFramePr>
          <p:cNvPr id="4" name="Content Placeholder 3"/>
          <p:cNvGraphicFramePr>
            <a:graphicFrameLocks noGrp="1"/>
          </p:cNvGraphicFramePr>
          <p:nvPr>
            <p:ph sz="half" idx="1"/>
            <p:extLst/>
          </p:nvPr>
        </p:nvGraphicFramePr>
        <p:xfrm>
          <a:off x="311522" y="1523521"/>
          <a:ext cx="8299077" cy="3505679"/>
        </p:xfrm>
        <a:graphic>
          <a:graphicData uri="http://schemas.openxmlformats.org/drawingml/2006/table">
            <a:tbl>
              <a:tblPr/>
              <a:tblGrid>
                <a:gridCol w="1364878"/>
                <a:gridCol w="6934199"/>
              </a:tblGrid>
              <a:tr h="491200">
                <a:tc>
                  <a:txBody>
                    <a:bodyPr/>
                    <a:lstStyle/>
                    <a:p>
                      <a:pPr marL="0" marR="0" hangingPunct="0">
                        <a:spcBef>
                          <a:spcPts val="0"/>
                        </a:spcBef>
                        <a:spcAft>
                          <a:spcPts val="0"/>
                        </a:spcAft>
                      </a:pPr>
                      <a:r>
                        <a:rPr lang="en-US" sz="2400" b="1" dirty="0">
                          <a:solidFill>
                            <a:schemeClr val="tx1"/>
                          </a:solidFill>
                          <a:latin typeface="+mn-lt"/>
                          <a:ea typeface="Times New Roman"/>
                          <a:cs typeface="Times New Roman"/>
                        </a:rPr>
                        <a:t>Severity</a:t>
                      </a:r>
                      <a:endParaRPr lang="en-US" sz="2400" dirty="0">
                        <a:solidFill>
                          <a:schemeClr val="tx1"/>
                        </a:solidFill>
                        <a:latin typeface="+mn-lt"/>
                        <a:ea typeface="Times New Roman"/>
                        <a:cs typeface="Times New Roman"/>
                      </a:endParaRP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hangingPunct="0">
                        <a:spcBef>
                          <a:spcPts val="0"/>
                        </a:spcBef>
                        <a:spcAft>
                          <a:spcPts val="0"/>
                        </a:spcAft>
                      </a:pPr>
                      <a:r>
                        <a:rPr lang="en-US" sz="2400" b="1" dirty="0">
                          <a:solidFill>
                            <a:schemeClr val="tx1"/>
                          </a:solidFill>
                          <a:latin typeface="+mn-lt"/>
                          <a:ea typeface="Times New Roman"/>
                          <a:cs typeface="Times New Roman"/>
                        </a:rPr>
                        <a:t>Examples</a:t>
                      </a:r>
                      <a:endParaRPr lang="en-US" sz="2400" dirty="0">
                        <a:solidFill>
                          <a:schemeClr val="tx1"/>
                        </a:solidFill>
                        <a:latin typeface="+mn-lt"/>
                        <a:ea typeface="Times New Roman"/>
                        <a:cs typeface="Times New Roman"/>
                      </a:endParaRP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491200">
                <a:tc>
                  <a:txBody>
                    <a:bodyPr/>
                    <a:lstStyle/>
                    <a:p>
                      <a:pPr marL="0" marR="0" hangingPunct="0">
                        <a:spcBef>
                          <a:spcPts val="0"/>
                        </a:spcBef>
                        <a:spcAft>
                          <a:spcPts val="0"/>
                        </a:spcAft>
                      </a:pPr>
                      <a:r>
                        <a:rPr lang="en-US" sz="2400" dirty="0">
                          <a:solidFill>
                            <a:schemeClr val="tx1"/>
                          </a:solidFill>
                          <a:latin typeface="+mn-lt"/>
                          <a:ea typeface="Times New Roman"/>
                          <a:cs typeface="Times New Roman"/>
                        </a:rPr>
                        <a:t>I</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400" dirty="0">
                          <a:latin typeface="+mn-lt"/>
                          <a:ea typeface="Times New Roman"/>
                          <a:cs typeface="Times New Roman"/>
                        </a:rPr>
                        <a:t>Safety hazard or loss of equipment  </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46879">
                <a:tc>
                  <a:txBody>
                    <a:bodyPr/>
                    <a:lstStyle/>
                    <a:p>
                      <a:pPr marL="0" marR="0" hangingPunct="0">
                        <a:spcBef>
                          <a:spcPts val="0"/>
                        </a:spcBef>
                        <a:spcAft>
                          <a:spcPts val="0"/>
                        </a:spcAft>
                      </a:pPr>
                      <a:r>
                        <a:rPr lang="en-US" sz="2400" dirty="0">
                          <a:solidFill>
                            <a:schemeClr val="tx1"/>
                          </a:solidFill>
                          <a:latin typeface="+mn-lt"/>
                          <a:ea typeface="Times New Roman"/>
                          <a:cs typeface="Times New Roman"/>
                        </a:rPr>
                        <a:t>II</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400" dirty="0">
                          <a:latin typeface="+mn-lt"/>
                          <a:ea typeface="Times New Roman"/>
                          <a:cs typeface="Times New Roman"/>
                        </a:rPr>
                        <a:t>Persistent loss of temperature control or temperature isn’t controlled within  5%  of desired temperature</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9200">
                <a:tc>
                  <a:txBody>
                    <a:bodyPr/>
                    <a:lstStyle/>
                    <a:p>
                      <a:pPr marL="0" marR="0" hangingPunct="0">
                        <a:spcBef>
                          <a:spcPts val="0"/>
                        </a:spcBef>
                        <a:spcAft>
                          <a:spcPts val="0"/>
                        </a:spcAft>
                      </a:pPr>
                      <a:r>
                        <a:rPr lang="en-US" sz="2400" dirty="0">
                          <a:solidFill>
                            <a:schemeClr val="tx1"/>
                          </a:solidFill>
                          <a:latin typeface="+mn-lt"/>
                          <a:ea typeface="Times New Roman"/>
                          <a:cs typeface="Times New Roman"/>
                        </a:rPr>
                        <a:t>III</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400" dirty="0">
                          <a:latin typeface="+mn-lt"/>
                          <a:ea typeface="Times New Roman"/>
                          <a:cs typeface="Times New Roman"/>
                        </a:rPr>
                        <a:t>Sporadic loss of temperature control or temperature isn’t controlled within 1 degree but less than 5% of desired temperature</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200">
                <a:tc>
                  <a:txBody>
                    <a:bodyPr/>
                    <a:lstStyle/>
                    <a:p>
                      <a:pPr marL="0" marR="0" hangingPunct="0">
                        <a:spcBef>
                          <a:spcPts val="0"/>
                        </a:spcBef>
                        <a:spcAft>
                          <a:spcPts val="0"/>
                        </a:spcAft>
                      </a:pPr>
                      <a:r>
                        <a:rPr lang="en-US" sz="2400" dirty="0">
                          <a:solidFill>
                            <a:schemeClr val="tx1"/>
                          </a:solidFill>
                          <a:latin typeface="+mn-lt"/>
                          <a:ea typeface="Times New Roman"/>
                          <a:cs typeface="Times New Roman"/>
                        </a:rPr>
                        <a:t>IV</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hangingPunct="0">
                        <a:spcBef>
                          <a:spcPts val="0"/>
                        </a:spcBef>
                        <a:spcAft>
                          <a:spcPts val="0"/>
                        </a:spcAft>
                      </a:pPr>
                      <a:r>
                        <a:rPr lang="en-US" sz="2400" dirty="0">
                          <a:latin typeface="+mn-lt"/>
                          <a:ea typeface="Times New Roman"/>
                          <a:cs typeface="Times New Roman"/>
                        </a:rPr>
                        <a:t>Inconvenience or minor loss of temperature control</a:t>
                      </a:r>
                    </a:p>
                  </a:txBody>
                  <a:tcPr marL="35329" marR="353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a:spLocks noChangeArrowheads="1"/>
          </p:cNvSpPr>
          <p:nvPr/>
        </p:nvSpPr>
        <p:spPr bwMode="auto">
          <a:xfrm>
            <a:off x="266700" y="239233"/>
            <a:ext cx="5562600" cy="369888"/>
          </a:xfrm>
          <a:prstGeom prst="rect">
            <a:avLst/>
          </a:prstGeom>
          <a:noFill/>
          <a:ln w="9525">
            <a:noFill/>
            <a:miter lim="800000"/>
            <a:headEnd/>
            <a:tailEnd/>
          </a:ln>
        </p:spPr>
        <p:txBody>
          <a:bodyPr>
            <a:spAutoFit/>
          </a:bodyPr>
          <a:lstStyle/>
          <a:p>
            <a:r>
              <a:rPr lang="en-US" dirty="0" smtClean="0">
                <a:solidFill>
                  <a:schemeClr val="tx2"/>
                </a:solidFill>
              </a:rPr>
              <a:t>2.8 Define </a:t>
            </a:r>
            <a:r>
              <a:rPr lang="en-US" dirty="0" smtClean="0">
                <a:solidFill>
                  <a:schemeClr val="tx2"/>
                </a:solidFill>
              </a:rPr>
              <a:t>failure severity and likelihood ratings</a:t>
            </a:r>
            <a:endParaRPr lang="en-US" dirty="0">
              <a:solidFill>
                <a:schemeClr val="tx2"/>
              </a:solidFill>
            </a:endParaRPr>
          </a:p>
        </p:txBody>
      </p:sp>
    </p:spTree>
    <p:extLst>
      <p:ext uri="{BB962C8B-B14F-4D97-AF65-F5344CB8AC3E}">
        <p14:creationId xmlns:p14="http://schemas.microsoft.com/office/powerpoint/2010/main" val="1524624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976" y="653445"/>
            <a:ext cx="7886700" cy="641956"/>
          </a:xfrm>
        </p:spPr>
        <p:txBody>
          <a:bodyPr/>
          <a:lstStyle/>
          <a:p>
            <a:r>
              <a:rPr lang="en-US" sz="2800" dirty="0" smtClean="0"/>
              <a:t>Be familiar with mitigation thresholds required for your program or project</a:t>
            </a:r>
            <a:endParaRPr lang="en-US" sz="2800" dirty="0"/>
          </a:p>
        </p:txBody>
      </p:sp>
      <p:sp>
        <p:nvSpPr>
          <p:cNvPr id="4" name="TextBox 4"/>
          <p:cNvSpPr txBox="1">
            <a:spLocks noChangeArrowheads="1"/>
          </p:cNvSpPr>
          <p:nvPr/>
        </p:nvSpPr>
        <p:spPr bwMode="auto">
          <a:xfrm>
            <a:off x="228600" y="283556"/>
            <a:ext cx="5562600" cy="369888"/>
          </a:xfrm>
          <a:prstGeom prst="rect">
            <a:avLst/>
          </a:prstGeom>
          <a:noFill/>
          <a:ln w="9525">
            <a:noFill/>
            <a:miter lim="800000"/>
            <a:headEnd/>
            <a:tailEnd/>
          </a:ln>
        </p:spPr>
        <p:txBody>
          <a:bodyPr>
            <a:spAutoFit/>
          </a:bodyPr>
          <a:lstStyle/>
          <a:p>
            <a:r>
              <a:rPr lang="en-US" dirty="0" smtClean="0">
                <a:solidFill>
                  <a:schemeClr val="tx2"/>
                </a:solidFill>
              </a:rPr>
              <a:t>2.8 Define </a:t>
            </a:r>
            <a:r>
              <a:rPr lang="en-US" dirty="0" smtClean="0">
                <a:solidFill>
                  <a:schemeClr val="tx2"/>
                </a:solidFill>
              </a:rPr>
              <a:t>failure severity and likelihood ratings</a:t>
            </a:r>
            <a:endParaRPr lang="en-US" dirty="0">
              <a:solidFill>
                <a:schemeClr val="tx2"/>
              </a:solidFill>
            </a:endParaRP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41581361"/>
              </p:ext>
            </p:extLst>
          </p:nvPr>
        </p:nvGraphicFramePr>
        <p:xfrm>
          <a:off x="362989" y="1426507"/>
          <a:ext cx="8128000" cy="4065587"/>
        </p:xfrm>
        <a:graphic>
          <a:graphicData uri="http://schemas.openxmlformats.org/drawingml/2006/table">
            <a:tbl>
              <a:tblPr/>
              <a:tblGrid>
                <a:gridCol w="1850112"/>
                <a:gridCol w="1373401"/>
                <a:gridCol w="1502989"/>
                <a:gridCol w="1423883"/>
                <a:gridCol w="1977615"/>
              </a:tblGrid>
              <a:tr h="562113">
                <a:tc>
                  <a:txBody>
                    <a:bodyPr/>
                    <a:lstStyle/>
                    <a:p>
                      <a:r>
                        <a:rPr lang="en-US" sz="2400" dirty="0" smtClean="0">
                          <a:solidFill>
                            <a:schemeClr val="bg1"/>
                          </a:solidFill>
                        </a:rPr>
                        <a:t>Likely</a:t>
                      </a:r>
                      <a:endParaRPr lang="en-US" sz="2400" dirty="0">
                        <a:solidFill>
                          <a:schemeClr val="bg1"/>
                        </a:solidFill>
                      </a:endParaRPr>
                    </a:p>
                  </a:txBody>
                  <a:tcPr marL="23449" marR="2344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hangingPunct="0">
                        <a:spcBef>
                          <a:spcPts val="0"/>
                        </a:spcBef>
                        <a:spcAft>
                          <a:spcPts val="0"/>
                        </a:spcAft>
                      </a:pPr>
                      <a:r>
                        <a:rPr lang="en-US" sz="2400" dirty="0">
                          <a:solidFill>
                            <a:schemeClr val="bg1"/>
                          </a:solidFill>
                          <a:latin typeface="+mn-lt"/>
                          <a:ea typeface="Times New Roman"/>
                        </a:rPr>
                        <a:t>Extreme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hangingPunct="0">
                        <a:spcBef>
                          <a:spcPts val="0"/>
                        </a:spcBef>
                        <a:spcAft>
                          <a:spcPts val="0"/>
                        </a:spcAft>
                      </a:pPr>
                      <a:r>
                        <a:rPr lang="en-US" sz="2400" dirty="0">
                          <a:solidFill>
                            <a:schemeClr val="bg1"/>
                          </a:solidFill>
                          <a:latin typeface="+mn-lt"/>
                          <a:ea typeface="Times New Roman"/>
                        </a:rPr>
                        <a:t>Extreme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r h="768039">
                <a:tc>
                  <a:txBody>
                    <a:bodyPr/>
                    <a:lstStyle/>
                    <a:p>
                      <a:r>
                        <a:rPr lang="en-US" sz="2400" dirty="0" smtClean="0">
                          <a:solidFill>
                            <a:schemeClr val="bg1"/>
                          </a:solidFill>
                        </a:rPr>
                        <a:t>Reasonably</a:t>
                      </a:r>
                      <a:r>
                        <a:rPr lang="en-US" sz="2400" baseline="0" dirty="0" smtClean="0">
                          <a:solidFill>
                            <a:schemeClr val="bg1"/>
                          </a:solidFill>
                        </a:rPr>
                        <a:t> </a:t>
                      </a:r>
                      <a:r>
                        <a:rPr lang="en-US" sz="2400" dirty="0" smtClean="0">
                          <a:solidFill>
                            <a:schemeClr val="bg1"/>
                          </a:solidFill>
                        </a:rPr>
                        <a:t>Probable</a:t>
                      </a:r>
                      <a:endParaRPr lang="en-US" sz="2400" dirty="0">
                        <a:solidFill>
                          <a:schemeClr val="bg1"/>
                        </a:solidFill>
                      </a:endParaRPr>
                    </a:p>
                  </a:txBody>
                  <a:tcPr marL="23449" marR="2344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dirty="0">
                          <a:solidFill>
                            <a:schemeClr val="bg1"/>
                          </a:solidFill>
                          <a:latin typeface="+mn-lt"/>
                          <a:ea typeface="Times New Roman"/>
                        </a:rPr>
                        <a:t>Moderate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hangingPunct="0">
                        <a:spcBef>
                          <a:spcPts val="0"/>
                        </a:spcBef>
                        <a:spcAft>
                          <a:spcPts val="0"/>
                        </a:spcAft>
                      </a:pPr>
                      <a:r>
                        <a:rPr lang="en-US" sz="2400" dirty="0">
                          <a:solidFill>
                            <a:schemeClr val="bg1"/>
                          </a:solidFill>
                          <a:latin typeface="+mn-lt"/>
                          <a:ea typeface="Times New Roman"/>
                        </a:rPr>
                        <a:t>Extreme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r h="562113">
                <a:tc>
                  <a:txBody>
                    <a:bodyPr/>
                    <a:lstStyle/>
                    <a:p>
                      <a:r>
                        <a:rPr lang="en-US" sz="2400" dirty="0" smtClean="0">
                          <a:solidFill>
                            <a:schemeClr val="bg1"/>
                          </a:solidFill>
                        </a:rPr>
                        <a:t>Possible</a:t>
                      </a:r>
                      <a:endParaRPr lang="en-US" sz="2400" dirty="0">
                        <a:solidFill>
                          <a:schemeClr val="bg1"/>
                        </a:solidFill>
                      </a:endParaRPr>
                    </a:p>
                  </a:txBody>
                  <a:tcPr marL="23449" marR="2344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dirty="0">
                          <a:solidFill>
                            <a:schemeClr val="bg1"/>
                          </a:solidFill>
                          <a:latin typeface="+mn-lt"/>
                          <a:ea typeface="Times New Roman"/>
                        </a:rPr>
                        <a:t>Low</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hangingPunct="0">
                        <a:spcBef>
                          <a:spcPts val="0"/>
                        </a:spcBef>
                        <a:spcAft>
                          <a:spcPts val="0"/>
                        </a:spcAft>
                      </a:pPr>
                      <a:r>
                        <a:rPr lang="en-US" sz="2400" dirty="0">
                          <a:solidFill>
                            <a:schemeClr val="bg1"/>
                          </a:solidFill>
                          <a:latin typeface="+mn-lt"/>
                          <a:ea typeface="Times New Roman"/>
                        </a:rPr>
                        <a:t>Moderate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hangingPunct="0">
                        <a:spcBef>
                          <a:spcPts val="0"/>
                        </a:spcBef>
                        <a:spcAft>
                          <a:spcPts val="0"/>
                        </a:spcAft>
                      </a:pPr>
                      <a:r>
                        <a:rPr lang="en-US" sz="2400" dirty="0">
                          <a:solidFill>
                            <a:schemeClr val="bg1"/>
                          </a:solidFill>
                          <a:latin typeface="+mn-lt"/>
                          <a:ea typeface="Times New Roman"/>
                        </a:rPr>
                        <a:t>Extreme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r h="562113">
                <a:tc>
                  <a:txBody>
                    <a:bodyPr/>
                    <a:lstStyle/>
                    <a:p>
                      <a:r>
                        <a:rPr lang="en-US" sz="2400" dirty="0" smtClean="0">
                          <a:solidFill>
                            <a:schemeClr val="bg1"/>
                          </a:solidFill>
                        </a:rPr>
                        <a:t>Remote</a:t>
                      </a:r>
                      <a:endParaRPr lang="en-US" sz="2400" dirty="0">
                        <a:solidFill>
                          <a:schemeClr val="bg1"/>
                        </a:solidFill>
                      </a:endParaRPr>
                    </a:p>
                  </a:txBody>
                  <a:tcPr marL="23449" marR="2344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dirty="0">
                          <a:solidFill>
                            <a:schemeClr val="bg1"/>
                          </a:solidFill>
                          <a:latin typeface="+mn-lt"/>
                          <a:ea typeface="Times New Roman"/>
                        </a:rPr>
                        <a:t>Low</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hangingPunct="0">
                        <a:spcBef>
                          <a:spcPts val="0"/>
                        </a:spcBef>
                        <a:spcAft>
                          <a:spcPts val="0"/>
                        </a:spcAft>
                      </a:pPr>
                      <a:r>
                        <a:rPr lang="en-US" sz="2400" dirty="0">
                          <a:solidFill>
                            <a:schemeClr val="bg1"/>
                          </a:solidFill>
                          <a:latin typeface="+mn-lt"/>
                          <a:ea typeface="Times New Roman"/>
                        </a:rPr>
                        <a:t>Low</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hangingPunct="0">
                        <a:spcBef>
                          <a:spcPts val="0"/>
                        </a:spcBef>
                        <a:spcAft>
                          <a:spcPts val="0"/>
                        </a:spcAft>
                      </a:pPr>
                      <a:r>
                        <a:rPr lang="en-US" sz="2400" dirty="0">
                          <a:solidFill>
                            <a:schemeClr val="bg1"/>
                          </a:solidFill>
                          <a:latin typeface="+mn-lt"/>
                          <a:ea typeface="Times New Roman"/>
                        </a:rPr>
                        <a:t>Moderate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hangingPunct="0">
                        <a:spcBef>
                          <a:spcPts val="0"/>
                        </a:spcBef>
                        <a:spcAft>
                          <a:spcPts val="0"/>
                        </a:spcAft>
                      </a:pPr>
                      <a:r>
                        <a:rPr lang="en-US" sz="2400" dirty="0">
                          <a:solidFill>
                            <a:schemeClr val="bg1"/>
                          </a:solidFill>
                          <a:latin typeface="+mn-lt"/>
                          <a:ea typeface="Times New Roman"/>
                        </a:rPr>
                        <a:t>Extreme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r h="768039">
                <a:tc>
                  <a:txBody>
                    <a:bodyPr/>
                    <a:lstStyle/>
                    <a:p>
                      <a:pPr algn="l"/>
                      <a:r>
                        <a:rPr lang="en-US" sz="2400" dirty="0" smtClean="0">
                          <a:solidFill>
                            <a:schemeClr val="bg1"/>
                          </a:solidFill>
                        </a:rPr>
                        <a:t>Extremely unlikely</a:t>
                      </a:r>
                      <a:endParaRPr lang="en-US" sz="2400" dirty="0">
                        <a:solidFill>
                          <a:schemeClr val="bg1"/>
                        </a:solidFill>
                      </a:endParaRPr>
                    </a:p>
                  </a:txBody>
                  <a:tcPr marL="23449" marR="2344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dirty="0">
                          <a:solidFill>
                            <a:schemeClr val="bg1"/>
                          </a:solidFill>
                          <a:latin typeface="+mn-lt"/>
                          <a:ea typeface="Times New Roman"/>
                        </a:rPr>
                        <a:t>Low</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hangingPunct="0">
                        <a:spcBef>
                          <a:spcPts val="0"/>
                        </a:spcBef>
                        <a:spcAft>
                          <a:spcPts val="0"/>
                        </a:spcAft>
                      </a:pPr>
                      <a:r>
                        <a:rPr lang="en-US" sz="2400" dirty="0">
                          <a:solidFill>
                            <a:schemeClr val="bg1"/>
                          </a:solidFill>
                          <a:latin typeface="+mn-lt"/>
                          <a:ea typeface="Times New Roman"/>
                        </a:rPr>
                        <a:t>Low</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hangingPunct="0">
                        <a:spcBef>
                          <a:spcPts val="0"/>
                        </a:spcBef>
                        <a:spcAft>
                          <a:spcPts val="0"/>
                        </a:spcAft>
                      </a:pPr>
                      <a:r>
                        <a:rPr lang="en-US" sz="2400" dirty="0">
                          <a:solidFill>
                            <a:schemeClr val="bg1"/>
                          </a:solidFill>
                          <a:latin typeface="+mn-lt"/>
                          <a:ea typeface="Times New Roman"/>
                        </a:rPr>
                        <a:t>Moderate</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0" marR="0" hangingPunct="0">
                        <a:spcBef>
                          <a:spcPts val="0"/>
                        </a:spcBef>
                        <a:spcAft>
                          <a:spcPts val="0"/>
                        </a:spcAft>
                      </a:pPr>
                      <a:r>
                        <a:rPr lang="en-US" sz="2400" dirty="0">
                          <a:solidFill>
                            <a:schemeClr val="bg1"/>
                          </a:solidFill>
                          <a:latin typeface="+mn-lt"/>
                          <a:ea typeface="Times New Roman"/>
                        </a:rPr>
                        <a:t>High</a:t>
                      </a:r>
                    </a:p>
                  </a:txBody>
                  <a:tcPr marL="17587" marR="1758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733328">
                <a:tc>
                  <a:txBody>
                    <a:bodyPr/>
                    <a:lstStyle/>
                    <a:p>
                      <a:pPr marL="0" marR="0" hangingPunct="0">
                        <a:spcBef>
                          <a:spcPts val="0"/>
                        </a:spcBef>
                        <a:spcAft>
                          <a:spcPts val="0"/>
                        </a:spcAft>
                      </a:pPr>
                      <a:r>
                        <a:rPr lang="en-US" sz="2400" b="0" dirty="0">
                          <a:solidFill>
                            <a:schemeClr val="bg1"/>
                          </a:solidFill>
                          <a:latin typeface="+mn-lt"/>
                          <a:ea typeface="Times New Roman"/>
                        </a:rPr>
                        <a:t>Likelihood</a:t>
                      </a:r>
                      <a:r>
                        <a:rPr lang="en-US" sz="2400" b="0" dirty="0" smtClean="0">
                          <a:solidFill>
                            <a:schemeClr val="bg1"/>
                          </a:solidFill>
                          <a:latin typeface="+mn-lt"/>
                          <a:ea typeface="Times New Roman"/>
                        </a:rPr>
                        <a:t>/</a:t>
                      </a:r>
                    </a:p>
                    <a:p>
                      <a:pPr marL="0" marR="0" hangingPunct="0">
                        <a:spcBef>
                          <a:spcPts val="0"/>
                        </a:spcBef>
                        <a:spcAft>
                          <a:spcPts val="0"/>
                        </a:spcAft>
                      </a:pPr>
                      <a:r>
                        <a:rPr lang="en-US" sz="2400" b="0" dirty="0" smtClean="0">
                          <a:solidFill>
                            <a:schemeClr val="bg1"/>
                          </a:solidFill>
                          <a:latin typeface="+mn-lt"/>
                          <a:ea typeface="Times New Roman"/>
                        </a:rPr>
                        <a:t>Severity</a:t>
                      </a:r>
                      <a:endParaRPr lang="en-US" sz="2400" b="0" dirty="0">
                        <a:solidFill>
                          <a:schemeClr val="bg1"/>
                        </a:solidFill>
                        <a:latin typeface="+mn-lt"/>
                        <a:ea typeface="Times New Roman"/>
                      </a:endParaRPr>
                    </a:p>
                  </a:txBody>
                  <a:tcPr marL="17587" marR="17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b="0" dirty="0" smtClean="0">
                          <a:solidFill>
                            <a:schemeClr val="bg1"/>
                          </a:solidFill>
                          <a:latin typeface="+mn-lt"/>
                          <a:ea typeface="Times New Roman"/>
                        </a:rPr>
                        <a:t>Minor</a:t>
                      </a:r>
                      <a:endParaRPr lang="en-US" sz="2400" b="0" dirty="0">
                        <a:solidFill>
                          <a:schemeClr val="bg1"/>
                        </a:solidFill>
                        <a:latin typeface="+mn-lt"/>
                        <a:ea typeface="Times New Roman"/>
                      </a:endParaRPr>
                    </a:p>
                  </a:txBody>
                  <a:tcPr marL="17587" marR="17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b="0" dirty="0" smtClean="0">
                          <a:solidFill>
                            <a:schemeClr val="bg1"/>
                          </a:solidFill>
                          <a:latin typeface="+mn-lt"/>
                          <a:ea typeface="Times New Roman"/>
                        </a:rPr>
                        <a:t>Marginal</a:t>
                      </a:r>
                      <a:endParaRPr lang="en-US" sz="2400" b="0" dirty="0">
                        <a:solidFill>
                          <a:schemeClr val="bg1"/>
                        </a:solidFill>
                        <a:latin typeface="+mn-lt"/>
                        <a:ea typeface="Times New Roman"/>
                      </a:endParaRPr>
                    </a:p>
                  </a:txBody>
                  <a:tcPr marL="17587" marR="17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b="0" dirty="0" smtClean="0">
                          <a:solidFill>
                            <a:schemeClr val="bg1"/>
                          </a:solidFill>
                          <a:latin typeface="+mn-lt"/>
                          <a:ea typeface="Times New Roman"/>
                        </a:rPr>
                        <a:t>Critical</a:t>
                      </a:r>
                      <a:endParaRPr lang="en-US" sz="2400" b="0" dirty="0">
                        <a:solidFill>
                          <a:schemeClr val="bg1"/>
                        </a:solidFill>
                        <a:latin typeface="+mn-lt"/>
                        <a:ea typeface="Times New Roman"/>
                      </a:endParaRPr>
                    </a:p>
                  </a:txBody>
                  <a:tcPr marL="17587" marR="17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hangingPunct="0">
                        <a:spcBef>
                          <a:spcPts val="0"/>
                        </a:spcBef>
                        <a:spcAft>
                          <a:spcPts val="0"/>
                        </a:spcAft>
                      </a:pPr>
                      <a:r>
                        <a:rPr lang="en-US" sz="2400" b="0" dirty="0" smtClean="0">
                          <a:solidFill>
                            <a:schemeClr val="bg1"/>
                          </a:solidFill>
                          <a:latin typeface="+mn-lt"/>
                          <a:ea typeface="Times New Roman"/>
                        </a:rPr>
                        <a:t>Catastrophic</a:t>
                      </a:r>
                      <a:endParaRPr lang="en-US" sz="2400" b="0" dirty="0">
                        <a:solidFill>
                          <a:schemeClr val="bg1"/>
                        </a:solidFill>
                        <a:latin typeface="+mn-lt"/>
                        <a:ea typeface="Times New Roman"/>
                      </a:endParaRPr>
                    </a:p>
                  </a:txBody>
                  <a:tcPr marL="17587" marR="1758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bl>
          </a:graphicData>
        </a:graphic>
      </p:graphicFrame>
      <p:sp>
        <p:nvSpPr>
          <p:cNvPr id="6" name="Content Placeholder 2"/>
          <p:cNvSpPr>
            <a:spLocks noGrp="1"/>
          </p:cNvSpPr>
          <p:nvPr>
            <p:ph sz="half" idx="2"/>
          </p:nvPr>
        </p:nvSpPr>
        <p:spPr>
          <a:xfrm>
            <a:off x="596900" y="5623200"/>
            <a:ext cx="7848600" cy="1074738"/>
          </a:xfrm>
        </p:spPr>
        <p:txBody>
          <a:bodyPr>
            <a:normAutofit lnSpcReduction="10000"/>
          </a:bodyPr>
          <a:lstStyle/>
          <a:p>
            <a:pPr marL="0" indent="0">
              <a:buNone/>
            </a:pPr>
            <a:r>
              <a:rPr lang="en-US" dirty="0" smtClean="0"/>
              <a:t>This is an example of a mitigation risk matrix.  The grid is used to determine which failure modes to mitigate and in which order.</a:t>
            </a:r>
            <a:endParaRPr lang="en-US" dirty="0"/>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Tips</a:t>
            </a:r>
            <a:endParaRPr lang="en-US" dirty="0"/>
          </a:p>
        </p:txBody>
      </p:sp>
      <p:sp>
        <p:nvSpPr>
          <p:cNvPr id="9" name="Content Placeholder 8"/>
          <p:cNvSpPr>
            <a:spLocks noGrp="1"/>
          </p:cNvSpPr>
          <p:nvPr>
            <p:ph idx="1"/>
          </p:nvPr>
        </p:nvSpPr>
        <p:spPr/>
        <p:txBody>
          <a:bodyPr>
            <a:normAutofit/>
          </a:bodyPr>
          <a:lstStyle/>
          <a:p>
            <a:r>
              <a:rPr lang="en-US" sz="2800" dirty="0" smtClean="0"/>
              <a:t>The same template used for hardware FMEA can be used with some modifications</a:t>
            </a:r>
          </a:p>
          <a:p>
            <a:pPr lvl="1"/>
            <a:r>
              <a:rPr lang="en-US" sz="2400" dirty="0" smtClean="0"/>
              <a:t>The failure mode analysis section will reflect the 8 viewpoints</a:t>
            </a:r>
          </a:p>
          <a:p>
            <a:pPr lvl="1"/>
            <a:r>
              <a:rPr lang="en-US" sz="2400" dirty="0" smtClean="0"/>
              <a:t>You will need to use the template that is associated with the selected viewpoint</a:t>
            </a:r>
          </a:p>
          <a:p>
            <a:pPr lvl="1"/>
            <a:r>
              <a:rPr lang="en-US" sz="2400" dirty="0" smtClean="0"/>
              <a:t>Detectability has a different meaning as discussed later in this presentation</a:t>
            </a:r>
          </a:p>
          <a:p>
            <a:r>
              <a:rPr lang="en-US" sz="2800" dirty="0" smtClean="0"/>
              <a:t>The </a:t>
            </a:r>
            <a:r>
              <a:rPr lang="en-US" sz="2800" dirty="0" smtClean="0">
                <a:hlinkClick r:id="rId3"/>
              </a:rPr>
              <a:t>SFMEA toolkit </a:t>
            </a:r>
            <a:endParaRPr lang="en-US" sz="2800" dirty="0" smtClean="0"/>
          </a:p>
          <a:p>
            <a:pPr lvl="1"/>
            <a:r>
              <a:rPr lang="en-US" sz="2400" dirty="0"/>
              <a:t>H</a:t>
            </a:r>
            <a:r>
              <a:rPr lang="en-US" sz="2400" dirty="0" smtClean="0"/>
              <a:t>as all of the viewpoints and failure modes needed for the software FMEA analysis</a:t>
            </a:r>
          </a:p>
          <a:p>
            <a:pPr lvl="1"/>
            <a:r>
              <a:rPr lang="en-US" sz="2400" dirty="0" smtClean="0"/>
              <a:t>Can also be used for hardware FMEA</a:t>
            </a:r>
          </a:p>
        </p:txBody>
      </p:sp>
      <p:sp>
        <p:nvSpPr>
          <p:cNvPr id="4" name="TextBox 4"/>
          <p:cNvSpPr txBox="1">
            <a:spLocks noChangeArrowheads="1"/>
          </p:cNvSpPr>
          <p:nvPr/>
        </p:nvSpPr>
        <p:spPr bwMode="auto">
          <a:xfrm>
            <a:off x="152400" y="124155"/>
            <a:ext cx="5562600" cy="369888"/>
          </a:xfrm>
          <a:prstGeom prst="rect">
            <a:avLst/>
          </a:prstGeom>
          <a:noFill/>
          <a:ln w="9525">
            <a:noFill/>
            <a:miter lim="800000"/>
            <a:headEnd/>
            <a:tailEnd/>
          </a:ln>
        </p:spPr>
        <p:txBody>
          <a:bodyPr>
            <a:spAutoFit/>
          </a:bodyPr>
          <a:lstStyle/>
          <a:p>
            <a:r>
              <a:rPr lang="en-US" dirty="0" smtClean="0">
                <a:solidFill>
                  <a:schemeClr val="tx2"/>
                </a:solidFill>
              </a:rPr>
              <a:t>2.9 Select template and tools</a:t>
            </a:r>
            <a:endParaRPr lang="en-US" dirty="0">
              <a:solidFill>
                <a:schemeClr val="tx2"/>
              </a:solidFill>
            </a:endParaRP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704055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228600" y="539001"/>
            <a:ext cx="8763000" cy="457201"/>
          </a:xfrm>
        </p:spPr>
        <p:txBody>
          <a:bodyPr>
            <a:normAutofit fontScale="90000"/>
          </a:bodyPr>
          <a:lstStyle/>
          <a:p>
            <a:pPr eaLnBrk="1" hangingPunct="1"/>
            <a:r>
              <a:rPr lang="en-US" sz="3600" dirty="0" smtClean="0"/>
              <a:t>Agenda for this section</a:t>
            </a:r>
          </a:p>
        </p:txBody>
      </p:sp>
      <p:sp>
        <p:nvSpPr>
          <p:cNvPr id="41" name="Content Placeholder 2"/>
          <p:cNvSpPr>
            <a:spLocks noGrp="1"/>
          </p:cNvSpPr>
          <p:nvPr>
            <p:ph idx="1"/>
          </p:nvPr>
        </p:nvSpPr>
        <p:spPr>
          <a:xfrm>
            <a:off x="381000" y="1048589"/>
            <a:ext cx="8058150" cy="5029200"/>
          </a:xfrm>
        </p:spPr>
        <p:txBody>
          <a:bodyPr>
            <a:normAutofit/>
          </a:bodyPr>
          <a:lstStyle/>
          <a:p>
            <a:r>
              <a:rPr lang="en-US" sz="2800" dirty="0" smtClean="0"/>
              <a:t>Analyze failure modes and root causes that apply to each of these viewpoints</a:t>
            </a:r>
          </a:p>
          <a:p>
            <a:pPr lvl="1"/>
            <a:r>
              <a:rPr lang="en-US" sz="2400" dirty="0" smtClean="0"/>
              <a:t>Functional</a:t>
            </a:r>
          </a:p>
          <a:p>
            <a:pPr lvl="1"/>
            <a:r>
              <a:rPr lang="en-US" sz="2400" dirty="0" smtClean="0"/>
              <a:t>Interface</a:t>
            </a:r>
          </a:p>
          <a:p>
            <a:pPr lvl="1"/>
            <a:r>
              <a:rPr lang="en-US" sz="2400" dirty="0" smtClean="0"/>
              <a:t>Detailed design</a:t>
            </a:r>
          </a:p>
          <a:p>
            <a:pPr lvl="1"/>
            <a:r>
              <a:rPr lang="en-US" sz="2400" dirty="0" smtClean="0"/>
              <a:t>Maintenance</a:t>
            </a:r>
          </a:p>
          <a:p>
            <a:pPr lvl="1"/>
            <a:r>
              <a:rPr lang="en-US" sz="2400" dirty="0" smtClean="0"/>
              <a:t>Usability</a:t>
            </a:r>
          </a:p>
          <a:p>
            <a:pPr lvl="1"/>
            <a:r>
              <a:rPr lang="en-US" sz="2400" dirty="0" smtClean="0"/>
              <a:t>Serviceability</a:t>
            </a:r>
          </a:p>
          <a:p>
            <a:pPr lvl="1"/>
            <a:r>
              <a:rPr lang="en-US" sz="2400" dirty="0" smtClean="0"/>
              <a:t>Vulnerability</a:t>
            </a:r>
          </a:p>
          <a:p>
            <a:pPr lvl="1"/>
            <a:r>
              <a:rPr lang="en-US" sz="2400" dirty="0" smtClean="0"/>
              <a:t>Production</a:t>
            </a:r>
            <a:endParaRPr lang="en-US" sz="2400" dirty="0"/>
          </a:p>
        </p:txBody>
      </p:sp>
      <p:sp>
        <p:nvSpPr>
          <p:cNvPr id="34820" name="TextBox 5"/>
          <p:cNvSpPr txBox="1">
            <a:spLocks noChangeArrowheads="1"/>
          </p:cNvSpPr>
          <p:nvPr/>
        </p:nvSpPr>
        <p:spPr bwMode="auto">
          <a:xfrm>
            <a:off x="228600" y="150619"/>
            <a:ext cx="6096000" cy="369332"/>
          </a:xfrm>
          <a:prstGeom prst="rect">
            <a:avLst/>
          </a:prstGeom>
          <a:noFill/>
          <a:ln w="9525">
            <a:noFill/>
            <a:miter lim="800000"/>
            <a:headEnd/>
            <a:tailEnd/>
          </a:ln>
        </p:spPr>
        <p:txBody>
          <a:bodyPr wrap="square">
            <a:spAutoFit/>
          </a:bodyPr>
          <a:lstStyle/>
          <a:p>
            <a:r>
              <a:rPr lang="en-US" dirty="0">
                <a:solidFill>
                  <a:schemeClr val="tx2"/>
                </a:solidFill>
              </a:rPr>
              <a:t>3.0 </a:t>
            </a:r>
            <a:r>
              <a:rPr lang="en-US" dirty="0" smtClean="0">
                <a:solidFill>
                  <a:schemeClr val="tx2"/>
                </a:solidFill>
              </a:rPr>
              <a:t>Analyze software failure modes and root causes</a:t>
            </a:r>
            <a:endParaRPr lang="en-US" dirty="0">
              <a:solidFill>
                <a:schemeClr val="tx2"/>
              </a:solidFill>
            </a:endParaRPr>
          </a:p>
        </p:txBody>
      </p:sp>
      <p:sp>
        <p:nvSpPr>
          <p:cNvPr id="3" name="Oval Callout 2"/>
          <p:cNvSpPr/>
          <p:nvPr/>
        </p:nvSpPr>
        <p:spPr>
          <a:xfrm>
            <a:off x="4114800" y="2209799"/>
            <a:ext cx="4114800" cy="3867989"/>
          </a:xfrm>
          <a:prstGeom prst="wedgeEllipseCallout">
            <a:avLst>
              <a:gd name="adj1" fmla="val -66453"/>
              <a:gd name="adj2" fmla="val -433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There are several hundred possible failure mode/root cause pairs.  Just a few will be shown in this presentation for the functional viewpoint.  The others are covered in the </a:t>
            </a:r>
            <a:r>
              <a:rPr lang="en-US" sz="2000" dirty="0" smtClean="0">
                <a:hlinkClick r:id="rId3"/>
              </a:rPr>
              <a:t>SFMEA training class </a:t>
            </a:r>
            <a:r>
              <a:rPr lang="en-US" sz="2000" dirty="0" smtClean="0"/>
              <a:t>and in the </a:t>
            </a:r>
            <a:r>
              <a:rPr lang="en-US" sz="2000" dirty="0" smtClean="0">
                <a:hlinkClick r:id="rId4"/>
              </a:rPr>
              <a:t>SFMEA toolkit</a:t>
            </a:r>
            <a:r>
              <a:rPr lang="en-US" sz="2000" dirty="0" smtClean="0"/>
              <a:t>.</a:t>
            </a:r>
            <a:endParaRPr lang="en-US" sz="2000" dirty="0"/>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52400" y="614420"/>
            <a:ext cx="7886700" cy="762001"/>
          </a:xfrm>
        </p:spPr>
        <p:txBody>
          <a:bodyPr>
            <a:normAutofit/>
          </a:bodyPr>
          <a:lstStyle/>
          <a:p>
            <a:pPr eaLnBrk="1" hangingPunct="1"/>
            <a:r>
              <a:rPr lang="en-US" sz="3600" dirty="0" smtClean="0"/>
              <a:t>Functional SFMEA Analysis</a:t>
            </a:r>
          </a:p>
        </p:txBody>
      </p:sp>
      <p:sp>
        <p:nvSpPr>
          <p:cNvPr id="43011" name="Rectangle 3"/>
          <p:cNvSpPr>
            <a:spLocks noGrp="1" noChangeArrowheads="1"/>
          </p:cNvSpPr>
          <p:nvPr>
            <p:ph idx="1"/>
          </p:nvPr>
        </p:nvSpPr>
        <p:spPr>
          <a:xfrm>
            <a:off x="170329" y="1376421"/>
            <a:ext cx="8458200" cy="5029200"/>
          </a:xfrm>
        </p:spPr>
        <p:txBody>
          <a:bodyPr>
            <a:normAutofit/>
          </a:bodyPr>
          <a:lstStyle/>
          <a:p>
            <a:pPr eaLnBrk="1" hangingPunct="1">
              <a:lnSpc>
                <a:spcPct val="90000"/>
              </a:lnSpc>
            </a:pPr>
            <a:r>
              <a:rPr lang="en-US" sz="2800" dirty="0"/>
              <a:t>A</a:t>
            </a:r>
            <a:r>
              <a:rPr lang="en-US" sz="2800" dirty="0" smtClean="0"/>
              <a:t>nalyze each of the applicable (in scope) software requirements statements for what can go wrong regarding that requirement</a:t>
            </a:r>
          </a:p>
          <a:p>
            <a:pPr eaLnBrk="1" hangingPunct="1">
              <a:lnSpc>
                <a:spcPct val="90000"/>
              </a:lnSpc>
            </a:pPr>
            <a:r>
              <a:rPr lang="en-US" sz="2800" dirty="0" smtClean="0"/>
              <a:t>Some typical failure modes include but aren’t limited to</a:t>
            </a:r>
          </a:p>
          <a:p>
            <a:pPr lvl="1" eaLnBrk="1" hangingPunct="1">
              <a:lnSpc>
                <a:spcPct val="90000"/>
              </a:lnSpc>
            </a:pPr>
            <a:r>
              <a:rPr lang="en-US" sz="2800" dirty="0" smtClean="0"/>
              <a:t>Faulty functionality</a:t>
            </a:r>
          </a:p>
          <a:p>
            <a:pPr lvl="1" eaLnBrk="1" hangingPunct="1">
              <a:lnSpc>
                <a:spcPct val="90000"/>
              </a:lnSpc>
            </a:pPr>
            <a:r>
              <a:rPr lang="en-US" sz="2800" dirty="0" smtClean="0"/>
              <a:t>Faulty timing</a:t>
            </a:r>
          </a:p>
          <a:p>
            <a:pPr lvl="1" eaLnBrk="1" hangingPunct="1">
              <a:lnSpc>
                <a:spcPct val="90000"/>
              </a:lnSpc>
            </a:pPr>
            <a:r>
              <a:rPr lang="en-US" sz="2800" dirty="0" smtClean="0"/>
              <a:t>Faulty sequencing</a:t>
            </a:r>
          </a:p>
          <a:p>
            <a:pPr lvl="1" eaLnBrk="1" hangingPunct="1">
              <a:lnSpc>
                <a:spcPct val="90000"/>
              </a:lnSpc>
            </a:pPr>
            <a:r>
              <a:rPr lang="en-US" sz="2800" dirty="0" smtClean="0"/>
              <a:t>Faulty data</a:t>
            </a:r>
          </a:p>
          <a:p>
            <a:pPr lvl="1" eaLnBrk="1" hangingPunct="1">
              <a:lnSpc>
                <a:spcPct val="90000"/>
              </a:lnSpc>
            </a:pPr>
            <a:r>
              <a:rPr lang="en-US" sz="2800" dirty="0" smtClean="0"/>
              <a:t>Faulty error handling</a:t>
            </a:r>
          </a:p>
          <a:p>
            <a:pPr eaLnBrk="1" hangingPunct="1">
              <a:lnSpc>
                <a:spcPct val="90000"/>
              </a:lnSpc>
            </a:pPr>
            <a:endParaRPr lang="en-US" sz="2800" dirty="0" smtClean="0"/>
          </a:p>
        </p:txBody>
      </p:sp>
      <p:sp>
        <p:nvSpPr>
          <p:cNvPr id="43012" name="TextBox 5"/>
          <p:cNvSpPr txBox="1">
            <a:spLocks noChangeArrowheads="1"/>
          </p:cNvSpPr>
          <p:nvPr/>
        </p:nvSpPr>
        <p:spPr bwMode="auto">
          <a:xfrm>
            <a:off x="152400" y="231425"/>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85177" y="609158"/>
            <a:ext cx="7886700" cy="991043"/>
          </a:xfrm>
        </p:spPr>
        <p:txBody>
          <a:bodyPr>
            <a:noAutofit/>
          </a:bodyPr>
          <a:lstStyle/>
          <a:p>
            <a:pPr lvl="0"/>
            <a:r>
              <a:rPr lang="en-US" sz="2400" dirty="0" smtClean="0"/>
              <a:t>Brainstorm </a:t>
            </a:r>
            <a:r>
              <a:rPr lang="en-US" sz="2400" dirty="0"/>
              <a:t>the possible root causes for each applicable failure mode </a:t>
            </a:r>
            <a:r>
              <a:rPr lang="en-US" sz="2400" dirty="0" smtClean="0"/>
              <a:t>for each SRS statement</a:t>
            </a:r>
            <a:r>
              <a:rPr lang="en-US" sz="2400" dirty="0"/>
              <a:t/>
            </a:r>
            <a:br>
              <a:rPr lang="en-US" sz="2400" dirty="0"/>
            </a:br>
            <a:endParaRPr lang="en-US" sz="2400" dirty="0" smtClean="0"/>
          </a:p>
        </p:txBody>
      </p:sp>
      <p:sp>
        <p:nvSpPr>
          <p:cNvPr id="44036" name="TextBox 5"/>
          <p:cNvSpPr txBox="1">
            <a:spLocks noChangeArrowheads="1"/>
          </p:cNvSpPr>
          <p:nvPr/>
        </p:nvSpPr>
        <p:spPr bwMode="auto">
          <a:xfrm>
            <a:off x="152400" y="239270"/>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graphicFrame>
        <p:nvGraphicFramePr>
          <p:cNvPr id="5" name="Table 4"/>
          <p:cNvGraphicFramePr>
            <a:graphicFrameLocks noGrp="1"/>
          </p:cNvGraphicFramePr>
          <p:nvPr>
            <p:extLst>
              <p:ext uri="{D42A27DB-BD31-4B8C-83A1-F6EECF244321}">
                <p14:modId xmlns:p14="http://schemas.microsoft.com/office/powerpoint/2010/main" val="1173692379"/>
              </p:ext>
            </p:extLst>
          </p:nvPr>
        </p:nvGraphicFramePr>
        <p:xfrm>
          <a:off x="208989" y="1447800"/>
          <a:ext cx="8706412" cy="5017235"/>
        </p:xfrm>
        <a:graphic>
          <a:graphicData uri="http://schemas.openxmlformats.org/drawingml/2006/table">
            <a:tbl>
              <a:tblPr firstRow="1" bandRow="1">
                <a:tableStyleId>{5C22544A-7EE6-4342-B048-85BDC9FD1C3A}</a:tableStyleId>
              </a:tblPr>
              <a:tblGrid>
                <a:gridCol w="1378159"/>
                <a:gridCol w="1537052"/>
                <a:gridCol w="1143000"/>
                <a:gridCol w="1447800"/>
                <a:gridCol w="1600200"/>
                <a:gridCol w="1600201"/>
              </a:tblGrid>
              <a:tr h="257237">
                <a:tc gridSpan="6">
                  <a:txBody>
                    <a:bodyPr/>
                    <a:lstStyle/>
                    <a:p>
                      <a:pPr marL="0" marR="0" algn="ctr" hangingPunct="0">
                        <a:spcBef>
                          <a:spcPts val="0"/>
                        </a:spcBef>
                        <a:spcAft>
                          <a:spcPts val="0"/>
                        </a:spcAft>
                      </a:pPr>
                      <a:r>
                        <a:rPr lang="en-US" sz="1800" b="1" dirty="0">
                          <a:latin typeface="+mn-lt"/>
                          <a:ea typeface="Times New Roman"/>
                        </a:rPr>
                        <a:t>Failure mode and root cause Section</a:t>
                      </a:r>
                      <a:endParaRPr lang="en-US" sz="1800" dirty="0">
                        <a:latin typeface="+mn-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620495">
                <a:tc>
                  <a:txBody>
                    <a:bodyPr/>
                    <a:lstStyle/>
                    <a:p>
                      <a:pPr marL="0" marR="0" hangingPunct="0">
                        <a:spcBef>
                          <a:spcPts val="0"/>
                        </a:spcBef>
                        <a:spcAft>
                          <a:spcPts val="0"/>
                        </a:spcAft>
                      </a:pPr>
                      <a:r>
                        <a:rPr lang="en-US" sz="1800" dirty="0">
                          <a:latin typeface="+mn-lt"/>
                          <a:ea typeface="Times New Roman"/>
                        </a:rPr>
                        <a:t>SRS </a:t>
                      </a:r>
                      <a:r>
                        <a:rPr lang="en-US" sz="1800" dirty="0" smtClean="0">
                          <a:latin typeface="+mn-lt"/>
                          <a:ea typeface="Times New Roman"/>
                        </a:rPr>
                        <a:t>number</a:t>
                      </a:r>
                      <a:endParaRPr lang="en-US" sz="1800" dirty="0">
                        <a:latin typeface="+mn-lt"/>
                        <a:ea typeface="Times New Roman"/>
                      </a:endParaRPr>
                    </a:p>
                  </a:txBody>
                  <a:tcPr marL="9525" marR="9525" marT="9525" marB="0"/>
                </a:tc>
                <a:tc>
                  <a:txBody>
                    <a:bodyPr/>
                    <a:lstStyle/>
                    <a:p>
                      <a:pPr marL="0" marR="0" hangingPunct="0">
                        <a:spcBef>
                          <a:spcPts val="0"/>
                        </a:spcBef>
                        <a:spcAft>
                          <a:spcPts val="0"/>
                        </a:spcAft>
                      </a:pPr>
                      <a:r>
                        <a:rPr lang="en-US" sz="1800" dirty="0" smtClean="0">
                          <a:latin typeface="+mn-lt"/>
                          <a:ea typeface="Times New Roman"/>
                        </a:rPr>
                        <a:t>Related SRS number</a:t>
                      </a:r>
                      <a:endParaRPr lang="en-US" sz="1800" dirty="0">
                        <a:latin typeface="+mn-lt"/>
                        <a:ea typeface="Times New Roman"/>
                      </a:endParaRPr>
                    </a:p>
                  </a:txBody>
                  <a:tcPr marL="9525" marR="9525" marT="9525" marB="0"/>
                </a:tc>
                <a:tc>
                  <a:txBody>
                    <a:bodyPr/>
                    <a:lstStyle/>
                    <a:p>
                      <a:pPr marL="0" marR="0" hangingPunct="0">
                        <a:spcBef>
                          <a:spcPts val="0"/>
                        </a:spcBef>
                        <a:spcAft>
                          <a:spcPts val="0"/>
                        </a:spcAft>
                      </a:pPr>
                      <a:r>
                        <a:rPr lang="en-US" sz="1800" dirty="0" smtClean="0">
                          <a:latin typeface="+mn-lt"/>
                          <a:ea typeface="Times New Roman"/>
                        </a:rPr>
                        <a:t>SRS Statement</a:t>
                      </a:r>
                      <a:endParaRPr lang="en-US" sz="1800" dirty="0">
                        <a:latin typeface="+mn-lt"/>
                        <a:ea typeface="Times New Roman"/>
                      </a:endParaRPr>
                    </a:p>
                  </a:txBody>
                  <a:tcPr marL="0" marR="0" marT="0" marB="0"/>
                </a:tc>
                <a:tc>
                  <a:txBody>
                    <a:bodyPr/>
                    <a:lstStyle/>
                    <a:p>
                      <a:pPr marL="0" marR="0" hangingPunct="0">
                        <a:spcBef>
                          <a:spcPts val="0"/>
                        </a:spcBef>
                        <a:spcAft>
                          <a:spcPts val="0"/>
                        </a:spcAft>
                      </a:pPr>
                      <a:r>
                        <a:rPr lang="en-US" sz="1800" dirty="0">
                          <a:latin typeface="+mn-lt"/>
                          <a:ea typeface="Times New Roman"/>
                        </a:rPr>
                        <a:t>Failure mode</a:t>
                      </a:r>
                    </a:p>
                  </a:txBody>
                  <a:tcPr marL="9525" marR="9525" marT="9525" marB="0"/>
                </a:tc>
                <a:tc>
                  <a:txBody>
                    <a:bodyPr/>
                    <a:lstStyle/>
                    <a:p>
                      <a:pPr marL="0" marR="0" hangingPunct="0">
                        <a:spcBef>
                          <a:spcPts val="0"/>
                        </a:spcBef>
                        <a:spcAft>
                          <a:spcPts val="0"/>
                        </a:spcAft>
                      </a:pPr>
                      <a:r>
                        <a:rPr lang="en-US" sz="1800" dirty="0" smtClean="0">
                          <a:latin typeface="+mn-lt"/>
                          <a:ea typeface="Times New Roman"/>
                        </a:rPr>
                        <a:t>Potential Root cause</a:t>
                      </a:r>
                      <a:endParaRPr lang="en-US" sz="1800" dirty="0">
                        <a:latin typeface="+mn-lt"/>
                        <a:ea typeface="Times New Roman"/>
                      </a:endParaRPr>
                    </a:p>
                  </a:txBody>
                  <a:tcPr marL="9525" marR="9525" marT="9525" marB="0"/>
                </a:tc>
                <a:tc>
                  <a:txBody>
                    <a:bodyPr/>
                    <a:lstStyle/>
                    <a:p>
                      <a:pPr marL="0" marR="0" hangingPunct="0">
                        <a:spcBef>
                          <a:spcPts val="0"/>
                        </a:spcBef>
                        <a:spcAft>
                          <a:spcPts val="0"/>
                        </a:spcAft>
                      </a:pPr>
                      <a:r>
                        <a:rPr lang="en-US" sz="1800" dirty="0" smtClean="0">
                          <a:latin typeface="+mn-lt"/>
                          <a:ea typeface="Times New Roman"/>
                        </a:rPr>
                        <a:t>Detailed root cause</a:t>
                      </a:r>
                      <a:endParaRPr lang="en-US" sz="1800" dirty="0">
                        <a:latin typeface="+mn-lt"/>
                        <a:ea typeface="Times New Roman"/>
                      </a:endParaRPr>
                    </a:p>
                  </a:txBody>
                  <a:tcPr marL="9525" marR="9525" marT="9525" marB="0"/>
                </a:tc>
              </a:tr>
              <a:tr h="551180">
                <a:tc rowSpan="6">
                  <a:txBody>
                    <a:bodyPr/>
                    <a:lstStyle/>
                    <a:p>
                      <a:pPr marL="0" marR="0" hangingPunct="0">
                        <a:spcBef>
                          <a:spcPts val="0"/>
                        </a:spcBef>
                        <a:spcAft>
                          <a:spcPts val="0"/>
                        </a:spcAft>
                      </a:pPr>
                      <a:r>
                        <a:rPr lang="en-US" sz="1800" dirty="0">
                          <a:latin typeface="+mn-lt"/>
                          <a:ea typeface="Times New Roman"/>
                        </a:rPr>
                        <a:t>A reference ID as per the SRS document</a:t>
                      </a:r>
                      <a:endParaRPr lang="en-US" sz="2000" dirty="0">
                        <a:latin typeface="+mn-lt"/>
                        <a:ea typeface="Times New Roman"/>
                      </a:endParaRPr>
                    </a:p>
                  </a:txBody>
                  <a:tcPr/>
                </a:tc>
                <a:tc rowSpan="6">
                  <a:txBody>
                    <a:bodyPr/>
                    <a:lstStyle/>
                    <a:p>
                      <a:r>
                        <a:rPr lang="en-US" sz="1800" dirty="0" smtClean="0"/>
                        <a:t>List any related requirements by number and text or “none”</a:t>
                      </a:r>
                      <a:endParaRPr lang="en-US" sz="1800" dirty="0"/>
                    </a:p>
                  </a:txBody>
                  <a:tcPr/>
                </a:tc>
                <a:tc rowSpan="6">
                  <a:txBody>
                    <a:bodyPr/>
                    <a:lstStyle/>
                    <a:p>
                      <a:r>
                        <a:rPr lang="en-US" sz="1800" dirty="0" smtClean="0"/>
                        <a:t>Place the statement here</a:t>
                      </a:r>
                      <a:endParaRPr lang="en-US" sz="1800" dirty="0"/>
                    </a:p>
                  </a:txBody>
                  <a:tcPr marL="0" marR="0" marT="0" marB="0"/>
                </a:tc>
                <a:tc>
                  <a:txBody>
                    <a:bodyPr/>
                    <a:lstStyle/>
                    <a:p>
                      <a:pPr marL="0" marR="0" hangingPunct="0">
                        <a:spcBef>
                          <a:spcPts val="0"/>
                        </a:spcBef>
                        <a:spcAft>
                          <a:spcPts val="0"/>
                        </a:spcAft>
                      </a:pPr>
                      <a:r>
                        <a:rPr lang="en-US" sz="1800" dirty="0">
                          <a:latin typeface="+mn-lt"/>
                          <a:ea typeface="Times New Roman"/>
                        </a:rPr>
                        <a:t>Faulty functionality*</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List each</a:t>
                      </a:r>
                      <a:r>
                        <a:rPr lang="en-US" sz="1800" baseline="0" dirty="0" smtClean="0">
                          <a:latin typeface="+mn-lt"/>
                          <a:ea typeface="Times New Roman"/>
                        </a:rPr>
                        <a:t> root cause (see </a:t>
                      </a:r>
                      <a:r>
                        <a:rPr lang="en-US" sz="1800" baseline="0" dirty="0" smtClean="0">
                          <a:solidFill>
                            <a:schemeClr val="bg1"/>
                          </a:solidFill>
                          <a:latin typeface="+mn-lt"/>
                          <a:ea typeface="Times New Roman"/>
                          <a:hlinkClick r:id="rId3"/>
                        </a:rPr>
                        <a:t>SFMEA toolkit</a:t>
                      </a:r>
                      <a:r>
                        <a:rPr lang="en-US" sz="1800" baseline="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The root cause</a:t>
                      </a:r>
                      <a:r>
                        <a:rPr lang="en-US" sz="1800" baseline="0" dirty="0" smtClean="0">
                          <a:latin typeface="+mn-lt"/>
                          <a:ea typeface="Times New Roman"/>
                        </a:rPr>
                        <a:t> as it applies to your system</a:t>
                      </a:r>
                      <a:endParaRPr lang="en-US" sz="1800" dirty="0">
                        <a:latin typeface="+mn-lt"/>
                        <a:ea typeface="Times New Roman"/>
                      </a:endParaRPr>
                    </a:p>
                  </a:txBody>
                  <a:tcPr/>
                </a:tc>
              </a:tr>
              <a:tr h="55118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timing</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r>
              <a:tr h="55118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sequencing</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r>
              <a:tr h="55118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data</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r>
              <a:tr h="4699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hangingPunct="0">
                        <a:spcBef>
                          <a:spcPts val="0"/>
                        </a:spcBef>
                        <a:spcAft>
                          <a:spcPts val="0"/>
                        </a:spcAft>
                      </a:pPr>
                      <a:r>
                        <a:rPr lang="en-US" sz="1800" dirty="0">
                          <a:latin typeface="+mn-lt"/>
                          <a:ea typeface="Times New Roman"/>
                        </a:rPr>
                        <a:t>Faulty error handling*</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r>
              <a:tr h="55118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hangingPunct="0">
                        <a:spcBef>
                          <a:spcPts val="0"/>
                        </a:spcBef>
                        <a:spcAft>
                          <a:spcPts val="0"/>
                        </a:spcAft>
                      </a:pPr>
                      <a:r>
                        <a:rPr lang="en-US" sz="1800" dirty="0" smtClean="0">
                          <a:latin typeface="+mn-lt"/>
                          <a:ea typeface="Times New Roman"/>
                        </a:rPr>
                        <a:t>Others</a:t>
                      </a:r>
                      <a:endParaRPr lang="en-US" sz="18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a:t>
                      </a:r>
                      <a:endParaRPr lang="en-US" sz="2000" dirty="0">
                        <a:latin typeface="+mn-lt"/>
                        <a:ea typeface="Times New Roman"/>
                      </a:endParaRPr>
                    </a:p>
                  </a:txBody>
                  <a:tcPr/>
                </a:tc>
              </a:tr>
            </a:tbl>
          </a:graphicData>
        </a:graphic>
      </p:graphicFrame>
      <p:sp>
        <p:nvSpPr>
          <p:cNvPr id="2" name="TextBox 1"/>
          <p:cNvSpPr txBox="1"/>
          <p:nvPr/>
        </p:nvSpPr>
        <p:spPr>
          <a:xfrm>
            <a:off x="5167259" y="1125599"/>
            <a:ext cx="3748142" cy="307777"/>
          </a:xfrm>
          <a:prstGeom prst="rect">
            <a:avLst/>
          </a:prstGeom>
          <a:noFill/>
        </p:spPr>
        <p:txBody>
          <a:bodyPr wrap="none" rtlCol="0">
            <a:spAutoFit/>
          </a:bodyPr>
          <a:lstStyle/>
          <a:p>
            <a:r>
              <a:rPr lang="en-US" sz="1400" b="0" dirty="0" smtClean="0"/>
              <a:t>*Applies to virtually all software requirements</a:t>
            </a:r>
            <a:endParaRPr lang="en-US" sz="1400" b="0" dirty="0"/>
          </a:p>
        </p:txBody>
      </p:sp>
      <p:sp>
        <p:nvSpPr>
          <p:cNvPr id="6" name="Rectangle 5"/>
          <p:cNvSpPr/>
          <p:nvPr/>
        </p:nvSpPr>
        <p:spPr>
          <a:xfrm>
            <a:off x="410095" y="6557368"/>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257692055"/>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98488"/>
            <a:ext cx="7886700" cy="762001"/>
          </a:xfrm>
        </p:spPr>
        <p:txBody>
          <a:bodyPr>
            <a:normAutofit/>
          </a:bodyPr>
          <a:lstStyle/>
          <a:p>
            <a:r>
              <a:rPr lang="en-US" dirty="0" smtClean="0"/>
              <a:t>Example of faulty functionality from history</a:t>
            </a:r>
            <a:endParaRPr lang="en-US" dirty="0"/>
          </a:p>
        </p:txBody>
      </p:sp>
      <p:sp>
        <p:nvSpPr>
          <p:cNvPr id="3" name="Content Placeholder 2"/>
          <p:cNvSpPr>
            <a:spLocks noGrp="1"/>
          </p:cNvSpPr>
          <p:nvPr>
            <p:ph idx="1"/>
          </p:nvPr>
        </p:nvSpPr>
        <p:spPr>
          <a:xfrm>
            <a:off x="2286000" y="1300163"/>
            <a:ext cx="6477000" cy="681037"/>
          </a:xfrm>
        </p:spPr>
        <p:txBody>
          <a:bodyPr>
            <a:noAutofit/>
          </a:bodyPr>
          <a:lstStyle/>
          <a:p>
            <a:pPr marL="0" indent="0">
              <a:buNone/>
            </a:pPr>
            <a:r>
              <a:rPr lang="en-US" sz="2000" dirty="0"/>
              <a:t>Satellite is lost at a cost of $186 million</a:t>
            </a:r>
            <a:r>
              <a:rPr lang="en-US" sz="2000" dirty="0" smtClean="0"/>
              <a:t>.</a:t>
            </a:r>
          </a:p>
          <a:p>
            <a:pPr marL="0" indent="0">
              <a:buNone/>
            </a:pPr>
            <a:endParaRPr lang="en-US" sz="2000" dirty="0"/>
          </a:p>
          <a:p>
            <a:pPr marL="0" indent="0">
              <a:buNone/>
            </a:pPr>
            <a:r>
              <a:rPr lang="en-US" sz="2000" dirty="0"/>
              <a:t>Engine continues to operate until fuel is </a:t>
            </a:r>
            <a:r>
              <a:rPr lang="en-US" sz="2000" dirty="0" smtClean="0"/>
              <a:t>consumed</a:t>
            </a:r>
          </a:p>
          <a:p>
            <a:pPr marL="0" indent="0">
              <a:buNone/>
            </a:pPr>
            <a:endParaRPr lang="en-US" sz="2000" dirty="0" smtClean="0"/>
          </a:p>
          <a:p>
            <a:pPr marL="0" indent="0">
              <a:buNone/>
            </a:pPr>
            <a:r>
              <a:rPr lang="en-US" sz="2000" dirty="0" smtClean="0"/>
              <a:t>First </a:t>
            </a:r>
            <a:r>
              <a:rPr lang="en-US" sz="2000" dirty="0"/>
              <a:t>stage of launch on 10/8/05 is successful.  Second stage stops performing when required command to cut off main engine doesn’t occur.</a:t>
            </a:r>
          </a:p>
          <a:p>
            <a:pPr marL="0" indent="0">
              <a:buNone/>
            </a:pPr>
            <a:endParaRPr lang="en-US" sz="2000" dirty="0"/>
          </a:p>
          <a:p>
            <a:pPr marL="0" indent="0">
              <a:buNone/>
            </a:pPr>
            <a:r>
              <a:rPr lang="en-US" sz="2000" dirty="0" smtClean="0"/>
              <a:t>Defect: Flight control system missing a command from the onboard flight control system to the main engine</a:t>
            </a:r>
          </a:p>
        </p:txBody>
      </p:sp>
      <p:sp>
        <p:nvSpPr>
          <p:cNvPr id="4" name="TextBox 5"/>
          <p:cNvSpPr txBox="1">
            <a:spLocks noChangeArrowheads="1"/>
          </p:cNvSpPr>
          <p:nvPr/>
        </p:nvSpPr>
        <p:spPr bwMode="auto">
          <a:xfrm>
            <a:off x="152400" y="228600"/>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295401"/>
            <a:ext cx="1752600" cy="4191000"/>
          </a:xfrm>
          <a:prstGeom prst="rect">
            <a:avLst/>
          </a:prstGeom>
        </p:spPr>
      </p:pic>
      <p:sp>
        <p:nvSpPr>
          <p:cNvPr id="7" name="Rectangle 6"/>
          <p:cNvSpPr/>
          <p:nvPr/>
        </p:nvSpPr>
        <p:spPr>
          <a:xfrm>
            <a:off x="490537" y="5486401"/>
            <a:ext cx="1457325" cy="1200329"/>
          </a:xfrm>
          <a:prstGeom prst="rect">
            <a:avLst/>
          </a:prstGeom>
        </p:spPr>
        <p:txBody>
          <a:bodyPr wrap="square">
            <a:spAutoFit/>
          </a:bodyPr>
          <a:lstStyle/>
          <a:p>
            <a:pPr marL="0" indent="0">
              <a:buNone/>
            </a:pPr>
            <a:r>
              <a:rPr lang="en-US" dirty="0"/>
              <a:t>European Space Agency CryoSat-1 </a:t>
            </a:r>
          </a:p>
        </p:txBody>
      </p:sp>
      <p:sp>
        <p:nvSpPr>
          <p:cNvPr id="8" name="Down Arrow 7"/>
          <p:cNvSpPr/>
          <p:nvPr/>
        </p:nvSpPr>
        <p:spPr>
          <a:xfrm rot="10800000">
            <a:off x="4348160" y="1651393"/>
            <a:ext cx="914400" cy="413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own Arrow 8"/>
          <p:cNvSpPr/>
          <p:nvPr/>
        </p:nvSpPr>
        <p:spPr>
          <a:xfrm rot="10800000">
            <a:off x="4352925" y="2385228"/>
            <a:ext cx="914400" cy="413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own Arrow 9"/>
          <p:cNvSpPr/>
          <p:nvPr/>
        </p:nvSpPr>
        <p:spPr>
          <a:xfrm rot="10800000">
            <a:off x="4352925" y="3641332"/>
            <a:ext cx="914400" cy="413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2286000" y="4851798"/>
            <a:ext cx="6477000" cy="1815882"/>
          </a:xfrm>
          <a:prstGeom prst="rect">
            <a:avLst/>
          </a:prstGeom>
        </p:spPr>
        <p:txBody>
          <a:bodyPr wrap="square">
            <a:spAutoFit/>
          </a:bodyPr>
          <a:lstStyle/>
          <a:p>
            <a:r>
              <a:rPr lang="en-GB" sz="1600" b="0" dirty="0"/>
              <a:t>It’s unclear why </a:t>
            </a:r>
            <a:r>
              <a:rPr lang="en-GB" sz="1600" b="0" dirty="0" smtClean="0"/>
              <a:t>simulator </a:t>
            </a:r>
            <a:r>
              <a:rPr lang="en-GB" sz="1600" b="0" dirty="0"/>
              <a:t>used for testing did not uncover this failure mode.  It’s possible that the simulator had the very same fault or that the software testers simply overlooked this fault.  </a:t>
            </a:r>
          </a:p>
          <a:p>
            <a:r>
              <a:rPr lang="en-GB" sz="1600" b="0" dirty="0"/>
              <a:t>In any case, a “missing” command would certainly be visible during a bottom up review of the requirements, detailed design or code but only if the software engineers are looking at these product documents through the failure space.  </a:t>
            </a:r>
            <a:endParaRPr lang="en-US" sz="1600" b="0" dirty="0"/>
          </a:p>
        </p:txBody>
      </p:sp>
      <p:sp>
        <p:nvSpPr>
          <p:cNvPr id="12" name="Rectangle 11"/>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1780416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473055"/>
            <a:ext cx="7886700" cy="496076"/>
          </a:xfrm>
        </p:spPr>
        <p:txBody>
          <a:bodyPr>
            <a:normAutofit fontScale="90000"/>
          </a:bodyPr>
          <a:lstStyle/>
          <a:p>
            <a:r>
              <a:rPr lang="en-US" dirty="0" smtClean="0"/>
              <a:t>Example of timing related failure from history</a:t>
            </a:r>
            <a:endParaRPr lang="en-US" dirty="0"/>
          </a:p>
        </p:txBody>
      </p:sp>
      <p:sp>
        <p:nvSpPr>
          <p:cNvPr id="3" name="Content Placeholder 2"/>
          <p:cNvSpPr>
            <a:spLocks noGrp="1"/>
          </p:cNvSpPr>
          <p:nvPr>
            <p:ph idx="1"/>
          </p:nvPr>
        </p:nvSpPr>
        <p:spPr>
          <a:xfrm>
            <a:off x="127289" y="4435916"/>
            <a:ext cx="8763000" cy="1740227"/>
          </a:xfrm>
        </p:spPr>
        <p:txBody>
          <a:bodyPr>
            <a:noAutofit/>
          </a:bodyPr>
          <a:lstStyle/>
          <a:p>
            <a:r>
              <a:rPr lang="en-US" sz="1800" dirty="0" smtClean="0"/>
              <a:t>Therac-25 </a:t>
            </a:r>
            <a:r>
              <a:rPr lang="en-US" sz="1800" dirty="0"/>
              <a:t>radiation therapy machine had two modes of operation. </a:t>
            </a:r>
            <a:r>
              <a:rPr lang="en-US" sz="1800" dirty="0" smtClean="0"/>
              <a:t>First mode is direct </a:t>
            </a:r>
            <a:r>
              <a:rPr lang="en-US" sz="1800" dirty="0"/>
              <a:t>electron-beam therapy which delivered low doses of high-energy electrons over short periods of time. </a:t>
            </a:r>
            <a:r>
              <a:rPr lang="en-US" sz="1800" dirty="0" smtClean="0"/>
              <a:t>Second mode is Megavolt </a:t>
            </a:r>
            <a:r>
              <a:rPr lang="en-US" sz="1800" dirty="0"/>
              <a:t>X-ray therapy which delivered X-rays produced by colliding high-energy (25 MeV) electrons into a target. </a:t>
            </a:r>
            <a:endParaRPr lang="en-US" sz="1800" dirty="0" smtClean="0"/>
          </a:p>
          <a:p>
            <a:r>
              <a:rPr lang="en-US" sz="1800" dirty="0" smtClean="0"/>
              <a:t>To </a:t>
            </a:r>
            <a:r>
              <a:rPr lang="en-US" sz="1800" dirty="0"/>
              <a:t>protect against over radiation, the second mode required that a beam spreader plate be rotated into place.  </a:t>
            </a:r>
            <a:r>
              <a:rPr lang="en-US" sz="1800" dirty="0" smtClean="0"/>
              <a:t>The </a:t>
            </a:r>
            <a:r>
              <a:rPr lang="en-US" sz="1800" dirty="0"/>
              <a:t>system depended on a software only interlock to ensure that the high-power electron beam could only be activated if the beam spreader plate is rotated into place.  </a:t>
            </a:r>
          </a:p>
        </p:txBody>
      </p:sp>
      <p:sp>
        <p:nvSpPr>
          <p:cNvPr id="4" name="TextBox 5"/>
          <p:cNvSpPr txBox="1">
            <a:spLocks noChangeArrowheads="1"/>
          </p:cNvSpPr>
          <p:nvPr/>
        </p:nvSpPr>
        <p:spPr bwMode="auto">
          <a:xfrm>
            <a:off x="35859" y="92867"/>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smtClean="0">
                <a:solidFill>
                  <a:schemeClr val="tx2"/>
                </a:solidFill>
              </a:rPr>
              <a:t>Functional </a:t>
            </a:r>
            <a:r>
              <a:rPr lang="en-US" dirty="0">
                <a:solidFill>
                  <a:schemeClr val="tx2"/>
                </a:solidFill>
              </a:rPr>
              <a:t>SFMEA Analysis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325" y="1032169"/>
            <a:ext cx="4933950" cy="3095625"/>
          </a:xfrm>
          <a:prstGeom prst="rect">
            <a:avLst/>
          </a:prstGeom>
        </p:spPr>
      </p:pic>
      <p:sp>
        <p:nvSpPr>
          <p:cNvPr id="6" name="TextBox 5"/>
          <p:cNvSpPr txBox="1"/>
          <p:nvPr/>
        </p:nvSpPr>
        <p:spPr>
          <a:xfrm>
            <a:off x="5410200" y="1050545"/>
            <a:ext cx="3505200" cy="3693319"/>
          </a:xfrm>
          <a:prstGeom prst="rect">
            <a:avLst/>
          </a:prstGeom>
          <a:noFill/>
        </p:spPr>
        <p:txBody>
          <a:bodyPr wrap="square" rtlCol="0">
            <a:spAutoFit/>
          </a:bodyPr>
          <a:lstStyle/>
          <a:p>
            <a:r>
              <a:rPr lang="en-US" b="0" dirty="0"/>
              <a:t>Patient is over –radiated</a:t>
            </a:r>
          </a:p>
          <a:p>
            <a:endParaRPr lang="en-US" b="0" dirty="0" smtClean="0"/>
          </a:p>
          <a:p>
            <a:r>
              <a:rPr lang="en-US" b="0" dirty="0" smtClean="0"/>
              <a:t>System delivers high electron beam with no filter</a:t>
            </a:r>
          </a:p>
          <a:p>
            <a:endParaRPr lang="en-US" b="0" dirty="0"/>
          </a:p>
          <a:p>
            <a:r>
              <a:rPr lang="en-US" b="0" dirty="0" smtClean="0"/>
              <a:t>When </a:t>
            </a:r>
            <a:r>
              <a:rPr lang="en-US" b="0" dirty="0"/>
              <a:t>operator provided manual inputs at same time as overflow, interlock failed (this is the race condition).</a:t>
            </a:r>
          </a:p>
          <a:p>
            <a:endParaRPr lang="en-US" b="0" dirty="0" smtClean="0"/>
          </a:p>
          <a:p>
            <a:r>
              <a:rPr lang="en-US" b="0" dirty="0" smtClean="0"/>
              <a:t>Defect</a:t>
            </a:r>
            <a:r>
              <a:rPr lang="en-US" b="0" dirty="0"/>
              <a:t>: one byte counter frequently overflowed</a:t>
            </a:r>
          </a:p>
          <a:p>
            <a:endParaRPr lang="en-US" b="0" dirty="0"/>
          </a:p>
        </p:txBody>
      </p:sp>
      <p:sp>
        <p:nvSpPr>
          <p:cNvPr id="7" name="Down Arrow 6"/>
          <p:cNvSpPr/>
          <p:nvPr/>
        </p:nvSpPr>
        <p:spPr>
          <a:xfrm rot="10800000">
            <a:off x="6324600" y="1368784"/>
            <a:ext cx="1066800" cy="280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Down Arrow 7"/>
          <p:cNvSpPr/>
          <p:nvPr/>
        </p:nvSpPr>
        <p:spPr>
          <a:xfrm rot="10800000">
            <a:off x="6324600" y="2133952"/>
            <a:ext cx="1066800" cy="280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Down Arrow 8"/>
          <p:cNvSpPr/>
          <p:nvPr/>
        </p:nvSpPr>
        <p:spPr>
          <a:xfrm rot="10800000">
            <a:off x="6324600" y="3538321"/>
            <a:ext cx="1066800" cy="2800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351935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800" b="1" dirty="0" smtClean="0"/>
              <a:t>Example of faulty data failure from history - Demonstration </a:t>
            </a:r>
            <a:r>
              <a:rPr lang="en-US" sz="1800" b="1" dirty="0"/>
              <a:t>of Autonomous Rendezvous Technology </a:t>
            </a:r>
            <a:r>
              <a:rPr lang="en-US" sz="1800" b="1" dirty="0" smtClean="0"/>
              <a:t>(DART)</a:t>
            </a:r>
            <a:endParaRPr lang="en-US" sz="1800" b="1" dirty="0"/>
          </a:p>
        </p:txBody>
      </p:sp>
      <p:sp>
        <p:nvSpPr>
          <p:cNvPr id="4" name="TextBox 5"/>
          <p:cNvSpPr txBox="1">
            <a:spLocks noChangeArrowheads="1"/>
          </p:cNvSpPr>
          <p:nvPr/>
        </p:nvSpPr>
        <p:spPr bwMode="auto">
          <a:xfrm>
            <a:off x="152400" y="51066"/>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smtClean="0">
                <a:solidFill>
                  <a:schemeClr val="tx2"/>
                </a:solidFill>
              </a:rPr>
              <a:t>Functional </a:t>
            </a:r>
            <a:r>
              <a:rPr lang="en-US" dirty="0">
                <a:solidFill>
                  <a:schemeClr val="tx2"/>
                </a:solidFill>
              </a:rPr>
              <a:t>SFMEA Analysis</a:t>
            </a:r>
          </a:p>
        </p:txBody>
      </p:sp>
      <p:grpSp>
        <p:nvGrpSpPr>
          <p:cNvPr id="9" name="Group 8"/>
          <p:cNvGrpSpPr/>
          <p:nvPr/>
        </p:nvGrpSpPr>
        <p:grpSpPr>
          <a:xfrm>
            <a:off x="402130" y="4496228"/>
            <a:ext cx="2340846" cy="1568236"/>
            <a:chOff x="1447800" y="2316956"/>
            <a:chExt cx="2743200" cy="2143125"/>
          </a:xfrm>
        </p:grpSpPr>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316956"/>
              <a:ext cx="2743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783681"/>
              <a:ext cx="27432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726656"/>
              <a:ext cx="2743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TextBox 9"/>
          <p:cNvSpPr txBox="1">
            <a:spLocks noChangeArrowheads="1"/>
          </p:cNvSpPr>
          <p:nvPr/>
        </p:nvSpPr>
        <p:spPr bwMode="auto">
          <a:xfrm>
            <a:off x="54799" y="6041338"/>
            <a:ext cx="328010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b="1" dirty="0"/>
              <a:t>DART (</a:t>
            </a:r>
            <a:r>
              <a:rPr lang="en-US" altLang="en-US" sz="1100" dirty="0"/>
              <a:t>right</a:t>
            </a:r>
            <a:r>
              <a:rPr lang="en-US" altLang="en-US" sz="1100" b="1" dirty="0"/>
              <a:t>) used estimates and</a:t>
            </a:r>
          </a:p>
          <a:p>
            <a:pPr algn="ctr" eaLnBrk="1" hangingPunct="1"/>
            <a:r>
              <a:rPr lang="en-US" altLang="en-US" sz="1100" b="1" dirty="0"/>
              <a:t>measurements to determine its velocity and</a:t>
            </a:r>
          </a:p>
          <a:p>
            <a:pPr algn="ctr" eaLnBrk="1" hangingPunct="1"/>
            <a:r>
              <a:rPr lang="en-US" altLang="en-US" sz="1100" b="1" dirty="0"/>
              <a:t>position relative to MUBLCOM (left).</a:t>
            </a:r>
          </a:p>
        </p:txBody>
      </p:sp>
      <p:sp>
        <p:nvSpPr>
          <p:cNvPr id="11" name="TextBox 10"/>
          <p:cNvSpPr txBox="1"/>
          <p:nvPr/>
        </p:nvSpPr>
        <p:spPr>
          <a:xfrm>
            <a:off x="152400" y="4076363"/>
            <a:ext cx="3660934" cy="253916"/>
          </a:xfrm>
          <a:prstGeom prst="rect">
            <a:avLst/>
          </a:prstGeom>
          <a:noFill/>
        </p:spPr>
        <p:txBody>
          <a:bodyPr wrap="square" rtlCol="0">
            <a:spAutoFit/>
          </a:bodyPr>
          <a:lstStyle/>
          <a:p>
            <a:endParaRPr lang="en-US" sz="1050" b="0" dirty="0"/>
          </a:p>
        </p:txBody>
      </p:sp>
      <p:sp>
        <p:nvSpPr>
          <p:cNvPr id="12" name="Content Placeholder 11"/>
          <p:cNvSpPr>
            <a:spLocks noGrp="1"/>
          </p:cNvSpPr>
          <p:nvPr>
            <p:ph sz="half" idx="2"/>
          </p:nvPr>
        </p:nvSpPr>
        <p:spPr>
          <a:xfrm>
            <a:off x="402130" y="3596617"/>
            <a:ext cx="8418462" cy="814946"/>
          </a:xfrm>
          <a:ln>
            <a:solidFill>
              <a:schemeClr val="accent1"/>
            </a:solidFill>
          </a:ln>
        </p:spPr>
        <p:txBody>
          <a:bodyPr>
            <a:noAutofit/>
          </a:bodyPr>
          <a:lstStyle/>
          <a:p>
            <a:pPr marL="0" indent="0">
              <a:buNone/>
            </a:pPr>
            <a:r>
              <a:rPr lang="en-US" sz="2000" dirty="0"/>
              <a:t>E</a:t>
            </a:r>
            <a:r>
              <a:rPr lang="en-US" sz="2000" dirty="0" smtClean="0"/>
              <a:t>stimates diverged from </a:t>
            </a:r>
            <a:r>
              <a:rPr lang="en-US" sz="2000" dirty="0"/>
              <a:t>the measurements and </a:t>
            </a:r>
            <a:r>
              <a:rPr lang="en-US" sz="2000" dirty="0" smtClean="0"/>
              <a:t>triggered </a:t>
            </a:r>
            <a:r>
              <a:rPr lang="en-US" sz="2000" dirty="0"/>
              <a:t>a reset. This imprecision sent DART into an infinite do-loop, resetting itself about once every 3 </a:t>
            </a:r>
            <a:r>
              <a:rPr lang="en-US" sz="2000" dirty="0" smtClean="0"/>
              <a:t>minutes</a:t>
            </a:r>
            <a:r>
              <a:rPr lang="en-US" sz="2000" dirty="0"/>
              <a:t> </a:t>
            </a:r>
            <a:r>
              <a:rPr lang="en-US" sz="2000" dirty="0" smtClean="0"/>
              <a:t>because of the faulty code that was changed late in testing.  </a:t>
            </a:r>
          </a:p>
          <a:p>
            <a:endParaRPr lang="en-US" sz="2000" dirty="0"/>
          </a:p>
        </p:txBody>
      </p:sp>
      <p:sp>
        <p:nvSpPr>
          <p:cNvPr id="13" name="TextBox 12"/>
          <p:cNvSpPr txBox="1"/>
          <p:nvPr/>
        </p:nvSpPr>
        <p:spPr>
          <a:xfrm>
            <a:off x="4038600" y="5105400"/>
            <a:ext cx="184731" cy="369332"/>
          </a:xfrm>
          <a:prstGeom prst="rect">
            <a:avLst/>
          </a:prstGeom>
          <a:noFill/>
        </p:spPr>
        <p:txBody>
          <a:bodyPr wrap="none" rtlCol="0">
            <a:spAutoFit/>
          </a:bodyPr>
          <a:lstStyle/>
          <a:p>
            <a:endParaRPr lang="en-US" dirty="0"/>
          </a:p>
        </p:txBody>
      </p:sp>
      <p:sp>
        <p:nvSpPr>
          <p:cNvPr id="14" name="Content Placeholder 13"/>
          <p:cNvSpPr>
            <a:spLocks noGrp="1"/>
          </p:cNvSpPr>
          <p:nvPr>
            <p:ph sz="half" idx="1"/>
          </p:nvPr>
        </p:nvSpPr>
        <p:spPr>
          <a:xfrm>
            <a:off x="3013253" y="4636006"/>
            <a:ext cx="5848792" cy="1944339"/>
          </a:xfrm>
          <a:ln>
            <a:solidFill>
              <a:schemeClr val="accent1"/>
            </a:solidFill>
          </a:ln>
        </p:spPr>
        <p:txBody>
          <a:bodyPr>
            <a:noAutofit/>
          </a:bodyPr>
          <a:lstStyle/>
          <a:p>
            <a:r>
              <a:rPr lang="en-US" sz="1800" dirty="0"/>
              <a:t>F</a:t>
            </a:r>
            <a:r>
              <a:rPr lang="en-US" sz="1800" dirty="0" smtClean="0"/>
              <a:t>aulty </a:t>
            </a:r>
            <a:r>
              <a:rPr lang="en-US" sz="1800" dirty="0"/>
              <a:t>requirement:  The comparison of the velocity input from </a:t>
            </a:r>
            <a:r>
              <a:rPr lang="en-US" sz="1800" dirty="0" smtClean="0"/>
              <a:t> </a:t>
            </a:r>
            <a:r>
              <a:rPr lang="en-US" sz="1800" dirty="0"/>
              <a:t>GPS receiver to </a:t>
            </a:r>
            <a:r>
              <a:rPr lang="en-US" sz="1800" dirty="0" smtClean="0"/>
              <a:t>software </a:t>
            </a:r>
            <a:r>
              <a:rPr lang="en-US" sz="1800" dirty="0"/>
              <a:t>based estimates was specified to have accuracy of ± 2 </a:t>
            </a:r>
            <a:r>
              <a:rPr lang="en-US" sz="1800" dirty="0" smtClean="0"/>
              <a:t>m/s when it should have been 1 m/s. </a:t>
            </a:r>
          </a:p>
          <a:p>
            <a:r>
              <a:rPr lang="en-US" sz="1800" dirty="0" smtClean="0"/>
              <a:t>Other coding fault: </a:t>
            </a:r>
            <a:r>
              <a:rPr lang="en-US" sz="1800" dirty="0"/>
              <a:t>G</a:t>
            </a:r>
            <a:r>
              <a:rPr lang="en-US" sz="1800" dirty="0" smtClean="0"/>
              <a:t>ain </a:t>
            </a:r>
            <a:r>
              <a:rPr lang="en-US" sz="1800" dirty="0"/>
              <a:t>setting </a:t>
            </a:r>
            <a:r>
              <a:rPr lang="en-US" sz="1800" dirty="0" smtClean="0"/>
              <a:t>code changed right before launch- gave </a:t>
            </a:r>
            <a:r>
              <a:rPr lang="en-US" sz="1800" dirty="0"/>
              <a:t>an inappropriately high weighting to the estimates relative to the </a:t>
            </a:r>
            <a:r>
              <a:rPr lang="en-US" sz="1800" dirty="0" smtClean="0"/>
              <a:t>measurements.</a:t>
            </a:r>
            <a:endParaRPr lang="en-US" sz="1800" dirty="0"/>
          </a:p>
        </p:txBody>
      </p:sp>
      <p:sp>
        <p:nvSpPr>
          <p:cNvPr id="18" name="Right Arrow 17"/>
          <p:cNvSpPr/>
          <p:nvPr/>
        </p:nvSpPr>
        <p:spPr>
          <a:xfrm rot="16200000">
            <a:off x="5565013" y="4091455"/>
            <a:ext cx="35149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ntent Placeholder 11"/>
          <p:cNvSpPr txBox="1">
            <a:spLocks/>
          </p:cNvSpPr>
          <p:nvPr/>
        </p:nvSpPr>
        <p:spPr>
          <a:xfrm>
            <a:off x="430704" y="2592844"/>
            <a:ext cx="8396594" cy="823092"/>
          </a:xfrm>
          <a:prstGeom prst="rect">
            <a:avLst/>
          </a:prstGeom>
          <a:ln>
            <a:solidFill>
              <a:schemeClr val="accent1"/>
            </a:solidFill>
          </a:ln>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000" b="0" dirty="0"/>
              <a:t>N</a:t>
            </a:r>
            <a:r>
              <a:rPr lang="en-US" sz="2000" b="0" dirty="0" smtClean="0"/>
              <a:t>avigational system could not accurately determine DART’s velocity or position. </a:t>
            </a:r>
            <a:r>
              <a:rPr lang="en-US" sz="2000" b="0" dirty="0"/>
              <a:t>E</a:t>
            </a:r>
            <a:r>
              <a:rPr lang="en-US" sz="2000" b="0" dirty="0" smtClean="0"/>
              <a:t>xcessive (and inaccurate) thruster firings depleted DART’s fuel supply faster than expected.  </a:t>
            </a:r>
          </a:p>
        </p:txBody>
      </p:sp>
      <p:sp>
        <p:nvSpPr>
          <p:cNvPr id="21" name="Content Placeholder 11"/>
          <p:cNvSpPr txBox="1">
            <a:spLocks/>
          </p:cNvSpPr>
          <p:nvPr/>
        </p:nvSpPr>
        <p:spPr>
          <a:xfrm>
            <a:off x="402129" y="1795542"/>
            <a:ext cx="8459916" cy="546637"/>
          </a:xfrm>
          <a:prstGeom prst="rect">
            <a:avLst/>
          </a:prstGeom>
          <a:ln>
            <a:solidFill>
              <a:schemeClr val="accent1"/>
            </a:solidFill>
          </a:ln>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000" b="0" dirty="0" smtClean="0"/>
              <a:t>DART missed the critical waypoint needed to switchover its navigational control completely to the AVGS. </a:t>
            </a:r>
          </a:p>
        </p:txBody>
      </p:sp>
      <p:sp>
        <p:nvSpPr>
          <p:cNvPr id="24" name="Content Placeholder 11"/>
          <p:cNvSpPr txBox="1">
            <a:spLocks/>
          </p:cNvSpPr>
          <p:nvPr/>
        </p:nvSpPr>
        <p:spPr>
          <a:xfrm>
            <a:off x="430704" y="804740"/>
            <a:ext cx="8455154" cy="820803"/>
          </a:xfrm>
          <a:prstGeom prst="rect">
            <a:avLst/>
          </a:prstGeom>
          <a:ln>
            <a:solidFill>
              <a:schemeClr val="accent1"/>
            </a:solidFill>
          </a:ln>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000" b="0" dirty="0" smtClean="0"/>
              <a:t>Approximately 11 hours into the 24 hour mission, DART collided with MUBLCOM. Shortly afterwards, its fuel supply ran out, and DART transitioned to its Departure and Retirement sequence.</a:t>
            </a:r>
          </a:p>
        </p:txBody>
      </p:sp>
      <p:sp>
        <p:nvSpPr>
          <p:cNvPr id="3" name="Up Arrow 2"/>
          <p:cNvSpPr/>
          <p:nvPr/>
        </p:nvSpPr>
        <p:spPr>
          <a:xfrm>
            <a:off x="3975279" y="3312666"/>
            <a:ext cx="1117242" cy="28482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Up Arrow 25"/>
          <p:cNvSpPr/>
          <p:nvPr/>
        </p:nvSpPr>
        <p:spPr>
          <a:xfrm>
            <a:off x="3989566" y="2372690"/>
            <a:ext cx="1117242" cy="24613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Up Arrow 26"/>
          <p:cNvSpPr/>
          <p:nvPr/>
        </p:nvSpPr>
        <p:spPr>
          <a:xfrm>
            <a:off x="3975279" y="1592082"/>
            <a:ext cx="1117242" cy="22391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1637605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 y="609158"/>
            <a:ext cx="8610600" cy="457200"/>
          </a:xfrm>
        </p:spPr>
        <p:txBody>
          <a:bodyPr>
            <a:noAutofit/>
          </a:bodyPr>
          <a:lstStyle/>
          <a:p>
            <a:pPr lvl="0"/>
            <a:r>
              <a:rPr lang="en-US" sz="2400" dirty="0" smtClean="0"/>
              <a:t>A very simple example of Faulty Functionality Failure Mode from the Functional (SRS) viewpoint</a:t>
            </a:r>
          </a:p>
        </p:txBody>
      </p:sp>
      <p:sp>
        <p:nvSpPr>
          <p:cNvPr id="44036" name="TextBox 5"/>
          <p:cNvSpPr txBox="1">
            <a:spLocks noChangeArrowheads="1"/>
          </p:cNvSpPr>
          <p:nvPr/>
        </p:nvSpPr>
        <p:spPr bwMode="auto">
          <a:xfrm>
            <a:off x="152400" y="162849"/>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graphicFrame>
        <p:nvGraphicFramePr>
          <p:cNvPr id="5" name="Table 4"/>
          <p:cNvGraphicFramePr>
            <a:graphicFrameLocks noGrp="1"/>
          </p:cNvGraphicFramePr>
          <p:nvPr>
            <p:extLst>
              <p:ext uri="{D42A27DB-BD31-4B8C-83A1-F6EECF244321}">
                <p14:modId xmlns:p14="http://schemas.microsoft.com/office/powerpoint/2010/main" val="2776612695"/>
              </p:ext>
            </p:extLst>
          </p:nvPr>
        </p:nvGraphicFramePr>
        <p:xfrm>
          <a:off x="152400" y="1219200"/>
          <a:ext cx="8695791" cy="4999162"/>
        </p:xfrm>
        <a:graphic>
          <a:graphicData uri="http://schemas.openxmlformats.org/drawingml/2006/table">
            <a:tbl>
              <a:tblPr firstRow="1" bandRow="1">
                <a:tableStyleId>{5C22544A-7EE6-4342-B048-85BDC9FD1C3A}</a:tableStyleId>
              </a:tblPr>
              <a:tblGrid>
                <a:gridCol w="833438"/>
                <a:gridCol w="1757362"/>
                <a:gridCol w="838200"/>
                <a:gridCol w="1676401"/>
                <a:gridCol w="533400"/>
                <a:gridCol w="1295399"/>
                <a:gridCol w="1761591"/>
              </a:tblGrid>
              <a:tr h="257237">
                <a:tc gridSpan="7">
                  <a:txBody>
                    <a:bodyPr/>
                    <a:lstStyle/>
                    <a:p>
                      <a:pPr marL="0" marR="0" algn="ctr" hangingPunct="0">
                        <a:spcBef>
                          <a:spcPts val="0"/>
                        </a:spcBef>
                        <a:spcAft>
                          <a:spcPts val="0"/>
                        </a:spcAft>
                      </a:pPr>
                      <a:r>
                        <a:rPr lang="en-US" sz="1800" b="1" dirty="0">
                          <a:latin typeface="+mn-lt"/>
                          <a:ea typeface="Times New Roman"/>
                        </a:rPr>
                        <a:t>Failure mode and root cause Section</a:t>
                      </a:r>
                      <a:endParaRPr lang="en-US" sz="1800" dirty="0">
                        <a:latin typeface="+mn-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108364">
                <a:tc>
                  <a:txBody>
                    <a:bodyPr/>
                    <a:lstStyle/>
                    <a:p>
                      <a:pPr marL="0" marR="0" hangingPunct="0">
                        <a:spcBef>
                          <a:spcPts val="0"/>
                        </a:spcBef>
                        <a:spcAft>
                          <a:spcPts val="0"/>
                        </a:spcAft>
                      </a:pPr>
                      <a:r>
                        <a:rPr lang="en-US" sz="1800" dirty="0">
                          <a:latin typeface="+mn-lt"/>
                          <a:ea typeface="Times New Roman"/>
                        </a:rPr>
                        <a:t>SRS statement </a:t>
                      </a:r>
                      <a:r>
                        <a:rPr lang="en-US" sz="1800" dirty="0" smtClean="0">
                          <a:latin typeface="+mn-lt"/>
                          <a:ea typeface="Times New Roman"/>
                        </a:rPr>
                        <a:t>number</a:t>
                      </a:r>
                      <a:endParaRPr lang="en-US" sz="1800" dirty="0">
                        <a:latin typeface="+mn-lt"/>
                        <a:ea typeface="Times New Roman"/>
                      </a:endParaRP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SRS statement text</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Related SRS Statements</a:t>
                      </a:r>
                    </a:p>
                  </a:txBody>
                  <a:tcPr marL="0" marR="0" marT="0" marB="0" vert="vert270"/>
                </a:tc>
                <a:tc>
                  <a:txBody>
                    <a:bodyPr/>
                    <a:lstStyle/>
                    <a:p>
                      <a:pPr marL="0" marR="0" hangingPunct="0">
                        <a:spcBef>
                          <a:spcPts val="0"/>
                        </a:spcBef>
                        <a:spcAft>
                          <a:spcPts val="0"/>
                        </a:spcAft>
                      </a:pPr>
                      <a:r>
                        <a:rPr lang="en-US" sz="1800" dirty="0">
                          <a:latin typeface="+mn-lt"/>
                          <a:ea typeface="Times New Roman"/>
                        </a:rPr>
                        <a:t>Description</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Failure mode</a:t>
                      </a:r>
                    </a:p>
                  </a:txBody>
                  <a:tcPr marL="9525" marR="9525" marT="9525" marB="0" vert="vert270"/>
                </a:tc>
                <a:tc>
                  <a:txBody>
                    <a:bodyPr/>
                    <a:lstStyle/>
                    <a:p>
                      <a:pPr marL="0" marR="0" hangingPunct="0">
                        <a:spcBef>
                          <a:spcPts val="0"/>
                        </a:spcBef>
                        <a:spcAft>
                          <a:spcPts val="0"/>
                        </a:spcAft>
                      </a:pPr>
                      <a:r>
                        <a:rPr lang="en-US" sz="1800" dirty="0" smtClean="0">
                          <a:latin typeface="+mn-lt"/>
                          <a:ea typeface="Times New Roman"/>
                        </a:rPr>
                        <a:t>Root cause</a:t>
                      </a:r>
                      <a:endParaRPr lang="en-US" sz="1800" dirty="0">
                        <a:latin typeface="+mn-lt"/>
                        <a:ea typeface="Times New Roman"/>
                      </a:endParaRPr>
                    </a:p>
                  </a:txBody>
                  <a:tcPr marL="9525" marR="9525" marT="9525" marB="0" vert="vert270"/>
                </a:tc>
                <a:tc>
                  <a:txBody>
                    <a:bodyPr/>
                    <a:lstStyle/>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r>
                        <a:rPr lang="en-US" sz="1800" baseline="0" dirty="0" smtClean="0">
                          <a:latin typeface="+mn-lt"/>
                          <a:ea typeface="Times New Roman"/>
                        </a:rPr>
                        <a:t>Detailed root cause</a:t>
                      </a:r>
                      <a:endParaRPr lang="en-US" sz="1800" dirty="0">
                        <a:latin typeface="+mn-lt"/>
                        <a:ea typeface="Times New Roman"/>
                      </a:endParaRPr>
                    </a:p>
                  </a:txBody>
                  <a:tcPr marL="9525" marR="9525" marT="9525" marB="0"/>
                </a:tc>
              </a:tr>
              <a:tr h="569595">
                <a:tc rowSpan="2">
                  <a:txBody>
                    <a:bodyPr/>
                    <a:lstStyle/>
                    <a:p>
                      <a:pPr marL="0" marR="0" hangingPunct="0">
                        <a:spcBef>
                          <a:spcPts val="0"/>
                        </a:spcBef>
                        <a:spcAft>
                          <a:spcPts val="0"/>
                        </a:spcAft>
                      </a:pPr>
                      <a:r>
                        <a:rPr lang="en-US" sz="1800" dirty="0" smtClean="0">
                          <a:latin typeface="+mn-lt"/>
                          <a:ea typeface="Times New Roman"/>
                        </a:rPr>
                        <a:t>SRS #1</a:t>
                      </a:r>
                      <a:endParaRPr lang="en-US" sz="2000" dirty="0">
                        <a:latin typeface="+mn-lt"/>
                        <a:ea typeface="Times New Roman"/>
                      </a:endParaRPr>
                    </a:p>
                  </a:txBody>
                  <a:tcPr/>
                </a:tc>
                <a:tc rowSpan="2">
                  <a:txBody>
                    <a:bodyPr/>
                    <a:lstStyle/>
                    <a:p>
                      <a:pPr marL="0" marR="0" hangingPunct="0">
                        <a:spcBef>
                          <a:spcPts val="0"/>
                        </a:spcBef>
                        <a:spcAft>
                          <a:spcPts val="0"/>
                        </a:spcAft>
                      </a:pPr>
                      <a:r>
                        <a:rPr lang="en-US" sz="1800" dirty="0" smtClean="0">
                          <a:latin typeface="+mn-lt"/>
                          <a:ea typeface="Times New Roman"/>
                        </a:rPr>
                        <a:t>The software shall display an error message that says “Negative values are not permitted.” whenever a value of &lt;= 0 is entered by the user for the XYZ input field</a:t>
                      </a:r>
                      <a:endParaRPr lang="en-US" sz="2000" dirty="0">
                        <a:latin typeface="+mn-lt"/>
                        <a:ea typeface="Times New Roman"/>
                      </a:endParaRPr>
                    </a:p>
                  </a:txBody>
                  <a:tcPr/>
                </a:tc>
                <a:tc rowSpan="2">
                  <a:txBody>
                    <a:bodyPr/>
                    <a:lstStyle/>
                    <a:p>
                      <a:r>
                        <a:rPr lang="en-US" sz="1800" dirty="0" smtClean="0"/>
                        <a:t>None</a:t>
                      </a:r>
                      <a:endParaRPr lang="en-US" sz="1800" dirty="0"/>
                    </a:p>
                  </a:txBody>
                  <a:tcPr marL="0" marR="0" marT="0" marB="0"/>
                </a:tc>
                <a:tc rowSpan="2">
                  <a:txBody>
                    <a:bodyPr/>
                    <a:lstStyle/>
                    <a:p>
                      <a:r>
                        <a:rPr lang="en-US" sz="1800" dirty="0" smtClean="0"/>
                        <a:t>Only values greater than zero are allowed in this input field since XYZ is being used to measure volume.</a:t>
                      </a:r>
                      <a:endParaRPr lang="en-US" sz="1800" dirty="0"/>
                    </a:p>
                  </a:txBody>
                  <a:tcPr/>
                </a:tc>
                <a:tc rowSpan="2">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functionality</a:t>
                      </a:r>
                      <a:endParaRPr lang="en-US" sz="2000" dirty="0">
                        <a:latin typeface="+mn-lt"/>
                        <a:ea typeface="Times New Roman"/>
                      </a:endParaRPr>
                    </a:p>
                  </a:txBody>
                  <a:tcPr vert="vert270"/>
                </a:tc>
                <a:tc rowSpan="2">
                  <a:txBody>
                    <a:bodyPr/>
                    <a:lstStyle/>
                    <a:p>
                      <a:pPr algn="l" rtl="0" fontAlgn="t"/>
                      <a:r>
                        <a:rPr lang="en-US" sz="1800" b="0" i="0" u="none" strike="noStrike" dirty="0" smtClean="0">
                          <a:solidFill>
                            <a:srgbClr val="000000"/>
                          </a:solidFill>
                          <a:latin typeface="+mn-lt"/>
                          <a:cs typeface="Arial" panose="020B0604020202020204" pitchFamily="34" charset="0"/>
                        </a:rPr>
                        <a:t>Requirement is missing functionality</a:t>
                      </a:r>
                      <a:endParaRPr lang="en-US" sz="1800" b="0" i="0" u="none" strike="noStrike" dirty="0">
                        <a:solidFill>
                          <a:srgbClr val="000000"/>
                        </a:solidFill>
                        <a:latin typeface="+mn-lt"/>
                        <a:cs typeface="Arial" panose="020B0604020202020204" pitchFamily="34" charset="0"/>
                      </a:endParaRPr>
                    </a:p>
                  </a:txBody>
                  <a:tcPr marL="6544" marR="6544" marT="6544" marB="0"/>
                </a:tc>
                <a:tc>
                  <a:txBody>
                    <a:bodyPr/>
                    <a:lstStyle/>
                    <a:p>
                      <a:pPr algn="l" rtl="0" fontAlgn="t"/>
                      <a:r>
                        <a:rPr lang="en-US" sz="1800" b="0" i="0" u="none" strike="noStrike" dirty="0" smtClean="0">
                          <a:solidFill>
                            <a:srgbClr val="000000"/>
                          </a:solidFill>
                          <a:latin typeface="+mn-lt"/>
                          <a:cs typeface="Arial" panose="020B0604020202020204" pitchFamily="34" charset="0"/>
                        </a:rPr>
                        <a:t>SRS statement doesn’t say whether the user is required to acknowledge the message.</a:t>
                      </a:r>
                      <a:endParaRPr lang="en-US" sz="1800" b="0" i="0" u="none" strike="noStrike" dirty="0">
                        <a:solidFill>
                          <a:srgbClr val="000000"/>
                        </a:solidFill>
                        <a:latin typeface="+mn-lt"/>
                        <a:cs typeface="Arial" panose="020B0604020202020204" pitchFamily="34" charset="0"/>
                      </a:endParaRPr>
                    </a:p>
                  </a:txBody>
                  <a:tcPr marL="6544" marR="6544" marT="6544" marB="0"/>
                </a:tc>
              </a:tr>
              <a:tr h="1964014">
                <a:tc vMerge="1">
                  <a:txBody>
                    <a:bodyPr/>
                    <a:lstStyle/>
                    <a:p>
                      <a:endParaRPr lang="en-US"/>
                    </a:p>
                  </a:txBody>
                  <a:tcPr/>
                </a:tc>
                <a:tc vMerge="1">
                  <a:txBody>
                    <a:bodyPr/>
                    <a:lstStyle/>
                    <a:p>
                      <a:endParaRPr lang="en-US"/>
                    </a:p>
                  </a:txBody>
                  <a:tcPr/>
                </a:tc>
                <a:tc vMerge="1">
                  <a:txBody>
                    <a:bodyPr/>
                    <a:lstStyle/>
                    <a:p>
                      <a:endParaRPr lang="en-US" dirty="0"/>
                    </a:p>
                  </a:txBody>
                  <a:tcPr/>
                </a:tc>
                <a:tc vMerge="1">
                  <a:txBody>
                    <a:bodyPr/>
                    <a:lstStyle/>
                    <a:p>
                      <a:endParaRPr lang="en-US"/>
                    </a:p>
                  </a:txBody>
                  <a:tcPr/>
                </a:tc>
                <a:tc vMerge="1">
                  <a:txBody>
                    <a:bodyPr/>
                    <a:lstStyle/>
                    <a:p>
                      <a:pPr marL="0" marR="0" hangingPunct="0">
                        <a:spcBef>
                          <a:spcPts val="0"/>
                        </a:spcBef>
                        <a:spcAft>
                          <a:spcPts val="0"/>
                        </a:spcAft>
                      </a:pPr>
                      <a:endParaRPr lang="en-US" sz="2000" dirty="0">
                        <a:latin typeface="+mn-lt"/>
                        <a:ea typeface="Times New Roman"/>
                      </a:endParaRPr>
                    </a:p>
                  </a:txBody>
                  <a:tcPr/>
                </a:tc>
                <a:tc vMerge="1">
                  <a:txBody>
                    <a:bodyPr/>
                    <a:lstStyle/>
                    <a:p>
                      <a:endParaRPr lang="en-US" dirty="0"/>
                    </a:p>
                  </a:txBody>
                  <a:tcPr marL="6544" marR="6544" marT="6544" marB="0"/>
                </a:tc>
                <a:tc>
                  <a:txBody>
                    <a:bodyPr/>
                    <a:lstStyle/>
                    <a:p>
                      <a:pPr algn="l" rtl="0" fontAlgn="t"/>
                      <a:r>
                        <a:rPr lang="en-US" sz="1800" b="0" i="0" u="none" strike="noStrike" dirty="0" smtClean="0">
                          <a:solidFill>
                            <a:srgbClr val="000000"/>
                          </a:solidFill>
                          <a:latin typeface="+mn-lt"/>
                          <a:cs typeface="Arial" panose="020B0604020202020204" pitchFamily="34" charset="0"/>
                        </a:rPr>
                        <a:t>The SRS statement doesn’t say what the software is required to do after the message is displayed.</a:t>
                      </a:r>
                      <a:endParaRPr lang="en-US" sz="1800" b="0" i="0" u="none" strike="noStrike" dirty="0">
                        <a:solidFill>
                          <a:srgbClr val="000000"/>
                        </a:solidFill>
                        <a:latin typeface="+mn-lt"/>
                        <a:cs typeface="Arial" panose="020B0604020202020204" pitchFamily="34" charset="0"/>
                      </a:endParaRPr>
                    </a:p>
                  </a:txBody>
                  <a:tcPr marL="6544" marR="6544" marT="6544" marB="0"/>
                </a:tc>
              </a:tr>
            </a:tbl>
          </a:graphicData>
        </a:graphic>
      </p:graphicFrame>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622388137"/>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399" y="609158"/>
            <a:ext cx="8695791" cy="457200"/>
          </a:xfrm>
        </p:spPr>
        <p:txBody>
          <a:bodyPr>
            <a:noAutofit/>
          </a:bodyPr>
          <a:lstStyle/>
          <a:p>
            <a:pPr lvl="0"/>
            <a:r>
              <a:rPr lang="en-US" sz="2400" dirty="0" smtClean="0"/>
              <a:t>Continued</a:t>
            </a:r>
          </a:p>
        </p:txBody>
      </p:sp>
      <p:sp>
        <p:nvSpPr>
          <p:cNvPr id="44036" name="TextBox 5"/>
          <p:cNvSpPr txBox="1">
            <a:spLocks noChangeArrowheads="1"/>
          </p:cNvSpPr>
          <p:nvPr/>
        </p:nvSpPr>
        <p:spPr bwMode="auto">
          <a:xfrm>
            <a:off x="152400" y="239270"/>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graphicFrame>
        <p:nvGraphicFramePr>
          <p:cNvPr id="5" name="Table 4"/>
          <p:cNvGraphicFramePr>
            <a:graphicFrameLocks noGrp="1"/>
          </p:cNvGraphicFramePr>
          <p:nvPr>
            <p:extLst>
              <p:ext uri="{D42A27DB-BD31-4B8C-83A1-F6EECF244321}">
                <p14:modId xmlns:p14="http://schemas.microsoft.com/office/powerpoint/2010/main" val="3413071"/>
              </p:ext>
            </p:extLst>
          </p:nvPr>
        </p:nvGraphicFramePr>
        <p:xfrm>
          <a:off x="152400" y="1219200"/>
          <a:ext cx="8695791" cy="4765964"/>
        </p:xfrm>
        <a:graphic>
          <a:graphicData uri="http://schemas.openxmlformats.org/drawingml/2006/table">
            <a:tbl>
              <a:tblPr firstRow="1" bandRow="1">
                <a:tableStyleId>{5C22544A-7EE6-4342-B048-85BDC9FD1C3A}</a:tableStyleId>
              </a:tblPr>
              <a:tblGrid>
                <a:gridCol w="833438"/>
                <a:gridCol w="1833562"/>
                <a:gridCol w="914400"/>
                <a:gridCol w="1524001"/>
                <a:gridCol w="533400"/>
                <a:gridCol w="1447799"/>
                <a:gridCol w="1609191"/>
              </a:tblGrid>
              <a:tr h="257237">
                <a:tc gridSpan="7">
                  <a:txBody>
                    <a:bodyPr/>
                    <a:lstStyle/>
                    <a:p>
                      <a:pPr marL="0" marR="0" algn="ctr" hangingPunct="0">
                        <a:spcBef>
                          <a:spcPts val="0"/>
                        </a:spcBef>
                        <a:spcAft>
                          <a:spcPts val="0"/>
                        </a:spcAft>
                      </a:pPr>
                      <a:r>
                        <a:rPr lang="en-US" sz="1800" b="1" dirty="0">
                          <a:latin typeface="+mn-lt"/>
                          <a:ea typeface="Times New Roman"/>
                        </a:rPr>
                        <a:t>Failure mode and root cause Section</a:t>
                      </a:r>
                      <a:endParaRPr lang="en-US" sz="1800" dirty="0">
                        <a:latin typeface="+mn-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108364">
                <a:tc>
                  <a:txBody>
                    <a:bodyPr/>
                    <a:lstStyle/>
                    <a:p>
                      <a:pPr marL="0" marR="0" hangingPunct="0">
                        <a:spcBef>
                          <a:spcPts val="0"/>
                        </a:spcBef>
                        <a:spcAft>
                          <a:spcPts val="0"/>
                        </a:spcAft>
                      </a:pPr>
                      <a:r>
                        <a:rPr lang="en-US" sz="1800" dirty="0">
                          <a:latin typeface="+mn-lt"/>
                          <a:ea typeface="Times New Roman"/>
                        </a:rPr>
                        <a:t>SRS statement ID</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SRS statement text</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Related SRS Statements</a:t>
                      </a:r>
                    </a:p>
                  </a:txBody>
                  <a:tcPr marL="0" marR="0" marT="0" marB="0" vert="vert270"/>
                </a:tc>
                <a:tc>
                  <a:txBody>
                    <a:bodyPr/>
                    <a:lstStyle/>
                    <a:p>
                      <a:pPr marL="0" marR="0" hangingPunct="0">
                        <a:spcBef>
                          <a:spcPts val="0"/>
                        </a:spcBef>
                        <a:spcAft>
                          <a:spcPts val="0"/>
                        </a:spcAft>
                      </a:pPr>
                      <a:r>
                        <a:rPr lang="en-US" sz="1800" dirty="0">
                          <a:latin typeface="+mn-lt"/>
                          <a:ea typeface="Times New Roman"/>
                        </a:rPr>
                        <a:t>Description</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Failure mode</a:t>
                      </a:r>
                    </a:p>
                  </a:txBody>
                  <a:tcPr marL="9525" marR="9525" marT="9525" marB="0" vert="vert270"/>
                </a:tc>
                <a:tc>
                  <a:txBody>
                    <a:bodyPr/>
                    <a:lstStyle/>
                    <a:p>
                      <a:pPr marL="0" marR="0" hangingPunct="0">
                        <a:spcBef>
                          <a:spcPts val="0"/>
                        </a:spcBef>
                        <a:spcAft>
                          <a:spcPts val="0"/>
                        </a:spcAft>
                      </a:pPr>
                      <a:r>
                        <a:rPr lang="en-US" sz="1800" dirty="0" smtClean="0">
                          <a:latin typeface="+mn-lt"/>
                          <a:ea typeface="Times New Roman"/>
                        </a:rPr>
                        <a:t>Root cause</a:t>
                      </a:r>
                      <a:endParaRPr lang="en-US" sz="1800" dirty="0">
                        <a:latin typeface="+mn-lt"/>
                        <a:ea typeface="Times New Roman"/>
                      </a:endParaRPr>
                    </a:p>
                  </a:txBody>
                  <a:tcPr marL="9525" marR="9525" marT="9525" marB="0" vert="vert270"/>
                </a:tc>
                <a:tc>
                  <a:txBody>
                    <a:bodyPr/>
                    <a:lstStyle/>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r>
                        <a:rPr lang="en-US" sz="1800" baseline="0" dirty="0" smtClean="0">
                          <a:latin typeface="+mn-lt"/>
                          <a:ea typeface="Times New Roman"/>
                        </a:rPr>
                        <a:t>Detailed root cause</a:t>
                      </a:r>
                      <a:endParaRPr lang="en-US" sz="1800" dirty="0">
                        <a:latin typeface="+mn-lt"/>
                        <a:ea typeface="Times New Roman"/>
                      </a:endParaRPr>
                    </a:p>
                  </a:txBody>
                  <a:tcPr marL="9525" marR="9525" marT="9525" marB="0"/>
                </a:tc>
              </a:tr>
              <a:tr h="2533609">
                <a:tc>
                  <a:txBody>
                    <a:bodyPr/>
                    <a:lstStyle/>
                    <a:p>
                      <a:pPr marL="0" marR="0" hangingPunct="0">
                        <a:spcBef>
                          <a:spcPts val="0"/>
                        </a:spcBef>
                        <a:spcAft>
                          <a:spcPts val="0"/>
                        </a:spcAft>
                      </a:pPr>
                      <a:r>
                        <a:rPr lang="en-US" sz="1800" dirty="0" smtClean="0">
                          <a:latin typeface="+mn-lt"/>
                          <a:ea typeface="Times New Roman"/>
                        </a:rPr>
                        <a:t>SRS #1</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The software shall display an error message that says “Negative values are not permitted.” whenever a value of &lt;= 0 is entered by the user for the XYZ input field</a:t>
                      </a:r>
                      <a:endParaRPr lang="en-US" sz="2000" dirty="0">
                        <a:latin typeface="+mn-lt"/>
                        <a:ea typeface="Times New Roman"/>
                      </a:endParaRPr>
                    </a:p>
                  </a:txBody>
                  <a:tcPr/>
                </a:tc>
                <a:tc>
                  <a:txBody>
                    <a:bodyPr/>
                    <a:lstStyle/>
                    <a:p>
                      <a:r>
                        <a:rPr lang="en-US" sz="1800" dirty="0" smtClean="0"/>
                        <a:t>None</a:t>
                      </a:r>
                      <a:endParaRPr lang="en-US" sz="1800" dirty="0"/>
                    </a:p>
                  </a:txBody>
                  <a:tcPr marL="0" marR="0" marT="0" marB="0"/>
                </a:tc>
                <a:tc>
                  <a:txBody>
                    <a:bodyPr/>
                    <a:lstStyle/>
                    <a:p>
                      <a:r>
                        <a:rPr lang="en-US" sz="1800" dirty="0" smtClean="0"/>
                        <a:t>Only values greater than zero are allowed in this input field since XYZ is being used to measure volume.</a:t>
                      </a:r>
                      <a:endParaRPr lang="en-US" sz="1800" dirty="0"/>
                    </a:p>
                  </a:txBody>
                  <a:tcPr/>
                </a:tc>
                <a:tc>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functionality</a:t>
                      </a:r>
                      <a:endParaRPr lang="en-US" sz="2000" dirty="0">
                        <a:latin typeface="+mn-lt"/>
                        <a:ea typeface="Times New Roman"/>
                      </a:endParaRPr>
                    </a:p>
                  </a:txBody>
                  <a:tcPr vert="vert270"/>
                </a:tc>
                <a:tc>
                  <a:txBody>
                    <a:bodyPr/>
                    <a:lstStyle/>
                    <a:p>
                      <a:pPr algn="l" rtl="0" fontAlgn="t"/>
                      <a:r>
                        <a:rPr lang="en-US" sz="1800" b="0" i="0" u="none" strike="noStrike" dirty="0" smtClean="0">
                          <a:solidFill>
                            <a:srgbClr val="000000"/>
                          </a:solidFill>
                          <a:latin typeface="+mn-lt"/>
                          <a:cs typeface="Arial" panose="020B0604020202020204" pitchFamily="34" charset="0"/>
                        </a:rPr>
                        <a:t>Conflicting requirement</a:t>
                      </a:r>
                      <a:endParaRPr lang="en-US" sz="1800" b="0" i="0" u="none" strike="noStrike" dirty="0">
                        <a:solidFill>
                          <a:srgbClr val="000000"/>
                        </a:solidFill>
                        <a:latin typeface="+mn-lt"/>
                        <a:cs typeface="Arial" panose="020B0604020202020204" pitchFamily="34" charset="0"/>
                      </a:endParaRPr>
                    </a:p>
                  </a:txBody>
                  <a:tcPr marL="6544" marR="6544" marT="6544" marB="0"/>
                </a:tc>
                <a:tc>
                  <a:txBody>
                    <a:bodyPr/>
                    <a:lstStyle/>
                    <a:p>
                      <a:pPr algn="l" rtl="0" fontAlgn="t"/>
                      <a:r>
                        <a:rPr lang="en-US" sz="1800" b="0" i="0" u="none" strike="noStrike" dirty="0" smtClean="0">
                          <a:solidFill>
                            <a:srgbClr val="000000"/>
                          </a:solidFill>
                          <a:latin typeface="+mn-lt"/>
                          <a:cs typeface="Arial" panose="020B0604020202020204" pitchFamily="34" charset="0"/>
                        </a:rPr>
                        <a:t>One part of the</a:t>
                      </a:r>
                      <a:r>
                        <a:rPr lang="en-US" sz="1800" b="0" i="0" u="none" strike="noStrike" baseline="0" dirty="0" smtClean="0">
                          <a:solidFill>
                            <a:srgbClr val="000000"/>
                          </a:solidFill>
                          <a:latin typeface="+mn-lt"/>
                          <a:cs typeface="Arial" panose="020B0604020202020204" pitchFamily="34" charset="0"/>
                        </a:rPr>
                        <a:t> requirement prohibits the value zero while another part allows it.</a:t>
                      </a:r>
                      <a:endParaRPr lang="en-US" sz="1800" b="0" i="0" u="none" strike="noStrike" dirty="0">
                        <a:solidFill>
                          <a:srgbClr val="000000"/>
                        </a:solidFill>
                        <a:latin typeface="+mn-lt"/>
                        <a:cs typeface="Arial" panose="020B0604020202020204" pitchFamily="34" charset="0"/>
                      </a:endParaRPr>
                    </a:p>
                  </a:txBody>
                  <a:tcPr marL="6544" marR="6544" marT="6544" marB="0"/>
                </a:tc>
              </a:tr>
            </a:tbl>
          </a:graphicData>
        </a:graphic>
      </p:graphicFrame>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316514947"/>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 y="609158"/>
            <a:ext cx="7886700" cy="457200"/>
          </a:xfrm>
        </p:spPr>
        <p:txBody>
          <a:bodyPr>
            <a:noAutofit/>
          </a:bodyPr>
          <a:lstStyle/>
          <a:p>
            <a:pPr lvl="0"/>
            <a:r>
              <a:rPr lang="en-US" sz="2400" dirty="0" smtClean="0"/>
              <a:t>Continued</a:t>
            </a:r>
          </a:p>
        </p:txBody>
      </p:sp>
      <p:sp>
        <p:nvSpPr>
          <p:cNvPr id="44036" name="TextBox 5"/>
          <p:cNvSpPr txBox="1">
            <a:spLocks noChangeArrowheads="1"/>
          </p:cNvSpPr>
          <p:nvPr/>
        </p:nvSpPr>
        <p:spPr bwMode="auto">
          <a:xfrm>
            <a:off x="152400" y="239270"/>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graphicFrame>
        <p:nvGraphicFramePr>
          <p:cNvPr id="5" name="Table 4"/>
          <p:cNvGraphicFramePr>
            <a:graphicFrameLocks noGrp="1"/>
          </p:cNvGraphicFramePr>
          <p:nvPr>
            <p:extLst>
              <p:ext uri="{D42A27DB-BD31-4B8C-83A1-F6EECF244321}">
                <p14:modId xmlns:p14="http://schemas.microsoft.com/office/powerpoint/2010/main" val="2127975692"/>
              </p:ext>
            </p:extLst>
          </p:nvPr>
        </p:nvGraphicFramePr>
        <p:xfrm>
          <a:off x="152400" y="1219200"/>
          <a:ext cx="8695791" cy="4765964"/>
        </p:xfrm>
        <a:graphic>
          <a:graphicData uri="http://schemas.openxmlformats.org/drawingml/2006/table">
            <a:tbl>
              <a:tblPr firstRow="1" bandRow="1">
                <a:tableStyleId>{5C22544A-7EE6-4342-B048-85BDC9FD1C3A}</a:tableStyleId>
              </a:tblPr>
              <a:tblGrid>
                <a:gridCol w="833438"/>
                <a:gridCol w="1833562"/>
                <a:gridCol w="914400"/>
                <a:gridCol w="1524001"/>
                <a:gridCol w="533400"/>
                <a:gridCol w="1447799"/>
                <a:gridCol w="1609191"/>
              </a:tblGrid>
              <a:tr h="257237">
                <a:tc gridSpan="7">
                  <a:txBody>
                    <a:bodyPr/>
                    <a:lstStyle/>
                    <a:p>
                      <a:pPr marL="0" marR="0" algn="ctr" hangingPunct="0">
                        <a:spcBef>
                          <a:spcPts val="0"/>
                        </a:spcBef>
                        <a:spcAft>
                          <a:spcPts val="0"/>
                        </a:spcAft>
                      </a:pPr>
                      <a:r>
                        <a:rPr lang="en-US" sz="1800" b="1" dirty="0">
                          <a:latin typeface="+mn-lt"/>
                          <a:ea typeface="Times New Roman"/>
                        </a:rPr>
                        <a:t>Failure mode and root cause Section</a:t>
                      </a:r>
                      <a:endParaRPr lang="en-US" sz="1800" dirty="0">
                        <a:latin typeface="+mn-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108364">
                <a:tc>
                  <a:txBody>
                    <a:bodyPr/>
                    <a:lstStyle/>
                    <a:p>
                      <a:pPr marL="0" marR="0" hangingPunct="0">
                        <a:spcBef>
                          <a:spcPts val="0"/>
                        </a:spcBef>
                        <a:spcAft>
                          <a:spcPts val="0"/>
                        </a:spcAft>
                      </a:pPr>
                      <a:r>
                        <a:rPr lang="en-US" sz="1800" dirty="0">
                          <a:latin typeface="+mn-lt"/>
                          <a:ea typeface="Times New Roman"/>
                        </a:rPr>
                        <a:t>SRS statement ID</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SRS statement text</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Related SRS Statements</a:t>
                      </a:r>
                    </a:p>
                  </a:txBody>
                  <a:tcPr marL="0" marR="0" marT="0" marB="0" vert="vert270"/>
                </a:tc>
                <a:tc>
                  <a:txBody>
                    <a:bodyPr/>
                    <a:lstStyle/>
                    <a:p>
                      <a:pPr marL="0" marR="0" hangingPunct="0">
                        <a:spcBef>
                          <a:spcPts val="0"/>
                        </a:spcBef>
                        <a:spcAft>
                          <a:spcPts val="0"/>
                        </a:spcAft>
                      </a:pPr>
                      <a:r>
                        <a:rPr lang="en-US" sz="1800" dirty="0">
                          <a:latin typeface="+mn-lt"/>
                          <a:ea typeface="Times New Roman"/>
                        </a:rPr>
                        <a:t>Description</a:t>
                      </a:r>
                    </a:p>
                  </a:txBody>
                  <a:tcPr marL="9525" marR="9525" marT="9525" marB="0" vert="vert270"/>
                </a:tc>
                <a:tc>
                  <a:txBody>
                    <a:bodyPr/>
                    <a:lstStyle/>
                    <a:p>
                      <a:pPr marL="0" marR="0" hangingPunct="0">
                        <a:spcBef>
                          <a:spcPts val="0"/>
                        </a:spcBef>
                        <a:spcAft>
                          <a:spcPts val="0"/>
                        </a:spcAft>
                      </a:pPr>
                      <a:r>
                        <a:rPr lang="en-US" sz="1800" dirty="0">
                          <a:latin typeface="+mn-lt"/>
                          <a:ea typeface="Times New Roman"/>
                        </a:rPr>
                        <a:t>Failure mode</a:t>
                      </a:r>
                    </a:p>
                  </a:txBody>
                  <a:tcPr marL="9525" marR="9525" marT="9525" marB="0" vert="vert270"/>
                </a:tc>
                <a:tc>
                  <a:txBody>
                    <a:bodyPr/>
                    <a:lstStyle/>
                    <a:p>
                      <a:pPr marL="0" marR="0" hangingPunct="0">
                        <a:spcBef>
                          <a:spcPts val="0"/>
                        </a:spcBef>
                        <a:spcAft>
                          <a:spcPts val="0"/>
                        </a:spcAft>
                      </a:pPr>
                      <a:r>
                        <a:rPr lang="en-US" sz="1800" dirty="0" smtClean="0">
                          <a:latin typeface="+mn-lt"/>
                          <a:ea typeface="Times New Roman"/>
                        </a:rPr>
                        <a:t>Root cause</a:t>
                      </a:r>
                      <a:endParaRPr lang="en-US" sz="1800" dirty="0">
                        <a:latin typeface="+mn-lt"/>
                        <a:ea typeface="Times New Roman"/>
                      </a:endParaRPr>
                    </a:p>
                  </a:txBody>
                  <a:tcPr marL="9525" marR="9525" marT="9525" marB="0" vert="vert270"/>
                </a:tc>
                <a:tc>
                  <a:txBody>
                    <a:bodyPr/>
                    <a:lstStyle/>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endParaRPr lang="en-US" sz="1800" dirty="0" smtClean="0">
                        <a:latin typeface="+mn-lt"/>
                        <a:ea typeface="Times New Roman"/>
                      </a:endParaRPr>
                    </a:p>
                    <a:p>
                      <a:pPr marL="0" marR="0" hangingPunct="0">
                        <a:spcBef>
                          <a:spcPts val="0"/>
                        </a:spcBef>
                        <a:spcAft>
                          <a:spcPts val="0"/>
                        </a:spcAft>
                      </a:pPr>
                      <a:r>
                        <a:rPr lang="en-US" sz="1800" baseline="0" dirty="0" smtClean="0">
                          <a:latin typeface="+mn-lt"/>
                          <a:ea typeface="Times New Roman"/>
                        </a:rPr>
                        <a:t>Detailed root cause</a:t>
                      </a:r>
                      <a:endParaRPr lang="en-US" sz="1800" dirty="0">
                        <a:latin typeface="+mn-lt"/>
                        <a:ea typeface="Times New Roman"/>
                      </a:endParaRPr>
                    </a:p>
                  </a:txBody>
                  <a:tcPr marL="9525" marR="9525" marT="9525" marB="0"/>
                </a:tc>
              </a:tr>
              <a:tr h="2533609">
                <a:tc>
                  <a:txBody>
                    <a:bodyPr/>
                    <a:lstStyle/>
                    <a:p>
                      <a:pPr marL="0" marR="0" hangingPunct="0">
                        <a:spcBef>
                          <a:spcPts val="0"/>
                        </a:spcBef>
                        <a:spcAft>
                          <a:spcPts val="0"/>
                        </a:spcAft>
                      </a:pPr>
                      <a:r>
                        <a:rPr lang="en-US" sz="1800" dirty="0" smtClean="0">
                          <a:latin typeface="+mn-lt"/>
                          <a:ea typeface="Times New Roman"/>
                        </a:rPr>
                        <a:t>SRS #1</a:t>
                      </a:r>
                      <a:endParaRPr lang="en-US" sz="2000" dirty="0">
                        <a:latin typeface="+mn-lt"/>
                        <a:ea typeface="Times New Roman"/>
                      </a:endParaRPr>
                    </a:p>
                  </a:txBody>
                  <a:tcPr/>
                </a:tc>
                <a:tc>
                  <a:txBody>
                    <a:bodyPr/>
                    <a:lstStyle/>
                    <a:p>
                      <a:pPr marL="0" marR="0" hangingPunct="0">
                        <a:spcBef>
                          <a:spcPts val="0"/>
                        </a:spcBef>
                        <a:spcAft>
                          <a:spcPts val="0"/>
                        </a:spcAft>
                      </a:pPr>
                      <a:r>
                        <a:rPr lang="en-US" sz="1800" dirty="0" smtClean="0">
                          <a:latin typeface="+mn-lt"/>
                          <a:ea typeface="Times New Roman"/>
                        </a:rPr>
                        <a:t>The software shall display an error message that says “Negative values are not permitted.” whenever a value of &lt;= 0 is entered by the user for the XYZ input field</a:t>
                      </a:r>
                      <a:endParaRPr lang="en-US" sz="2000" dirty="0">
                        <a:latin typeface="+mn-lt"/>
                        <a:ea typeface="Times New Roman"/>
                      </a:endParaRPr>
                    </a:p>
                  </a:txBody>
                  <a:tcPr/>
                </a:tc>
                <a:tc>
                  <a:txBody>
                    <a:bodyPr/>
                    <a:lstStyle/>
                    <a:p>
                      <a:r>
                        <a:rPr lang="en-US" sz="1800" dirty="0" smtClean="0"/>
                        <a:t>None</a:t>
                      </a:r>
                      <a:endParaRPr lang="en-US" sz="1800" dirty="0"/>
                    </a:p>
                  </a:txBody>
                  <a:tcPr marL="0" marR="0" marT="0" marB="0"/>
                </a:tc>
                <a:tc>
                  <a:txBody>
                    <a:bodyPr/>
                    <a:lstStyle/>
                    <a:p>
                      <a:r>
                        <a:rPr lang="en-US" sz="1800" dirty="0" smtClean="0"/>
                        <a:t>Only values greater than zero are allowed in this input field since XYZ is being used to measure volume.</a:t>
                      </a:r>
                      <a:endParaRPr lang="en-US" sz="1800" dirty="0"/>
                    </a:p>
                  </a:txBody>
                  <a:tcPr/>
                </a:tc>
                <a:tc>
                  <a:txBody>
                    <a:bodyPr/>
                    <a:lstStyle/>
                    <a:p>
                      <a:pPr marL="0" marR="0" hangingPunct="0">
                        <a:spcBef>
                          <a:spcPts val="0"/>
                        </a:spcBef>
                        <a:spcAft>
                          <a:spcPts val="0"/>
                        </a:spcAft>
                      </a:pPr>
                      <a:r>
                        <a:rPr lang="en-US" sz="1800" dirty="0">
                          <a:latin typeface="+mn-lt"/>
                          <a:ea typeface="Times New Roman"/>
                        </a:rPr>
                        <a:t>Faulty </a:t>
                      </a:r>
                      <a:r>
                        <a:rPr lang="en-US" sz="1800" dirty="0" smtClean="0">
                          <a:latin typeface="+mn-lt"/>
                          <a:ea typeface="Times New Roman"/>
                        </a:rPr>
                        <a:t>functionality</a:t>
                      </a:r>
                      <a:endParaRPr lang="en-US" sz="2000" dirty="0">
                        <a:latin typeface="+mn-lt"/>
                        <a:ea typeface="Times New Roman"/>
                      </a:endParaRPr>
                    </a:p>
                  </a:txBody>
                  <a:tcPr vert="vert270"/>
                </a:tc>
                <a:tc>
                  <a:txBody>
                    <a:bodyPr/>
                    <a:lstStyle/>
                    <a:p>
                      <a:pPr algn="l" rtl="0" fontAlgn="t"/>
                      <a:r>
                        <a:rPr lang="en-US" sz="1800" b="0" i="0" u="none" strike="noStrike" dirty="0" smtClean="0">
                          <a:solidFill>
                            <a:srgbClr val="000000"/>
                          </a:solidFill>
                          <a:latin typeface="+mn-lt"/>
                          <a:cs typeface="Arial" panose="020B0604020202020204" pitchFamily="34" charset="0"/>
                        </a:rPr>
                        <a:t>Requirement has extra features</a:t>
                      </a:r>
                      <a:endParaRPr lang="en-US" sz="1800" b="0" i="0" u="none" strike="noStrike" dirty="0">
                        <a:solidFill>
                          <a:srgbClr val="000000"/>
                        </a:solidFill>
                        <a:latin typeface="+mn-lt"/>
                        <a:cs typeface="Arial" panose="020B0604020202020204" pitchFamily="34" charset="0"/>
                      </a:endParaRPr>
                    </a:p>
                  </a:txBody>
                  <a:tcPr marL="6544" marR="6544" marT="6544" marB="0"/>
                </a:tc>
                <a:tc>
                  <a:txBody>
                    <a:bodyPr/>
                    <a:lstStyle/>
                    <a:p>
                      <a:pPr algn="l" rtl="0" fontAlgn="t"/>
                      <a:r>
                        <a:rPr lang="en-US" sz="1800" b="0" i="0" u="none" strike="noStrike" dirty="0" smtClean="0">
                          <a:solidFill>
                            <a:srgbClr val="000000"/>
                          </a:solidFill>
                          <a:latin typeface="+mn-lt"/>
                          <a:cs typeface="Arial" panose="020B0604020202020204" pitchFamily="34" charset="0"/>
                        </a:rPr>
                        <a:t>The message does not have to be displayed if the software doesn’t permit the invalid input.</a:t>
                      </a:r>
                      <a:endParaRPr lang="en-US" sz="1800" b="0" i="0" u="none" strike="noStrike" dirty="0">
                        <a:solidFill>
                          <a:srgbClr val="000000"/>
                        </a:solidFill>
                        <a:latin typeface="+mn-lt"/>
                        <a:cs typeface="Arial" panose="020B0604020202020204" pitchFamily="34" charset="0"/>
                      </a:endParaRPr>
                    </a:p>
                  </a:txBody>
                  <a:tcPr marL="6544" marR="6544" marT="6544" marB="0"/>
                </a:tc>
              </a:tr>
            </a:tbl>
          </a:graphicData>
        </a:graphic>
      </p:graphicFrame>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945488951"/>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The previous example showed a very simple requirement</a:t>
            </a:r>
          </a:p>
          <a:p>
            <a:pPr lvl="1"/>
            <a:r>
              <a:rPr lang="en-US" i="1" dirty="0" smtClean="0"/>
              <a:t>Yet there were so many failure modes associated with it</a:t>
            </a:r>
          </a:p>
          <a:p>
            <a:r>
              <a:rPr lang="en-US" dirty="0" smtClean="0"/>
              <a:t>The previous example came from a real SRS for a real product.  The specifics have been genericized.  </a:t>
            </a:r>
          </a:p>
          <a:p>
            <a:r>
              <a:rPr lang="en-US" dirty="0" smtClean="0"/>
              <a:t>This requirement applied to several hundred inputs.</a:t>
            </a:r>
          </a:p>
          <a:p>
            <a:r>
              <a:rPr lang="en-US" dirty="0" smtClean="0"/>
              <a:t>Imagine just these 4 failure modes repeated hundreds of times for each input. </a:t>
            </a:r>
          </a:p>
          <a:p>
            <a:r>
              <a:rPr lang="en-US" dirty="0" smtClean="0"/>
              <a:t>Imagine what a more complicated requirement or set of related requirements might yield…</a:t>
            </a:r>
          </a:p>
          <a:p>
            <a:endParaRPr lang="en-US" dirty="0"/>
          </a:p>
          <a:p>
            <a:r>
              <a:rPr lang="en-US" dirty="0" smtClean="0"/>
              <a:t>The </a:t>
            </a:r>
            <a:r>
              <a:rPr lang="en-US" dirty="0" smtClean="0">
                <a:hlinkClick r:id="rId2"/>
              </a:rPr>
              <a:t>SFMEA </a:t>
            </a:r>
            <a:r>
              <a:rPr lang="en-US" dirty="0" smtClean="0">
                <a:hlinkClick r:id="rId2"/>
              </a:rPr>
              <a:t>toolkit </a:t>
            </a:r>
            <a:r>
              <a:rPr lang="en-US" dirty="0" smtClean="0"/>
              <a:t>has several real world examples for each viewpoint and each failure mode and numerous root causes</a:t>
            </a:r>
          </a:p>
          <a:p>
            <a:pPr marL="0" indent="0">
              <a:buNone/>
            </a:pPr>
            <a:endParaRPr lang="en-US" dirty="0" smtClean="0"/>
          </a:p>
          <a:p>
            <a:endParaRPr lang="en-US" dirty="0"/>
          </a:p>
        </p:txBody>
      </p:sp>
      <p:sp>
        <p:nvSpPr>
          <p:cNvPr id="6" name="TextBox 5"/>
          <p:cNvSpPr txBox="1">
            <a:spLocks noChangeArrowheads="1"/>
          </p:cNvSpPr>
          <p:nvPr/>
        </p:nvSpPr>
        <p:spPr bwMode="auto">
          <a:xfrm>
            <a:off x="152400" y="104543"/>
            <a:ext cx="5562600" cy="369888"/>
          </a:xfrm>
          <a:prstGeom prst="rect">
            <a:avLst/>
          </a:prstGeom>
          <a:noFill/>
          <a:ln w="9525">
            <a:noFill/>
            <a:miter lim="800000"/>
            <a:headEnd/>
            <a:tailEnd/>
          </a:ln>
        </p:spPr>
        <p:txBody>
          <a:bodyPr>
            <a:spAutoFit/>
          </a:bodyPr>
          <a:lstStyle/>
          <a:p>
            <a:r>
              <a:rPr lang="en-US" dirty="0" smtClean="0">
                <a:solidFill>
                  <a:schemeClr val="tx2"/>
                </a:solidFill>
              </a:rPr>
              <a:t>3.1 </a:t>
            </a:r>
            <a:r>
              <a:rPr lang="en-US" dirty="0">
                <a:solidFill>
                  <a:schemeClr val="tx2"/>
                </a:solidFill>
              </a:rPr>
              <a:t>Functional SFMEA Analysis</a:t>
            </a: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1298429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Other failure modes and viewpoints</a:t>
            </a:r>
            <a:endParaRPr lang="en-US" dirty="0"/>
          </a:p>
        </p:txBody>
      </p:sp>
      <p:sp>
        <p:nvSpPr>
          <p:cNvPr id="3" name="Content Placeholder 2"/>
          <p:cNvSpPr>
            <a:spLocks noGrp="1"/>
          </p:cNvSpPr>
          <p:nvPr>
            <p:ph idx="1"/>
          </p:nvPr>
        </p:nvSpPr>
        <p:spPr>
          <a:xfrm>
            <a:off x="152400" y="922987"/>
            <a:ext cx="8458200" cy="5171802"/>
          </a:xfrm>
        </p:spPr>
        <p:txBody>
          <a:bodyPr/>
          <a:lstStyle/>
          <a:p>
            <a:r>
              <a:rPr lang="en-US" dirty="0" smtClean="0"/>
              <a:t>The </a:t>
            </a:r>
            <a:r>
              <a:rPr lang="en-US" dirty="0" smtClean="0">
                <a:hlinkClick r:id="rId2"/>
              </a:rPr>
              <a:t>SFMEA toolkit </a:t>
            </a:r>
            <a:r>
              <a:rPr lang="en-US" dirty="0" smtClean="0"/>
              <a:t>has a detailed compilation of failure modes and root causes for the functional viewpoint as well as the other 7 viewpoints.</a:t>
            </a:r>
          </a:p>
          <a:p>
            <a:r>
              <a:rPr lang="en-US" dirty="0" smtClean="0"/>
              <a:t>The analyst can/should also brainstorm additional failure modes/root causes </a:t>
            </a:r>
          </a:p>
          <a:p>
            <a:r>
              <a:rPr lang="en-US" dirty="0" smtClean="0"/>
              <a:t>The analyst should brainstorm all in scope viewpoints and failure modes prior to going to the next step – analyzing consequences.</a:t>
            </a:r>
            <a:endParaRPr lang="en-US" dirty="0"/>
          </a:p>
        </p:txBody>
      </p:sp>
      <p:sp>
        <p:nvSpPr>
          <p:cNvPr id="6" name="Rectangle 5"/>
          <p:cNvSpPr/>
          <p:nvPr/>
        </p:nvSpPr>
        <p:spPr>
          <a:xfrm>
            <a:off x="152400" y="79281"/>
            <a:ext cx="3604320" cy="369332"/>
          </a:xfrm>
          <a:prstGeom prst="rect">
            <a:avLst/>
          </a:prstGeom>
        </p:spPr>
        <p:txBody>
          <a:bodyPr wrap="none">
            <a:spAutoFit/>
          </a:bodyPr>
          <a:lstStyle/>
          <a:p>
            <a:r>
              <a:rPr lang="en-US" dirty="0" smtClean="0">
                <a:solidFill>
                  <a:schemeClr val="tx2"/>
                </a:solidFill>
              </a:rPr>
              <a:t>3.1 </a:t>
            </a:r>
            <a:r>
              <a:rPr lang="en-US" dirty="0">
                <a:solidFill>
                  <a:schemeClr val="tx2"/>
                </a:solidFill>
              </a:rPr>
              <a:t>Functional SFMEA Analysis</a:t>
            </a: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3164153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57175" y="542279"/>
            <a:ext cx="8763000" cy="517526"/>
          </a:xfrm>
        </p:spPr>
        <p:txBody>
          <a:bodyPr/>
          <a:lstStyle/>
          <a:p>
            <a:pPr eaLnBrk="1" hangingPunct="1"/>
            <a:r>
              <a:rPr lang="en-US" dirty="0" smtClean="0"/>
              <a:t>Agenda</a:t>
            </a:r>
          </a:p>
        </p:txBody>
      </p:sp>
      <p:sp>
        <p:nvSpPr>
          <p:cNvPr id="74" name="Content Placeholder 73"/>
          <p:cNvSpPr>
            <a:spLocks noGrp="1"/>
          </p:cNvSpPr>
          <p:nvPr>
            <p:ph sz="half" idx="1"/>
          </p:nvPr>
        </p:nvSpPr>
        <p:spPr>
          <a:xfrm>
            <a:off x="257175" y="1059805"/>
            <a:ext cx="8077200" cy="4572000"/>
          </a:xfrm>
        </p:spPr>
        <p:txBody>
          <a:bodyPr>
            <a:normAutofit/>
          </a:bodyPr>
          <a:lstStyle/>
          <a:p>
            <a:r>
              <a:rPr lang="en-US" sz="2800" dirty="0" smtClean="0"/>
              <a:t>Now that the failure modes and root causes of the applicable viewpoints have been analyzed…</a:t>
            </a:r>
          </a:p>
          <a:p>
            <a:pPr lvl="1"/>
            <a:r>
              <a:rPr lang="en-US" sz="2400" dirty="0" smtClean="0"/>
              <a:t>Identify the subsystem, system effects, effects on operator, etc.</a:t>
            </a:r>
          </a:p>
          <a:p>
            <a:pPr lvl="1"/>
            <a:r>
              <a:rPr lang="en-US" sz="2400" dirty="0" smtClean="0"/>
              <a:t>Identify severity, occurrence and detectability using the ratings in your template</a:t>
            </a:r>
          </a:p>
          <a:p>
            <a:pPr lvl="1"/>
            <a:r>
              <a:rPr lang="en-US" sz="2400" dirty="0" smtClean="0"/>
              <a:t>Preventive measures– These are things that would make this failure mode less or not likely to happen such as hardware interlocks, health monitoring software, etc.</a:t>
            </a:r>
          </a:p>
        </p:txBody>
      </p:sp>
      <p:sp>
        <p:nvSpPr>
          <p:cNvPr id="73732" name="TextBox 73"/>
          <p:cNvSpPr txBox="1">
            <a:spLocks noChangeArrowheads="1"/>
          </p:cNvSpPr>
          <p:nvPr/>
        </p:nvSpPr>
        <p:spPr bwMode="auto">
          <a:xfrm>
            <a:off x="257175" y="172391"/>
            <a:ext cx="5562600" cy="369888"/>
          </a:xfrm>
          <a:prstGeom prst="rect">
            <a:avLst/>
          </a:prstGeom>
          <a:noFill/>
          <a:ln w="9525">
            <a:noFill/>
            <a:miter lim="800000"/>
            <a:headEnd/>
            <a:tailEnd/>
          </a:ln>
        </p:spPr>
        <p:txBody>
          <a:bodyPr>
            <a:spAutoFit/>
          </a:bodyPr>
          <a:lstStyle/>
          <a:p>
            <a:r>
              <a:rPr lang="en-US" dirty="0" smtClean="0">
                <a:solidFill>
                  <a:schemeClr val="tx2"/>
                </a:solidFill>
              </a:rPr>
              <a:t>4.0 Analyze Consequences</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01962"/>
            <a:ext cx="8763000" cy="457201"/>
          </a:xfrm>
        </p:spPr>
        <p:txBody>
          <a:bodyPr>
            <a:normAutofit fontScale="90000"/>
          </a:bodyPr>
          <a:lstStyle/>
          <a:p>
            <a:r>
              <a:rPr lang="en-US" dirty="0" smtClean="0"/>
              <a:t>Examples of local effects (effect on software itself)</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77922924"/>
              </p:ext>
            </p:extLst>
          </p:nvPr>
        </p:nvGraphicFramePr>
        <p:xfrm>
          <a:off x="321425" y="792283"/>
          <a:ext cx="3657600" cy="5791200"/>
        </p:xfrm>
        <a:graphic>
          <a:graphicData uri="http://schemas.openxmlformats.org/drawingml/2006/table">
            <a:tbl>
              <a:tblPr/>
              <a:tblGrid>
                <a:gridCol w="3657600"/>
              </a:tblGrid>
              <a:tr h="168166">
                <a:tc>
                  <a:txBody>
                    <a:bodyPr/>
                    <a:lstStyle/>
                    <a:p>
                      <a:pPr marL="0" marR="0" hangingPunct="0">
                        <a:spcBef>
                          <a:spcPts val="0"/>
                        </a:spcBef>
                        <a:spcAft>
                          <a:spcPts val="0"/>
                        </a:spcAft>
                      </a:pPr>
                      <a:r>
                        <a:rPr lang="en-US" sz="2000" b="1" kern="1200" dirty="0">
                          <a:latin typeface="+mn-lt"/>
                          <a:ea typeface="Times New Roman"/>
                        </a:rPr>
                        <a:t>Example of local effects (at the software level)</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168166">
                <a:tc>
                  <a:txBody>
                    <a:bodyPr/>
                    <a:lstStyle/>
                    <a:p>
                      <a:pPr marL="0" marR="0" hangingPunct="0">
                        <a:spcBef>
                          <a:spcPts val="0"/>
                        </a:spcBef>
                        <a:spcAft>
                          <a:spcPts val="0"/>
                        </a:spcAft>
                      </a:pPr>
                      <a:r>
                        <a:rPr lang="en-US" sz="2000" dirty="0">
                          <a:latin typeface="+mn-lt"/>
                          <a:ea typeface="Times New Roman"/>
                        </a:rPr>
                        <a:t>The wrong function or command is executed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The right function is performed at the wrong time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A commanded function does nothing</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Stalls – Take too long</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Terminates prematurely</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Interruption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Crashes, hangs or freezes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Runs out of memory</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Ignores user input</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Corrupts data</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Loses data</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Generates bad data</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Generates too much information</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Generates stale data</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6"/>
          <p:cNvSpPr txBox="1">
            <a:spLocks noChangeArrowheads="1"/>
          </p:cNvSpPr>
          <p:nvPr/>
        </p:nvSpPr>
        <p:spPr bwMode="auto">
          <a:xfrm>
            <a:off x="152400" y="96275"/>
            <a:ext cx="5562600" cy="369888"/>
          </a:xfrm>
          <a:prstGeom prst="rect">
            <a:avLst/>
          </a:prstGeom>
          <a:noFill/>
          <a:ln w="9525">
            <a:noFill/>
            <a:miter lim="800000"/>
            <a:headEnd/>
            <a:tailEnd/>
          </a:ln>
        </p:spPr>
        <p:txBody>
          <a:bodyPr>
            <a:spAutoFit/>
          </a:bodyPr>
          <a:lstStyle/>
          <a:p>
            <a:r>
              <a:rPr lang="en-US" dirty="0" smtClean="0">
                <a:solidFill>
                  <a:schemeClr val="tx2"/>
                </a:solidFill>
              </a:rPr>
              <a:t>4.1 Identify local, subsystem and system effects</a:t>
            </a:r>
            <a:endParaRPr lang="en-US" dirty="0">
              <a:solidFill>
                <a:schemeClr val="tx2"/>
              </a:solidFill>
            </a:endParaRPr>
          </a:p>
        </p:txBody>
      </p:sp>
      <p:graphicFrame>
        <p:nvGraphicFramePr>
          <p:cNvPr id="6" name="Content Placeholder 3"/>
          <p:cNvGraphicFramePr>
            <a:graphicFrameLocks/>
          </p:cNvGraphicFramePr>
          <p:nvPr>
            <p:extLst>
              <p:ext uri="{D42A27DB-BD31-4B8C-83A1-F6EECF244321}">
                <p14:modId xmlns:p14="http://schemas.microsoft.com/office/powerpoint/2010/main" val="4294384586"/>
              </p:ext>
            </p:extLst>
          </p:nvPr>
        </p:nvGraphicFramePr>
        <p:xfrm>
          <a:off x="4019897" y="792283"/>
          <a:ext cx="5029200" cy="5791200"/>
        </p:xfrm>
        <a:graphic>
          <a:graphicData uri="http://schemas.openxmlformats.org/drawingml/2006/table">
            <a:tbl>
              <a:tblPr/>
              <a:tblGrid>
                <a:gridCol w="5029200"/>
              </a:tblGrid>
              <a:tr h="168166">
                <a:tc>
                  <a:txBody>
                    <a:bodyPr/>
                    <a:lstStyle/>
                    <a:p>
                      <a:pPr marL="0" marR="0" hangingPunct="0">
                        <a:spcBef>
                          <a:spcPts val="0"/>
                        </a:spcBef>
                        <a:spcAft>
                          <a:spcPts val="0"/>
                        </a:spcAft>
                      </a:pPr>
                      <a:r>
                        <a:rPr lang="en-US" sz="2000" b="1" kern="1200" dirty="0">
                          <a:latin typeface="+mn-lt"/>
                          <a:ea typeface="Times New Roman"/>
                        </a:rPr>
                        <a:t>Example of local effects (at the software level)</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168166">
                <a:tc>
                  <a:txBody>
                    <a:bodyPr/>
                    <a:lstStyle/>
                    <a:p>
                      <a:pPr marL="0" marR="0" hangingPunct="0">
                        <a:spcBef>
                          <a:spcPts val="0"/>
                        </a:spcBef>
                        <a:spcAft>
                          <a:spcPts val="0"/>
                        </a:spcAft>
                      </a:pPr>
                      <a:r>
                        <a:rPr lang="en-US" sz="2000" kern="1200" dirty="0">
                          <a:latin typeface="+mn-lt"/>
                          <a:ea typeface="Times New Roman"/>
                        </a:rPr>
                        <a:t>Behaves erratically</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Makes the wrong decisions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kern="1200" dirty="0">
                          <a:latin typeface="+mn-lt"/>
                          <a:ea typeface="Times New Roman"/>
                        </a:rPr>
                        <a:t>Fails to make the correct decisions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Continues processing even when it shouldn’t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Fails to continue processing when it should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Doesn’t restrict user input when it should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Confuses user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Doesn’t work according to the user’s manual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Fails to authenticate end users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Fails to detect security violations or improper authentication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Allows direct access to application memory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Causes end user to become desensitized to real errors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Leaks too much information about how the software works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166">
                <a:tc>
                  <a:txBody>
                    <a:bodyPr/>
                    <a:lstStyle/>
                    <a:p>
                      <a:pPr marL="0" marR="0" hangingPunct="0">
                        <a:spcBef>
                          <a:spcPts val="0"/>
                        </a:spcBef>
                        <a:spcAft>
                          <a:spcPts val="0"/>
                        </a:spcAft>
                      </a:pPr>
                      <a:r>
                        <a:rPr lang="en-US" sz="2000" dirty="0">
                          <a:latin typeface="+mn-lt"/>
                          <a:ea typeface="Times New Roman"/>
                        </a:rPr>
                        <a:t>Allows end user to write data that it shouldn’t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12" y="624480"/>
            <a:ext cx="8763000" cy="457201"/>
          </a:xfrm>
        </p:spPr>
        <p:txBody>
          <a:bodyPr>
            <a:normAutofit fontScale="90000"/>
          </a:bodyPr>
          <a:lstStyle/>
          <a:p>
            <a:r>
              <a:rPr lang="en-US" dirty="0" smtClean="0"/>
              <a:t>Examples of subsystem effects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68780757"/>
              </p:ext>
            </p:extLst>
          </p:nvPr>
        </p:nvGraphicFramePr>
        <p:xfrm>
          <a:off x="304800" y="1142997"/>
          <a:ext cx="7772400" cy="5181600"/>
        </p:xfrm>
        <a:graphic>
          <a:graphicData uri="http://schemas.openxmlformats.org/drawingml/2006/table">
            <a:tbl>
              <a:tblPr/>
              <a:tblGrid>
                <a:gridCol w="7772400"/>
              </a:tblGrid>
              <a:tr h="294640">
                <a:tc>
                  <a:txBody>
                    <a:bodyPr/>
                    <a:lstStyle/>
                    <a:p>
                      <a:pPr marL="0" marR="0" hangingPunct="0">
                        <a:spcBef>
                          <a:spcPts val="0"/>
                        </a:spcBef>
                        <a:spcAft>
                          <a:spcPts val="0"/>
                        </a:spcAft>
                      </a:pPr>
                      <a:r>
                        <a:rPr lang="en-US" sz="2000" b="1" kern="1200" dirty="0">
                          <a:latin typeface="+mn-lt"/>
                          <a:ea typeface="Times New Roman"/>
                        </a:rPr>
                        <a:t>Example of subsystem effects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294640">
                <a:tc>
                  <a:txBody>
                    <a:bodyPr/>
                    <a:lstStyle/>
                    <a:p>
                      <a:pPr marL="0" marR="0" hangingPunct="0">
                        <a:spcBef>
                          <a:spcPts val="0"/>
                        </a:spcBef>
                        <a:spcAft>
                          <a:spcPts val="0"/>
                        </a:spcAft>
                      </a:pPr>
                      <a:r>
                        <a:rPr lang="en-US" sz="2000" kern="1200" dirty="0">
                          <a:latin typeface="+mn-lt"/>
                          <a:ea typeface="Times New Roman"/>
                        </a:rPr>
                        <a:t>Loss of subsystem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Loss of required feature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Interruption of subsystem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Degraded subsystem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Incorrect outputs or results from subsystem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Attacker can enter commands instead of data</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dirty="0">
                          <a:latin typeface="+mn-lt"/>
                          <a:ea typeface="Times New Roman"/>
                        </a:rPr>
                        <a:t>Attacker can directly access application memory that should be protected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dirty="0">
                          <a:latin typeface="+mn-lt"/>
                          <a:ea typeface="Times New Roman"/>
                        </a:rPr>
                        <a:t>End users ignore errors or relax security because there are too many errors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3840">
                <a:tc>
                  <a:txBody>
                    <a:bodyPr/>
                    <a:lstStyle/>
                    <a:p>
                      <a:pPr marL="0" marR="0" hangingPunct="0">
                        <a:spcBef>
                          <a:spcPts val="0"/>
                        </a:spcBef>
                        <a:spcAft>
                          <a:spcPts val="0"/>
                        </a:spcAft>
                      </a:pPr>
                      <a:r>
                        <a:rPr lang="en-US" sz="2000" dirty="0">
                          <a:latin typeface="+mn-lt"/>
                          <a:ea typeface="Times New Roman"/>
                        </a:rPr>
                        <a:t>Error codes aren’t useful to an end user but are useful to an attacker to understand how the software works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dirty="0">
                          <a:latin typeface="+mn-lt"/>
                          <a:ea typeface="Times New Roman"/>
                        </a:rPr>
                        <a:t>Attackers learn about internal state of software from software itself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dirty="0">
                          <a:latin typeface="+mn-lt"/>
                          <a:ea typeface="Times New Roman"/>
                        </a:rPr>
                        <a:t>Attackers can create files in places that typical end users cannot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kern="1200" dirty="0">
                          <a:latin typeface="+mn-lt"/>
                          <a:ea typeface="Times New Roman"/>
                        </a:rPr>
                        <a:t>It’s too difficult for non-malicious users to use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4640">
                <a:tc>
                  <a:txBody>
                    <a:bodyPr/>
                    <a:lstStyle/>
                    <a:p>
                      <a:pPr marL="0" marR="0" hangingPunct="0">
                        <a:spcBef>
                          <a:spcPts val="0"/>
                        </a:spcBef>
                        <a:spcAft>
                          <a:spcPts val="0"/>
                        </a:spcAft>
                      </a:pPr>
                      <a:r>
                        <a:rPr lang="en-US" sz="2000" dirty="0">
                          <a:latin typeface="+mn-lt"/>
                          <a:ea typeface="Times New Roman"/>
                        </a:rPr>
                        <a:t>It’s too easy for attackers to get authenticated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6"/>
          <p:cNvSpPr txBox="1">
            <a:spLocks noChangeArrowheads="1"/>
          </p:cNvSpPr>
          <p:nvPr/>
        </p:nvSpPr>
        <p:spPr bwMode="auto">
          <a:xfrm>
            <a:off x="114300" y="193276"/>
            <a:ext cx="5562600" cy="369888"/>
          </a:xfrm>
          <a:prstGeom prst="rect">
            <a:avLst/>
          </a:prstGeom>
          <a:noFill/>
          <a:ln w="9525">
            <a:noFill/>
            <a:miter lim="800000"/>
            <a:headEnd/>
            <a:tailEnd/>
          </a:ln>
        </p:spPr>
        <p:txBody>
          <a:bodyPr>
            <a:spAutoFit/>
          </a:bodyPr>
          <a:lstStyle/>
          <a:p>
            <a:r>
              <a:rPr lang="en-US" dirty="0" smtClean="0">
                <a:solidFill>
                  <a:schemeClr val="tx2"/>
                </a:solidFill>
              </a:rPr>
              <a:t>4.1 Identify local, subsystem and system effects</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system level effects (continued)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2607931"/>
              </p:ext>
            </p:extLst>
          </p:nvPr>
        </p:nvGraphicFramePr>
        <p:xfrm>
          <a:off x="304800" y="923366"/>
          <a:ext cx="5715000" cy="5486400"/>
        </p:xfrm>
        <a:graphic>
          <a:graphicData uri="http://schemas.openxmlformats.org/drawingml/2006/table">
            <a:tbl>
              <a:tblPr/>
              <a:tblGrid>
                <a:gridCol w="5715000"/>
              </a:tblGrid>
              <a:tr h="0">
                <a:tc>
                  <a:txBody>
                    <a:bodyPr/>
                    <a:lstStyle/>
                    <a:p>
                      <a:pPr marL="0" marR="0" hangingPunct="0">
                        <a:spcBef>
                          <a:spcPts val="0"/>
                        </a:spcBef>
                        <a:spcAft>
                          <a:spcPts val="0"/>
                        </a:spcAft>
                      </a:pPr>
                      <a:r>
                        <a:rPr lang="en-US" sz="2000" b="1" kern="1200" dirty="0">
                          <a:latin typeface="+mn-lt"/>
                          <a:ea typeface="Times New Roman"/>
                        </a:rPr>
                        <a:t>Example of system level effects</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r>
              <a:tr h="0">
                <a:tc>
                  <a:txBody>
                    <a:bodyPr/>
                    <a:lstStyle/>
                    <a:p>
                      <a:pPr marL="0" marR="0" hangingPunct="0">
                        <a:spcBef>
                          <a:spcPts val="0"/>
                        </a:spcBef>
                        <a:spcAft>
                          <a:spcPts val="0"/>
                        </a:spcAft>
                      </a:pPr>
                      <a:r>
                        <a:rPr lang="en-US" sz="2000" kern="1200" dirty="0">
                          <a:latin typeface="+mn-lt"/>
                          <a:ea typeface="Times New Roman"/>
                        </a:rPr>
                        <a:t>Loss of mission</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equipment</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Interruption of service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Degraded service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Injury or safety</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Damage to environment</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Partial loss of mission</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Partial loss of equipment</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product</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security</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revenue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control over system</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sensitive information</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Major annoyance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Inconvenience</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Confusion of end user</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hangingPunct="0">
                        <a:spcBef>
                          <a:spcPts val="0"/>
                        </a:spcBef>
                        <a:spcAft>
                          <a:spcPts val="0"/>
                        </a:spcAft>
                      </a:pPr>
                      <a:r>
                        <a:rPr lang="en-US" sz="2000" kern="1200" dirty="0">
                          <a:latin typeface="+mn-lt"/>
                          <a:ea typeface="Times New Roman"/>
                        </a:rPr>
                        <a:t>Loss of private information</a:t>
                      </a:r>
                      <a:endParaRPr lang="en-US" sz="2000" dirty="0">
                        <a:latin typeface="+mn-lt"/>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6"/>
          <p:cNvSpPr txBox="1">
            <a:spLocks noChangeArrowheads="1"/>
          </p:cNvSpPr>
          <p:nvPr/>
        </p:nvSpPr>
        <p:spPr bwMode="auto">
          <a:xfrm>
            <a:off x="152400" y="78345"/>
            <a:ext cx="5562600" cy="369888"/>
          </a:xfrm>
          <a:prstGeom prst="rect">
            <a:avLst/>
          </a:prstGeom>
          <a:noFill/>
          <a:ln w="9525">
            <a:noFill/>
            <a:miter lim="800000"/>
            <a:headEnd/>
            <a:tailEnd/>
          </a:ln>
        </p:spPr>
        <p:txBody>
          <a:bodyPr>
            <a:spAutoFit/>
          </a:bodyPr>
          <a:lstStyle/>
          <a:p>
            <a:r>
              <a:rPr lang="en-US" dirty="0" smtClean="0">
                <a:solidFill>
                  <a:schemeClr val="tx2"/>
                </a:solidFill>
              </a:rPr>
              <a:t>4.1 Identify local, subsystem and system effects</a:t>
            </a:r>
            <a:endParaRPr lang="en-US" dirty="0">
              <a:solidFill>
                <a:schemeClr val="tx2"/>
              </a:solidFill>
            </a:endParaRPr>
          </a:p>
        </p:txBody>
      </p:sp>
      <p:sp>
        <p:nvSpPr>
          <p:cNvPr id="6" name="Rectangle 5"/>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22288"/>
            <a:ext cx="8763000" cy="457201"/>
          </a:xfrm>
        </p:spPr>
        <p:txBody>
          <a:bodyPr>
            <a:noAutofit/>
          </a:bodyPr>
          <a:lstStyle/>
          <a:p>
            <a:r>
              <a:rPr lang="en-US" dirty="0" smtClean="0"/>
              <a:t>Agenda</a:t>
            </a:r>
            <a:endParaRPr lang="en-US" dirty="0"/>
          </a:p>
        </p:txBody>
      </p:sp>
      <p:sp>
        <p:nvSpPr>
          <p:cNvPr id="3" name="Content Placeholder 2"/>
          <p:cNvSpPr>
            <a:spLocks noGrp="1"/>
          </p:cNvSpPr>
          <p:nvPr>
            <p:ph idx="1"/>
          </p:nvPr>
        </p:nvSpPr>
        <p:spPr>
          <a:xfrm>
            <a:off x="152400" y="979489"/>
            <a:ext cx="8458200" cy="5376862"/>
          </a:xfrm>
        </p:spPr>
        <p:txBody>
          <a:bodyPr>
            <a:normAutofit/>
          </a:bodyPr>
          <a:lstStyle/>
          <a:p>
            <a:r>
              <a:rPr lang="en-US" sz="3200" dirty="0" smtClean="0"/>
              <a:t>Identify corrective actions</a:t>
            </a:r>
          </a:p>
          <a:p>
            <a:r>
              <a:rPr lang="en-US" sz="3200" dirty="0" smtClean="0"/>
              <a:t>Revise Risk Product Number (RPN)</a:t>
            </a:r>
            <a:endParaRPr lang="en-US" sz="2800" dirty="0"/>
          </a:p>
        </p:txBody>
      </p:sp>
      <p:sp>
        <p:nvSpPr>
          <p:cNvPr id="4" name="TextBox 6"/>
          <p:cNvSpPr txBox="1">
            <a:spLocks noChangeArrowheads="1"/>
          </p:cNvSpPr>
          <p:nvPr/>
        </p:nvSpPr>
        <p:spPr bwMode="auto">
          <a:xfrm>
            <a:off x="152400" y="152400"/>
            <a:ext cx="7239000" cy="369888"/>
          </a:xfrm>
          <a:prstGeom prst="rect">
            <a:avLst/>
          </a:prstGeom>
          <a:noFill/>
          <a:ln w="9525">
            <a:noFill/>
            <a:miter lim="800000"/>
            <a:headEnd/>
            <a:tailEnd/>
          </a:ln>
        </p:spPr>
        <p:txBody>
          <a:bodyPr>
            <a:spAutoFit/>
          </a:bodyPr>
          <a:lstStyle/>
          <a:p>
            <a:r>
              <a:rPr lang="en-US" dirty="0" smtClean="0">
                <a:solidFill>
                  <a:schemeClr val="tx2"/>
                </a:solidFill>
              </a:rPr>
              <a:t>5.0 Identify Mitigation</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75433" y="495198"/>
            <a:ext cx="8763000" cy="457201"/>
          </a:xfrm>
        </p:spPr>
        <p:txBody>
          <a:bodyPr>
            <a:noAutofit/>
          </a:bodyPr>
          <a:lstStyle/>
          <a:p>
            <a:pPr eaLnBrk="1" hangingPunct="1"/>
            <a:r>
              <a:rPr lang="en-US" dirty="0" smtClean="0"/>
              <a:t>Identify Corrective Actions</a:t>
            </a:r>
          </a:p>
        </p:txBody>
      </p:sp>
      <p:sp>
        <p:nvSpPr>
          <p:cNvPr id="77827" name="Rectangle 3"/>
          <p:cNvSpPr>
            <a:spLocks noGrp="1" noChangeArrowheads="1"/>
          </p:cNvSpPr>
          <p:nvPr>
            <p:ph idx="1"/>
          </p:nvPr>
        </p:nvSpPr>
        <p:spPr>
          <a:xfrm>
            <a:off x="175433" y="952399"/>
            <a:ext cx="8305800" cy="4568825"/>
          </a:xfrm>
        </p:spPr>
        <p:txBody>
          <a:bodyPr>
            <a:noAutofit/>
          </a:bodyPr>
          <a:lstStyle/>
          <a:p>
            <a:pPr eaLnBrk="1" hangingPunct="1"/>
            <a:r>
              <a:rPr lang="en-US" dirty="0" smtClean="0"/>
              <a:t>Corrective action is from the development standpoint and will depend on type of FMEA being performed</a:t>
            </a:r>
          </a:p>
          <a:p>
            <a:pPr lvl="1" eaLnBrk="1" hangingPunct="1"/>
            <a:r>
              <a:rPr lang="en-US" sz="1800" dirty="0" smtClean="0"/>
              <a:t>Functional FMEA -corrective action may include changing the specifications</a:t>
            </a:r>
          </a:p>
          <a:p>
            <a:pPr lvl="1" eaLnBrk="1" hangingPunct="1"/>
            <a:r>
              <a:rPr lang="en-US" sz="1800" dirty="0" smtClean="0"/>
              <a:t>Interface and detailed FMEAs -corrective action may include changing the design, code to correct the failure mode</a:t>
            </a:r>
          </a:p>
          <a:p>
            <a:pPr lvl="1" eaLnBrk="1" hangingPunct="1"/>
            <a:r>
              <a:rPr lang="en-US" sz="1800" dirty="0" smtClean="0"/>
              <a:t>Production FMEA -corrective action may be the execution of a particular practice or avoidance of a particular risk</a:t>
            </a:r>
          </a:p>
          <a:p>
            <a:pPr eaLnBrk="1" hangingPunct="1"/>
            <a:r>
              <a:rPr lang="en-US" sz="2000" dirty="0" smtClean="0"/>
              <a:t>Examples of corrective actions that don’t apply to software</a:t>
            </a:r>
          </a:p>
          <a:p>
            <a:pPr lvl="1" eaLnBrk="1" hangingPunct="1"/>
            <a:r>
              <a:rPr lang="en-US" sz="1800" dirty="0" smtClean="0"/>
              <a:t>Replacing the software unit with an identical failed unit</a:t>
            </a:r>
          </a:p>
          <a:p>
            <a:pPr lvl="1" eaLnBrk="1" hangingPunct="1"/>
            <a:r>
              <a:rPr lang="en-US" sz="1800" dirty="0" smtClean="0"/>
              <a:t>Operator repair of the software code on site </a:t>
            </a:r>
          </a:p>
          <a:p>
            <a:r>
              <a:rPr lang="en-US" dirty="0" smtClean="0"/>
              <a:t>Corrective actions must be specific to be effective</a:t>
            </a:r>
          </a:p>
          <a:p>
            <a:pPr lvl="1"/>
            <a:r>
              <a:rPr lang="en-US" dirty="0" smtClean="0"/>
              <a:t>“Improve code review efficiency” is not specific.</a:t>
            </a:r>
          </a:p>
          <a:p>
            <a:pPr lvl="1"/>
            <a:r>
              <a:rPr lang="en-US" dirty="0" smtClean="0"/>
              <a:t>This is specific – “Review the code and make sure that all code that changes global data, locks the data prior to changing it”.</a:t>
            </a:r>
          </a:p>
          <a:p>
            <a:pPr lvl="1"/>
            <a:r>
              <a:rPr lang="en-US" dirty="0" smtClean="0"/>
              <a:t>“Improve testing efficiency” is not specific.</a:t>
            </a:r>
          </a:p>
          <a:p>
            <a:pPr lvl="1"/>
            <a:r>
              <a:rPr lang="en-US" dirty="0" smtClean="0"/>
              <a:t>This is specific – “Input a negative value in field XYZ.  Verify that the software doesn’t permit this value to be input and that a user friendly message is displayed”</a:t>
            </a:r>
          </a:p>
        </p:txBody>
      </p:sp>
      <p:sp>
        <p:nvSpPr>
          <p:cNvPr id="77828" name="TextBox 6"/>
          <p:cNvSpPr txBox="1">
            <a:spLocks noChangeArrowheads="1"/>
          </p:cNvSpPr>
          <p:nvPr/>
        </p:nvSpPr>
        <p:spPr bwMode="auto">
          <a:xfrm>
            <a:off x="152400" y="98309"/>
            <a:ext cx="7239000" cy="369888"/>
          </a:xfrm>
          <a:prstGeom prst="rect">
            <a:avLst/>
          </a:prstGeom>
          <a:noFill/>
          <a:ln w="9525">
            <a:noFill/>
            <a:miter lim="800000"/>
            <a:headEnd/>
            <a:tailEnd/>
          </a:ln>
        </p:spPr>
        <p:txBody>
          <a:bodyPr>
            <a:spAutoFit/>
          </a:bodyPr>
          <a:lstStyle/>
          <a:p>
            <a:r>
              <a:rPr lang="en-US" dirty="0" smtClean="0">
                <a:solidFill>
                  <a:schemeClr val="tx2"/>
                </a:solidFill>
              </a:rPr>
              <a:t>5.1 Identify Corrective Actions</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75433" y="495198"/>
            <a:ext cx="8763000" cy="457201"/>
          </a:xfrm>
        </p:spPr>
        <p:txBody>
          <a:bodyPr>
            <a:noAutofit/>
          </a:bodyPr>
          <a:lstStyle/>
          <a:p>
            <a:pPr eaLnBrk="1" hangingPunct="1"/>
            <a:r>
              <a:rPr lang="en-US" dirty="0" smtClean="0"/>
              <a:t>Identify Corrective Actions</a:t>
            </a:r>
          </a:p>
        </p:txBody>
      </p:sp>
      <p:sp>
        <p:nvSpPr>
          <p:cNvPr id="77827" name="Rectangle 3"/>
          <p:cNvSpPr>
            <a:spLocks noGrp="1" noChangeArrowheads="1"/>
          </p:cNvSpPr>
          <p:nvPr>
            <p:ph idx="1"/>
          </p:nvPr>
        </p:nvSpPr>
        <p:spPr>
          <a:xfrm>
            <a:off x="175433" y="952399"/>
            <a:ext cx="8305800" cy="4568825"/>
          </a:xfrm>
        </p:spPr>
        <p:txBody>
          <a:bodyPr>
            <a:noAutofit/>
          </a:bodyPr>
          <a:lstStyle/>
          <a:p>
            <a:r>
              <a:rPr lang="en-US" sz="2800" dirty="0" smtClean="0"/>
              <a:t>Corrective </a:t>
            </a:r>
            <a:r>
              <a:rPr lang="en-US" sz="2800" dirty="0" smtClean="0"/>
              <a:t>actions must be specific to be effective</a:t>
            </a:r>
          </a:p>
          <a:p>
            <a:pPr lvl="1"/>
            <a:r>
              <a:rPr lang="en-US" sz="2400" dirty="0" smtClean="0"/>
              <a:t>“Improve code review efficiency” is not specific.</a:t>
            </a:r>
          </a:p>
          <a:p>
            <a:pPr lvl="1"/>
            <a:r>
              <a:rPr lang="en-US" sz="2400" dirty="0" smtClean="0"/>
              <a:t>This is specific – “Review the code and make sure that all code that changes global data, locks the data prior to changing it”.</a:t>
            </a:r>
          </a:p>
          <a:p>
            <a:pPr lvl="1"/>
            <a:r>
              <a:rPr lang="en-US" sz="2400" dirty="0" smtClean="0"/>
              <a:t>“Improve testing efficiency” is not specific.</a:t>
            </a:r>
          </a:p>
          <a:p>
            <a:pPr lvl="1"/>
            <a:r>
              <a:rPr lang="en-US" sz="2400" dirty="0" smtClean="0"/>
              <a:t>This is specific – “Input a negative value in field XYZ.  Verify that the software doesn’t permit this value to be input and that a user friendly message is displayed”</a:t>
            </a:r>
          </a:p>
        </p:txBody>
      </p:sp>
      <p:sp>
        <p:nvSpPr>
          <p:cNvPr id="77828" name="TextBox 6"/>
          <p:cNvSpPr txBox="1">
            <a:spLocks noChangeArrowheads="1"/>
          </p:cNvSpPr>
          <p:nvPr/>
        </p:nvSpPr>
        <p:spPr bwMode="auto">
          <a:xfrm>
            <a:off x="152400" y="98309"/>
            <a:ext cx="7239000" cy="369888"/>
          </a:xfrm>
          <a:prstGeom prst="rect">
            <a:avLst/>
          </a:prstGeom>
          <a:noFill/>
          <a:ln w="9525">
            <a:noFill/>
            <a:miter lim="800000"/>
            <a:headEnd/>
            <a:tailEnd/>
          </a:ln>
        </p:spPr>
        <p:txBody>
          <a:bodyPr>
            <a:spAutoFit/>
          </a:bodyPr>
          <a:lstStyle/>
          <a:p>
            <a:r>
              <a:rPr lang="en-US" dirty="0" smtClean="0">
                <a:solidFill>
                  <a:schemeClr val="tx2"/>
                </a:solidFill>
              </a:rPr>
              <a:t>5.1 Identify Corrective Actions</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2846982235"/>
      </p:ext>
    </p:extLst>
  </p:cSld>
  <p:clrMapOvr>
    <a:masterClrMapping/>
  </p:clrMapOvr>
  <p:transition>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97540"/>
            <a:ext cx="8763000" cy="457201"/>
          </a:xfrm>
        </p:spPr>
        <p:txBody>
          <a:bodyPr>
            <a:noAutofit/>
          </a:bodyPr>
          <a:lstStyle/>
          <a:p>
            <a:r>
              <a:rPr lang="en-US" dirty="0" smtClean="0"/>
              <a:t>Revise RPN (Risk Priority Number)</a:t>
            </a:r>
            <a:endParaRPr lang="en-US" dirty="0"/>
          </a:p>
        </p:txBody>
      </p:sp>
      <p:sp>
        <p:nvSpPr>
          <p:cNvPr id="3" name="Content Placeholder 2"/>
          <p:cNvSpPr>
            <a:spLocks noGrp="1"/>
          </p:cNvSpPr>
          <p:nvPr>
            <p:ph idx="1"/>
          </p:nvPr>
        </p:nvSpPr>
        <p:spPr>
          <a:xfrm>
            <a:off x="152400" y="986118"/>
            <a:ext cx="8458200" cy="5370233"/>
          </a:xfrm>
        </p:spPr>
        <p:txBody>
          <a:bodyPr>
            <a:normAutofit/>
          </a:bodyPr>
          <a:lstStyle/>
          <a:p>
            <a:r>
              <a:rPr lang="en-US" sz="2800" dirty="0" smtClean="0"/>
              <a:t>Adjust the RPN based on the assumption that the corrective action is employed</a:t>
            </a:r>
          </a:p>
          <a:p>
            <a:r>
              <a:rPr lang="en-US" sz="2800" dirty="0" smtClean="0"/>
              <a:t>Don’t override the original RPN assessment</a:t>
            </a:r>
          </a:p>
        </p:txBody>
      </p:sp>
      <p:sp>
        <p:nvSpPr>
          <p:cNvPr id="4" name="TextBox 6"/>
          <p:cNvSpPr txBox="1">
            <a:spLocks noChangeArrowheads="1"/>
          </p:cNvSpPr>
          <p:nvPr/>
        </p:nvSpPr>
        <p:spPr bwMode="auto">
          <a:xfrm>
            <a:off x="152400" y="96275"/>
            <a:ext cx="5562600" cy="369888"/>
          </a:xfrm>
          <a:prstGeom prst="rect">
            <a:avLst/>
          </a:prstGeom>
          <a:noFill/>
          <a:ln w="9525">
            <a:noFill/>
            <a:miter lim="800000"/>
            <a:headEnd/>
            <a:tailEnd/>
          </a:ln>
        </p:spPr>
        <p:txBody>
          <a:bodyPr>
            <a:spAutoFit/>
          </a:bodyPr>
          <a:lstStyle/>
          <a:p>
            <a:r>
              <a:rPr lang="en-US" dirty="0" smtClean="0">
                <a:solidFill>
                  <a:schemeClr val="tx2"/>
                </a:solidFill>
              </a:rPr>
              <a:t>5.3 Revise RPN</a:t>
            </a:r>
            <a:endParaRPr lang="en-US" dirty="0">
              <a:solidFill>
                <a:schemeClr val="tx2"/>
              </a:solidFill>
            </a:endParaRP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47918" y="546844"/>
            <a:ext cx="8763000" cy="457201"/>
          </a:xfrm>
        </p:spPr>
        <p:txBody>
          <a:bodyPr>
            <a:noAutofit/>
          </a:bodyPr>
          <a:lstStyle/>
          <a:p>
            <a:pPr eaLnBrk="1" hangingPunct="1"/>
            <a:r>
              <a:rPr lang="en-US" sz="2800" dirty="0" smtClean="0"/>
              <a:t>Common mistakes made when doing a software FMEA</a:t>
            </a:r>
          </a:p>
        </p:txBody>
      </p:sp>
      <p:sp>
        <p:nvSpPr>
          <p:cNvPr id="87043" name="Rectangle 3"/>
          <p:cNvSpPr>
            <a:spLocks noGrp="1" noChangeArrowheads="1"/>
          </p:cNvSpPr>
          <p:nvPr>
            <p:ph idx="1"/>
          </p:nvPr>
        </p:nvSpPr>
        <p:spPr>
          <a:xfrm>
            <a:off x="170330" y="1219200"/>
            <a:ext cx="8153400" cy="4495800"/>
          </a:xfrm>
        </p:spPr>
        <p:txBody>
          <a:bodyPr>
            <a:normAutofit fontScale="92500" lnSpcReduction="10000"/>
          </a:bodyPr>
          <a:lstStyle/>
          <a:p>
            <a:pPr eaLnBrk="1" hangingPunct="1"/>
            <a:r>
              <a:rPr lang="en-US" dirty="0" smtClean="0">
                <a:solidFill>
                  <a:schemeClr val="accent6">
                    <a:lumMod val="20000"/>
                    <a:lumOff val="80000"/>
                  </a:schemeClr>
                </a:solidFill>
              </a:rPr>
              <a:t>Personnel are unwilling to view the failure space</a:t>
            </a:r>
          </a:p>
          <a:p>
            <a:pPr eaLnBrk="1" hangingPunct="1"/>
            <a:r>
              <a:rPr lang="en-US" dirty="0" smtClean="0"/>
              <a:t>Vague failure modes and root causes</a:t>
            </a:r>
          </a:p>
          <a:p>
            <a:pPr eaLnBrk="1" hangingPunct="1"/>
            <a:r>
              <a:rPr lang="en-US" dirty="0" smtClean="0"/>
              <a:t>Vague corrective actions</a:t>
            </a:r>
            <a:endParaRPr lang="en-US" dirty="0"/>
          </a:p>
          <a:p>
            <a:pPr eaLnBrk="1" hangingPunct="1"/>
            <a:r>
              <a:rPr lang="en-US" dirty="0" smtClean="0"/>
              <a:t>Assuming that certain failure modes won’t happen before analyzing them</a:t>
            </a:r>
          </a:p>
          <a:p>
            <a:pPr eaLnBrk="1" hangingPunct="1"/>
            <a:r>
              <a:rPr lang="en-US" dirty="0" smtClean="0"/>
              <a:t>Analyzing what the code </a:t>
            </a:r>
            <a:r>
              <a:rPr lang="en-US" i="1" dirty="0" smtClean="0"/>
              <a:t>does</a:t>
            </a:r>
            <a:r>
              <a:rPr lang="en-US" dirty="0" smtClean="0"/>
              <a:t> without regard for what the code </a:t>
            </a:r>
            <a:r>
              <a:rPr lang="en-US" i="1" dirty="0" smtClean="0"/>
              <a:t>is designed to do</a:t>
            </a:r>
            <a:r>
              <a:rPr lang="en-US" dirty="0" smtClean="0"/>
              <a:t> and </a:t>
            </a:r>
            <a:r>
              <a:rPr lang="en-US" i="1" dirty="0" smtClean="0"/>
              <a:t>is required to do</a:t>
            </a:r>
          </a:p>
          <a:p>
            <a:pPr eaLnBrk="1" hangingPunct="1"/>
            <a:r>
              <a:rPr lang="en-US" dirty="0" smtClean="0"/>
              <a:t>Focusing at too high or too level a level of abstraction</a:t>
            </a:r>
          </a:p>
          <a:p>
            <a:pPr eaLnBrk="1" hangingPunct="1"/>
            <a:r>
              <a:rPr lang="en-US" dirty="0" smtClean="0"/>
              <a:t>Neglecting to tailor the list of failure modes to your application type</a:t>
            </a:r>
          </a:p>
          <a:p>
            <a:pPr eaLnBrk="1" hangingPunct="1"/>
            <a:r>
              <a:rPr lang="en-US" dirty="0" smtClean="0"/>
              <a:t>Neglecting to filter/rank the requirements, design, code, use cases by risk and impact</a:t>
            </a:r>
          </a:p>
          <a:p>
            <a:r>
              <a:rPr lang="en-US" dirty="0"/>
              <a:t>Analyzing process failure modes instead of product failure modes</a:t>
            </a:r>
          </a:p>
          <a:p>
            <a:pPr eaLnBrk="1" hangingPunct="1"/>
            <a:endParaRPr lang="en-US" dirty="0" smtClean="0"/>
          </a:p>
        </p:txBody>
      </p:sp>
      <p:sp>
        <p:nvSpPr>
          <p:cNvPr id="87044" name="TextBox 4"/>
          <p:cNvSpPr txBox="1">
            <a:spLocks noChangeArrowheads="1"/>
          </p:cNvSpPr>
          <p:nvPr/>
        </p:nvSpPr>
        <p:spPr bwMode="auto">
          <a:xfrm>
            <a:off x="152400" y="114204"/>
            <a:ext cx="5562600" cy="369888"/>
          </a:xfrm>
          <a:prstGeom prst="rect">
            <a:avLst/>
          </a:prstGeom>
          <a:noFill/>
          <a:ln w="9525">
            <a:noFill/>
            <a:miter lim="800000"/>
            <a:headEnd/>
            <a:tailEnd/>
          </a:ln>
        </p:spPr>
        <p:txBody>
          <a:bodyPr>
            <a:spAutoFit/>
          </a:bodyPr>
          <a:lstStyle/>
          <a:p>
            <a:r>
              <a:rPr lang="en-US" dirty="0">
                <a:solidFill>
                  <a:schemeClr val="tx2"/>
                </a:solidFill>
              </a:rPr>
              <a:t>6</a:t>
            </a:r>
            <a:r>
              <a:rPr lang="en-US" dirty="0" smtClean="0">
                <a:solidFill>
                  <a:schemeClr val="tx2"/>
                </a:solidFill>
              </a:rPr>
              <a:t>.0 </a:t>
            </a:r>
            <a:r>
              <a:rPr lang="en-US" dirty="0">
                <a:solidFill>
                  <a:schemeClr val="tx2"/>
                </a:solidFill>
              </a:rPr>
              <a:t>Avoid Common Mistakes </a:t>
            </a:r>
          </a:p>
        </p:txBody>
      </p:sp>
      <p:sp>
        <p:nvSpPr>
          <p:cNvPr id="5" name="Rectangle 4"/>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Myths about SFMEAs</a:t>
            </a:r>
            <a:endParaRPr lang="en-US" dirty="0"/>
          </a:p>
        </p:txBody>
      </p:sp>
      <p:sp>
        <p:nvSpPr>
          <p:cNvPr id="3" name="Content Placeholder 2"/>
          <p:cNvSpPr>
            <a:spLocks noGrp="1"/>
          </p:cNvSpPr>
          <p:nvPr>
            <p:ph idx="1"/>
          </p:nvPr>
        </p:nvSpPr>
        <p:spPr/>
        <p:txBody>
          <a:bodyPr/>
          <a:lstStyle/>
          <a:p>
            <a:r>
              <a:rPr lang="en-US" dirty="0" smtClean="0"/>
              <a:t>Myth #1 – The SFMEA identifies failure modes that we could have found during testing</a:t>
            </a:r>
          </a:p>
          <a:p>
            <a:pPr lvl="1"/>
            <a:r>
              <a:rPr lang="en-US" b="1" dirty="0" smtClean="0"/>
              <a:t>There is a very big different between “could have” and “will”. </a:t>
            </a:r>
          </a:p>
          <a:p>
            <a:pPr lvl="1"/>
            <a:r>
              <a:rPr lang="en-US" dirty="0" smtClean="0"/>
              <a:t>Unless the test plan explicitly includes a test for specific negative behaviors – you can’t assume that the resulting failure modes would have been found during testing.</a:t>
            </a:r>
          </a:p>
          <a:p>
            <a:pPr lvl="1"/>
            <a:r>
              <a:rPr lang="en-US" dirty="0" smtClean="0"/>
              <a:t>Test plans rarely cover negative behaviors because they are rarely in the requirements or design documents</a:t>
            </a:r>
          </a:p>
          <a:p>
            <a:pPr lvl="1"/>
            <a:r>
              <a:rPr lang="en-US" dirty="0" smtClean="0"/>
              <a:t>As part of the preparation step the analyst should identify failure modes and root causes that aren’t likely to be immediately visible during testing</a:t>
            </a:r>
          </a:p>
          <a:p>
            <a:r>
              <a:rPr lang="en-US" dirty="0" smtClean="0"/>
              <a:t>Myth #2 – The SFMEA identified a few failure modes.  We were expecting many more.</a:t>
            </a:r>
          </a:p>
          <a:p>
            <a:pPr lvl="1"/>
            <a:r>
              <a:rPr lang="en-US" dirty="0" smtClean="0"/>
              <a:t>The goal is to find the failure modes that are difficult to find during testing but can result in one or more very serious events in operation.  </a:t>
            </a:r>
          </a:p>
          <a:p>
            <a:pPr lvl="1"/>
            <a:r>
              <a:rPr lang="en-US" dirty="0" smtClean="0"/>
              <a:t>Hence, if the SFMEA finds even 1 very serious failure mode, it can be cost effective.</a:t>
            </a:r>
          </a:p>
          <a:p>
            <a:pPr lvl="1"/>
            <a:endParaRPr lang="en-US" dirty="0"/>
          </a:p>
        </p:txBody>
      </p:sp>
      <p:sp>
        <p:nvSpPr>
          <p:cNvPr id="6" name="TextBox 4"/>
          <p:cNvSpPr txBox="1">
            <a:spLocks noChangeArrowheads="1"/>
          </p:cNvSpPr>
          <p:nvPr/>
        </p:nvSpPr>
        <p:spPr bwMode="auto">
          <a:xfrm>
            <a:off x="152400" y="114204"/>
            <a:ext cx="5562600" cy="369888"/>
          </a:xfrm>
          <a:prstGeom prst="rect">
            <a:avLst/>
          </a:prstGeom>
          <a:noFill/>
          <a:ln w="9525">
            <a:noFill/>
            <a:miter lim="800000"/>
            <a:headEnd/>
            <a:tailEnd/>
          </a:ln>
        </p:spPr>
        <p:txBody>
          <a:bodyPr>
            <a:spAutoFit/>
          </a:bodyPr>
          <a:lstStyle/>
          <a:p>
            <a:r>
              <a:rPr lang="en-US" dirty="0">
                <a:solidFill>
                  <a:schemeClr val="tx2"/>
                </a:solidFill>
              </a:rPr>
              <a:t>6</a:t>
            </a:r>
            <a:r>
              <a:rPr lang="en-US" dirty="0" smtClean="0">
                <a:solidFill>
                  <a:schemeClr val="tx2"/>
                </a:solidFill>
              </a:rPr>
              <a:t>.0 </a:t>
            </a:r>
            <a:r>
              <a:rPr lang="en-US" dirty="0">
                <a:solidFill>
                  <a:schemeClr val="tx2"/>
                </a:solidFill>
              </a:rPr>
              <a:t>Avoid Common Mistakes </a:t>
            </a:r>
          </a:p>
        </p:txBody>
      </p:sp>
      <p:sp>
        <p:nvSpPr>
          <p:cNvPr id="7" name="Rectangle 6"/>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extLst>
      <p:ext uri="{BB962C8B-B14F-4D97-AF65-F5344CB8AC3E}">
        <p14:creationId xmlns:p14="http://schemas.microsoft.com/office/powerpoint/2010/main" val="3010772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More information</a:t>
            </a:r>
            <a:endParaRPr lang="en-US" dirty="0"/>
          </a:p>
        </p:txBody>
      </p:sp>
      <p:sp>
        <p:nvSpPr>
          <p:cNvPr id="3" name="Content Placeholder 2"/>
          <p:cNvSpPr>
            <a:spLocks noGrp="1"/>
          </p:cNvSpPr>
          <p:nvPr>
            <p:ph idx="1"/>
          </p:nvPr>
        </p:nvSpPr>
        <p:spPr/>
        <p:txBody>
          <a:bodyPr/>
          <a:lstStyle/>
          <a:p>
            <a:r>
              <a:rPr lang="en-US" dirty="0" smtClean="0"/>
              <a:t>The </a:t>
            </a:r>
            <a:r>
              <a:rPr lang="en-US" dirty="0" smtClean="0">
                <a:hlinkClick r:id="rId2"/>
              </a:rPr>
              <a:t>Software FMEA class </a:t>
            </a:r>
            <a:r>
              <a:rPr lang="en-US" dirty="0" smtClean="0"/>
              <a:t>covers </a:t>
            </a:r>
          </a:p>
          <a:p>
            <a:pPr lvl="1"/>
            <a:r>
              <a:rPr lang="en-US" dirty="0"/>
              <a:t>8</a:t>
            </a:r>
            <a:r>
              <a:rPr lang="en-US" dirty="0" smtClean="0"/>
              <a:t> viewpoints</a:t>
            </a:r>
          </a:p>
          <a:p>
            <a:pPr lvl="1"/>
            <a:r>
              <a:rPr lang="en-US" dirty="0" smtClean="0"/>
              <a:t>Hundreds of failure modes/root causes</a:t>
            </a:r>
          </a:p>
          <a:p>
            <a:pPr lvl="1"/>
            <a:r>
              <a:rPr lang="en-US" dirty="0" smtClean="0"/>
              <a:t>Real life examples of each</a:t>
            </a:r>
          </a:p>
          <a:p>
            <a:r>
              <a:rPr lang="en-US" dirty="0" smtClean="0"/>
              <a:t>The </a:t>
            </a:r>
            <a:r>
              <a:rPr lang="en-US" dirty="0" smtClean="0">
                <a:hlinkClick r:id="rId3"/>
              </a:rPr>
              <a:t>Software FMEA toolkit </a:t>
            </a:r>
            <a:r>
              <a:rPr lang="en-US" dirty="0" smtClean="0"/>
              <a:t>has</a:t>
            </a:r>
          </a:p>
          <a:p>
            <a:pPr lvl="1"/>
            <a:r>
              <a:rPr lang="en-US" dirty="0" smtClean="0"/>
              <a:t>A template that starts with preparation and ends with the Critical Items List</a:t>
            </a:r>
          </a:p>
          <a:p>
            <a:pPr lvl="1"/>
            <a:r>
              <a:rPr lang="en-US" dirty="0" smtClean="0"/>
              <a:t>8 worksheets for each viewpoints</a:t>
            </a:r>
            <a:endParaRPr lang="en-US" dirty="0"/>
          </a:p>
          <a:p>
            <a:pPr lvl="1"/>
            <a:r>
              <a:rPr lang="en-US" dirty="0"/>
              <a:t>Hundreds of failure modes/root </a:t>
            </a:r>
            <a:r>
              <a:rPr lang="en-US" dirty="0" smtClean="0"/>
              <a:t>causes prepopulated in the appropriate viewpoint</a:t>
            </a:r>
            <a:endParaRPr lang="en-US" dirty="0"/>
          </a:p>
          <a:p>
            <a:pPr lvl="1"/>
            <a:r>
              <a:rPr lang="en-US" dirty="0"/>
              <a:t>Real life </a:t>
            </a:r>
            <a:r>
              <a:rPr lang="en-US" dirty="0" smtClean="0"/>
              <a:t>examples</a:t>
            </a:r>
          </a:p>
          <a:p>
            <a:pPr lvl="1"/>
            <a:r>
              <a:rPr lang="en-US" dirty="0" smtClean="0"/>
              <a:t>Tips for completing the SFMEA table</a:t>
            </a:r>
          </a:p>
          <a:p>
            <a:r>
              <a:rPr lang="en-US" dirty="0" smtClean="0">
                <a:hlinkClick r:id="rId4"/>
              </a:rPr>
              <a:t>Ann Marie Neufelder </a:t>
            </a:r>
            <a:r>
              <a:rPr lang="en-US" dirty="0" smtClean="0"/>
              <a:t>has been performing SFMEAs for 3 decades on both firmware and software systems for defense, medical, aerospace and energy applications.  She can help you perform the SFMEAs.</a:t>
            </a:r>
          </a:p>
        </p:txBody>
      </p:sp>
    </p:spTree>
    <p:extLst>
      <p:ext uri="{BB962C8B-B14F-4D97-AF65-F5344CB8AC3E}">
        <p14:creationId xmlns:p14="http://schemas.microsoft.com/office/powerpoint/2010/main" val="3231056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52400" y="304800"/>
            <a:ext cx="8763000" cy="457201"/>
          </a:xfrm>
        </p:spPr>
        <p:txBody>
          <a:bodyPr>
            <a:noAutofit/>
          </a:bodyPr>
          <a:lstStyle/>
          <a:p>
            <a:pPr eaLnBrk="1" hangingPunct="1"/>
            <a:r>
              <a:rPr lang="en-US" dirty="0" smtClean="0"/>
              <a:t>References</a:t>
            </a:r>
          </a:p>
        </p:txBody>
      </p:sp>
      <p:sp>
        <p:nvSpPr>
          <p:cNvPr id="88067" name="Rectangle 3"/>
          <p:cNvSpPr>
            <a:spLocks noGrp="1" noChangeArrowheads="1"/>
          </p:cNvSpPr>
          <p:nvPr>
            <p:ph idx="1"/>
          </p:nvPr>
        </p:nvSpPr>
        <p:spPr>
          <a:xfrm>
            <a:off x="152400" y="922986"/>
            <a:ext cx="8991600" cy="5433365"/>
          </a:xfrm>
        </p:spPr>
        <p:txBody>
          <a:bodyPr>
            <a:noAutofit/>
          </a:bodyPr>
          <a:lstStyle/>
          <a:p>
            <a:r>
              <a:rPr lang="en-US" dirty="0" smtClean="0"/>
              <a:t>[1] Delivering Military Software Affordably, Christian Hagen and Jeff Sorenson, Defense AT&amp;L, March-April 2012.</a:t>
            </a:r>
          </a:p>
          <a:p>
            <a:r>
              <a:rPr lang="en-US" dirty="0" smtClean="0"/>
              <a:t>Mil-Std 1629A Procedures for Performing a Failure Mode, Effects and Criticality Analysis, November 24, 1980.</a:t>
            </a:r>
          </a:p>
          <a:p>
            <a:r>
              <a:rPr lang="en-US" dirty="0" smtClean="0"/>
              <a:t>MIL-HDBK-338B, Military Handbook: Electronic Reliability Design Handbook, October 1, 1998.</a:t>
            </a:r>
          </a:p>
          <a:p>
            <a:r>
              <a:rPr lang="en-US" dirty="0" smtClean="0"/>
              <a:t>Society of Automotive Engineers, “SAE ARP 5580 Recommended Failure Modes and Effects Analysis (FMEA) Practices for Non-Automobile Applications”, July, 2001.</a:t>
            </a:r>
          </a:p>
          <a:p>
            <a:r>
              <a:rPr lang="en-US" dirty="0" smtClean="0"/>
              <a:t>NASA, “NASA-STD 8729.1, Planning, Developing and Managing an Effective Reliability and Maintainability (R&amp;M) Program.”, 1998. </a:t>
            </a:r>
          </a:p>
          <a:p>
            <a:r>
              <a:rPr lang="en-US" dirty="0" smtClean="0"/>
              <a:t>NASA, “NASA Guidebook 8719.13B Software Safety”, July, 2004. </a:t>
            </a:r>
          </a:p>
          <a:p>
            <a:r>
              <a:rPr lang="en-US" dirty="0" smtClean="0"/>
              <a:t>W.E Vesely, F.F. Goldberg, N.H Roberts, D.F. Haasl; “Fault Tree Handbook NUREG 0492”, US Nuclear Regulatory Commission, 1981</a:t>
            </a:r>
          </a:p>
          <a:p>
            <a:endParaRPr lang="en-US" dirty="0" smtClean="0"/>
          </a:p>
        </p:txBody>
      </p:sp>
      <p:sp>
        <p:nvSpPr>
          <p:cNvPr id="4" name="Rectangle 3"/>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transition>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2" y="31376"/>
            <a:ext cx="8763000" cy="457201"/>
          </a:xfrm>
        </p:spPr>
        <p:txBody>
          <a:bodyPr>
            <a:normAutofit fontScale="90000"/>
          </a:bodyPr>
          <a:lstStyle/>
          <a:p>
            <a:r>
              <a:rPr lang="en-US" dirty="0" smtClean="0"/>
              <a:t>References for additional software taxonomies</a:t>
            </a:r>
            <a:endParaRPr lang="en-US" dirty="0"/>
          </a:p>
        </p:txBody>
      </p:sp>
      <p:sp>
        <p:nvSpPr>
          <p:cNvPr id="3" name="Content Placeholder 2"/>
          <p:cNvSpPr>
            <a:spLocks noGrp="1"/>
          </p:cNvSpPr>
          <p:nvPr>
            <p:ph idx="1"/>
          </p:nvPr>
        </p:nvSpPr>
        <p:spPr>
          <a:xfrm>
            <a:off x="304800" y="452718"/>
            <a:ext cx="8839200" cy="4572000"/>
          </a:xfrm>
        </p:spPr>
        <p:txBody>
          <a:bodyPr>
            <a:noAutofit/>
          </a:bodyPr>
          <a:lstStyle/>
          <a:p>
            <a:r>
              <a:rPr lang="en-US" sz="1600" dirty="0" smtClean="0"/>
              <a:t>[ST1] Boris Beizer, “Software Testing Techniques”, Van Nostrand Reinhold, 2</a:t>
            </a:r>
            <a:r>
              <a:rPr lang="en-US" sz="1600" baseline="30000" dirty="0" smtClean="0"/>
              <a:t>nd</a:t>
            </a:r>
            <a:r>
              <a:rPr lang="en-US" sz="1600" dirty="0" smtClean="0"/>
              <a:t> Edition, June, 1990.</a:t>
            </a:r>
          </a:p>
          <a:p>
            <a:r>
              <a:rPr lang="en-US" sz="1600" dirty="0" smtClean="0"/>
              <a:t>[ST2] Robert V. Binder;”Testing Object Oriented Systems – Models , Patterns and Tools”, Addison-Wesley, 1999.</a:t>
            </a:r>
          </a:p>
          <a:p>
            <a:pPr fontAlgn="auto" hangingPunct="1"/>
            <a:r>
              <a:rPr lang="en-US" sz="1600" dirty="0" smtClean="0"/>
              <a:t>[ST3] Giri Vijayaraghavan and Cem Kaner, “Bugs in Your Shopping Cart: A Taxonomy”, International Software Quality Week, September, 2002.</a:t>
            </a:r>
          </a:p>
          <a:p>
            <a:pPr fontAlgn="auto" hangingPunct="1"/>
            <a:r>
              <a:rPr lang="en-US" sz="1600" dirty="0" smtClean="0"/>
              <a:t>[ST4] Giridharan Vilangadu Vijayaraghaven “A Taxonomy of E-commerce Risk and Failures”, A Thesis Submitted to the Department of Computer Science at Florida Institute of Technology, Melbourne, Florida, May 2003.</a:t>
            </a:r>
            <a:r>
              <a:rPr lang="en-US" sz="1600" b="1" dirty="0" smtClean="0"/>
              <a:t> </a:t>
            </a:r>
            <a:endParaRPr lang="en-US" sz="1600" dirty="0" smtClean="0"/>
          </a:p>
          <a:p>
            <a:r>
              <a:rPr lang="en-US" sz="1600" dirty="0" smtClean="0"/>
              <a:t>[ST5] Common Weakness Enumeration, A community developed dictionary of software weakness types.  CWE Version 2.6, Edited by: Steven Christey Coley, Ryan P. Glenn, Janis E. Kenderdine, and John M. MazellaProject Lead: Robert A. Martin, © </a:t>
            </a:r>
            <a:r>
              <a:rPr lang="en-US" sz="1600" dirty="0" err="1" smtClean="0"/>
              <a:t>Mitre</a:t>
            </a:r>
            <a:r>
              <a:rPr lang="en-US" sz="1600" dirty="0" smtClean="0"/>
              <a:t> Corporation, 2014. </a:t>
            </a:r>
            <a:r>
              <a:rPr lang="en-US" sz="1600" u="sng" dirty="0" smtClean="0">
                <a:hlinkClick r:id="rId2"/>
              </a:rPr>
              <a:t>http://cwe.mitre.org/</a:t>
            </a:r>
            <a:endParaRPr lang="en-US" sz="1600" dirty="0" smtClean="0"/>
          </a:p>
          <a:p>
            <a:r>
              <a:rPr lang="en-US" sz="1600" dirty="0" smtClean="0"/>
              <a:t>[ST6] Peter G Neumann, Donn B Parker; “A summary of computer misuse techniques”, In Proceedings of the 12th National Computer Security Conference, pages 396 – 407. National Institute of Standards, 1989.</a:t>
            </a:r>
          </a:p>
          <a:p>
            <a:r>
              <a:rPr lang="en-US" sz="1600" dirty="0" smtClean="0"/>
              <a:t>[ST7] Ken Erickson, “Asynchronous FPGA risks”, California Institute of Technology, Jet Propulson Laboratory, Pasadena, CA 91109.  2000 MALPD International Conference, September 26-28, 2000.</a:t>
            </a:r>
          </a:p>
          <a:p>
            <a:r>
              <a:rPr lang="x-none" sz="1600" dirty="0" smtClean="0"/>
              <a:t>[ST8] McCall, J.A., W. Randell, and J. Dunham, “Software Reliability, Measurement, and Testing</a:t>
            </a:r>
            <a:r>
              <a:rPr lang="x-none" sz="1600" i="1" dirty="0" smtClean="0"/>
              <a:t>,” </a:t>
            </a:r>
            <a:r>
              <a:rPr lang="x-none" sz="1600" dirty="0" smtClean="0"/>
              <a:t>Rome Laboratory, RL-TR-92-52, 1992.</a:t>
            </a:r>
            <a:endParaRPr lang="en-US" sz="1600" dirty="0" smtClean="0"/>
          </a:p>
          <a:p>
            <a:r>
              <a:rPr lang="x-none" sz="1600" dirty="0" smtClean="0"/>
              <a:t>[ST9] </a:t>
            </a:r>
            <a:r>
              <a:rPr lang="en-US" sz="1600" dirty="0" smtClean="0"/>
              <a:t>A. Neufelder, “The Cold Hard Truth About Reliable Software”, Published by Softrel, LLC, 2012.   </a:t>
            </a:r>
          </a:p>
          <a:p>
            <a:pPr eaLnBrk="1" hangingPunct="1">
              <a:lnSpc>
                <a:spcPct val="80000"/>
              </a:lnSpc>
              <a:buFont typeface="Monotype Sorts" pitchFamily="2" charset="2"/>
              <a:buNone/>
            </a:pPr>
            <a:endParaRPr lang="en-US" sz="1600" b="1" dirty="0" smtClean="0"/>
          </a:p>
          <a:p>
            <a:endParaRPr lang="en-US" sz="1600" dirty="0"/>
          </a:p>
        </p:txBody>
      </p:sp>
      <p:sp>
        <p:nvSpPr>
          <p:cNvPr id="4" name="Rectangle 3"/>
          <p:cNvSpPr/>
          <p:nvPr/>
        </p:nvSpPr>
        <p:spPr>
          <a:xfrm>
            <a:off x="374073" y="6560575"/>
            <a:ext cx="8763000" cy="261610"/>
          </a:xfrm>
          <a:prstGeom prst="rect">
            <a:avLst/>
          </a:prstGeom>
        </p:spPr>
        <p:txBody>
          <a:bodyPr wrap="square">
            <a:spAutoFit/>
          </a:bodyPr>
          <a:lstStyle/>
          <a:p>
            <a:pPr>
              <a:defRPr/>
            </a:pPr>
            <a:r>
              <a:rPr lang="en-US" sz="1100" b="0" dirty="0" smtClean="0"/>
              <a:t>© SoftRel</a:t>
            </a:r>
            <a:r>
              <a:rPr lang="en-US" sz="1100" b="0" dirty="0"/>
              <a:t>, LLC </a:t>
            </a:r>
            <a:r>
              <a:rPr lang="en-US" sz="1100" b="0" dirty="0" smtClean="0"/>
              <a:t>2015 </a:t>
            </a:r>
            <a:r>
              <a:rPr lang="en-US" sz="1100" b="0" dirty="0"/>
              <a:t>This material may not be reprinted in part or in whole without written permission from Ann Marie Neufelder.</a:t>
            </a:r>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predict2010 steps 1 to 11</Template>
  <TotalTime>6725</TotalTime>
  <Words>12370</Words>
  <Application>Microsoft Office PowerPoint</Application>
  <PresentationFormat>On-screen Show (4:3)</PresentationFormat>
  <Paragraphs>1076</Paragraphs>
  <Slides>50</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Corbel</vt:lpstr>
      <vt:lpstr>Monotype Sorts</vt:lpstr>
      <vt:lpstr>Symbol</vt:lpstr>
      <vt:lpstr>Times New Roman</vt:lpstr>
      <vt:lpstr>Tw Cen MT</vt:lpstr>
      <vt:lpstr>Tw Cen MT (Body)</vt:lpstr>
      <vt:lpstr>Depth</vt:lpstr>
      <vt:lpstr>An Introduction to Software  Failure Modes Effects Analysis (SFMEA)</vt:lpstr>
      <vt:lpstr>Agenda</vt:lpstr>
      <vt:lpstr>Software is increasing in size</vt:lpstr>
      <vt:lpstr>Just a few failure events due to software</vt:lpstr>
      <vt:lpstr>Terms</vt:lpstr>
      <vt:lpstr>The viewpoint of a SFMEA</vt:lpstr>
      <vt:lpstr>Key benefits of Software FMEAs</vt:lpstr>
      <vt:lpstr>SFMEA Limitations</vt:lpstr>
      <vt:lpstr>Existing SFMEA guidance</vt:lpstr>
      <vt:lpstr>Software Failure Mode Taxonomies</vt:lpstr>
      <vt:lpstr>The process for doing a Software Failure Modes Effects Analyses</vt:lpstr>
      <vt:lpstr>Differences between hardware and software FMEA</vt:lpstr>
      <vt:lpstr>Outline for this section</vt:lpstr>
      <vt:lpstr>Identify where the SFMEA applies</vt:lpstr>
      <vt:lpstr>To maximize efficiency and minimize cost</vt:lpstr>
      <vt:lpstr>Identify most relevant viewpoint for a particular software version</vt:lpstr>
      <vt:lpstr>Failure modes most associated with each viewpoint</vt:lpstr>
      <vt:lpstr>Failure modes most associated with each viewpoint</vt:lpstr>
      <vt:lpstr>Once the viewpoints are selected, these are the artifacts you need to gather</vt:lpstr>
      <vt:lpstr>Depending on the viewpoint these are the people that you will need for the analysis</vt:lpstr>
      <vt:lpstr>The scope of the SFMEA may need to be pruned as follows</vt:lpstr>
      <vt:lpstr>Ground rules to consider</vt:lpstr>
      <vt:lpstr>Be familiar with these in advance of doing the SFMEA</vt:lpstr>
      <vt:lpstr>Example of an FDSC for a thermostat</vt:lpstr>
      <vt:lpstr>Be familiar with mitigation thresholds required for your program or project</vt:lpstr>
      <vt:lpstr>Tips</vt:lpstr>
      <vt:lpstr>Agenda for this section</vt:lpstr>
      <vt:lpstr>Functional SFMEA Analysis</vt:lpstr>
      <vt:lpstr>Brainstorm the possible root causes for each applicable failure mode for each SRS statement </vt:lpstr>
      <vt:lpstr>Example of faulty functionality from history</vt:lpstr>
      <vt:lpstr>Example of timing related failure from history</vt:lpstr>
      <vt:lpstr>Example of faulty data failure from history - Demonstration of Autonomous Rendezvous Technology (DART)</vt:lpstr>
      <vt:lpstr>A very simple example of Faulty Functionality Failure Mode from the Functional (SRS) viewpoint</vt:lpstr>
      <vt:lpstr>Continued</vt:lpstr>
      <vt:lpstr>Continued</vt:lpstr>
      <vt:lpstr>Summary</vt:lpstr>
      <vt:lpstr>Other failure modes and viewpoints</vt:lpstr>
      <vt:lpstr>Agenda</vt:lpstr>
      <vt:lpstr>Examples of local effects (effect on software itself)</vt:lpstr>
      <vt:lpstr>Examples of subsystem effects</vt:lpstr>
      <vt:lpstr>Examples of system level effects (continued)</vt:lpstr>
      <vt:lpstr>Agenda</vt:lpstr>
      <vt:lpstr>Identify Corrective Actions</vt:lpstr>
      <vt:lpstr>Identify Corrective Actions</vt:lpstr>
      <vt:lpstr>Revise RPN (Risk Priority Number)</vt:lpstr>
      <vt:lpstr>Common mistakes made when doing a software FMEA</vt:lpstr>
      <vt:lpstr>Common Myths about SFMEAs</vt:lpstr>
      <vt:lpstr>More information</vt:lpstr>
      <vt:lpstr>References</vt:lpstr>
      <vt:lpstr>References for additional software taxonomies</vt:lpstr>
    </vt:vector>
  </TitlesOfParts>
  <Company>softrel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Ann Marie Neufelder</dc:creator>
  <cp:lastModifiedBy>AMN</cp:lastModifiedBy>
  <cp:revision>1116</cp:revision>
  <cp:lastPrinted>2014-11-25T14:41:24Z</cp:lastPrinted>
  <dcterms:created xsi:type="dcterms:W3CDTF">2004-01-24T22:38:31Z</dcterms:created>
  <dcterms:modified xsi:type="dcterms:W3CDTF">2016-01-07T14:01:49Z</dcterms:modified>
</cp:coreProperties>
</file>